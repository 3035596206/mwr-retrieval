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A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60ABA"/>
    <a:srgbClr val="004182"/>
    <a:srgbClr val="002060"/>
    <a:srgbClr val="0070C0"/>
    <a:srgbClr val="FFE700"/>
    <a:srgbClr val="4472C4"/>
    <a:srgbClr val="1F497D"/>
    <a:srgbClr val="3E41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71" autoAdjust="0"/>
  </p:normalViewPr>
  <p:slideViewPr>
    <p:cSldViewPr snapToGrid="0">
      <p:cViewPr varScale="1">
        <p:scale>
          <a:sx n="80" d="100"/>
          <a:sy n="80" d="100"/>
        </p:scale>
        <p:origin x="52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C23A4-0824-4365-8998-969D51E16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5CCF2-94C0-4A51-8504-ED142566CF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63E73-87B2-49D7-862B-5D6826CA2C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042F2-B25F-4C41-A2EF-E9490E0062E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296400" y="6356352"/>
            <a:ext cx="2743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fld id="{6D8B6168-FE7B-4592-B0E8-E1988655CDA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681B-05F6-4ADF-9271-E1D531995F4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E058B-4EE4-4DE1-AC19-231785A779D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E8BC0-0B44-47E7-88A4-7133776ECEC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3B34E-4B2E-46C0-8533-B4C5622A388B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15B08-FFDC-4CB9-BD8E-F4066EDF3F6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414A-95E3-4D41-A2B8-D9655AC39EB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9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100-8CAE-4E0C-A5D8-6CEC0620657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9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6D341-5BFD-4D73-AE18-6BD109F76DD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64CF9-9A1B-482C-90AC-E1FF0FF64D1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A94F-E588-4362-AF1B-4F92AC46A89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BD4C8-A106-4FCE-88F8-B74B247D082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B6168-FE7B-4592-B0E8-E1988655CD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2.png"/><Relationship Id="rId27" Type="http://schemas.openxmlformats.org/officeDocument/2006/relationships/image" Target="../media/image1.png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5.jpe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428456" y="2295846"/>
            <a:ext cx="10585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38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</a:t>
            </a:r>
            <a:endParaRPr lang="zh-CN" altLang="en-US" sz="48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4"/>
          <p:cNvSpPr txBox="1"/>
          <p:nvPr/>
        </p:nvSpPr>
        <p:spPr>
          <a:xfrm>
            <a:off x="7591172" y="4170878"/>
            <a:ext cx="3755254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70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 告 人： 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    师：  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    院：  空间科学与技术学院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汇报日期：2026-07-29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05642" y="3429000"/>
            <a:ext cx="4821247" cy="0"/>
          </a:xfrm>
          <a:prstGeom prst="line">
            <a:avLst/>
          </a:prstGeom>
          <a:ln w="190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326889" y="3429002"/>
            <a:ext cx="5513313" cy="1754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604511" y="99553"/>
            <a:ext cx="3066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期末汇报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6168-FE7B-4592-B0E8-E1988655CDA1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98348" y="3749040"/>
            <a:ext cx="105156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E6C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BRNN 统计反演  ·  OEM 物理反演  ·  成都真实数据验证</a:t>
            </a:r>
            <a:endParaRPr sz="1700" b="1">
              <a:solidFill>
                <a:srgbClr val="2E6C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72"/>
    </mc:Choice>
    <mc:Fallback>
      <p:transition spd="slow" advTm="167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目 录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2960" y="1508760"/>
            <a:ext cx="1876425" cy="86868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2155" y="1704340"/>
            <a:ext cx="1967230" cy="58166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en-US"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</a:t>
            </a:r>
            <a:endParaRPr lang="zh-CN" sz="3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99385" y="1737360"/>
            <a:ext cx="2011680" cy="54864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E6C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sz="2000" b="1">
              <a:solidFill>
                <a:srgbClr val="2E6C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Oval 25"/>
          <p:cNvSpPr/>
          <p:nvPr>
            <p:custDataLst>
              <p:tags r:id="rId3"/>
            </p:custDataLst>
          </p:nvPr>
        </p:nvSpPr>
        <p:spPr>
          <a:xfrm>
            <a:off x="903605" y="25596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4"/>
            </p:custDataLst>
          </p:nvPr>
        </p:nvSpPr>
        <p:spPr>
          <a:xfrm>
            <a:off x="903605" y="26116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5"/>
            </p:custDataLst>
          </p:nvPr>
        </p:nvSpPr>
        <p:spPr>
          <a:xfrm>
            <a:off x="1452245" y="25935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Oval 28"/>
          <p:cNvSpPr/>
          <p:nvPr>
            <p:custDataLst>
              <p:tags r:id="rId6"/>
            </p:custDataLst>
          </p:nvPr>
        </p:nvSpPr>
        <p:spPr>
          <a:xfrm>
            <a:off x="903605" y="30168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7"/>
            </p:custDataLst>
          </p:nvPr>
        </p:nvSpPr>
        <p:spPr>
          <a:xfrm>
            <a:off x="903605" y="30688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8"/>
            </p:custDataLst>
          </p:nvPr>
        </p:nvSpPr>
        <p:spPr>
          <a:xfrm>
            <a:off x="1452245" y="30507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技术路线总览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Oval 31"/>
          <p:cNvSpPr/>
          <p:nvPr>
            <p:custDataLst>
              <p:tags r:id="rId9"/>
            </p:custDataLst>
          </p:nvPr>
        </p:nvSpPr>
        <p:spPr>
          <a:xfrm>
            <a:off x="903605" y="34740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10"/>
            </p:custDataLst>
          </p:nvPr>
        </p:nvSpPr>
        <p:spPr>
          <a:xfrm>
            <a:off x="903605" y="35260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11"/>
            </p:custDataLst>
          </p:nvPr>
        </p:nvSpPr>
        <p:spPr>
          <a:xfrm>
            <a:off x="1452245" y="35079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统计反演：方法与 v4 改进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Oval 34"/>
          <p:cNvSpPr/>
          <p:nvPr>
            <p:custDataLst>
              <p:tags r:id="rId12"/>
            </p:custDataLst>
          </p:nvPr>
        </p:nvSpPr>
        <p:spPr>
          <a:xfrm>
            <a:off x="903605" y="39312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>
            <p:custDataLst>
              <p:tags r:id="rId13"/>
            </p:custDataLst>
          </p:nvPr>
        </p:nvSpPr>
        <p:spPr>
          <a:xfrm>
            <a:off x="903605" y="39832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>
            <p:custDataLst>
              <p:tags r:id="rId14"/>
            </p:custDataLst>
          </p:nvPr>
        </p:nvSpPr>
        <p:spPr>
          <a:xfrm>
            <a:off x="1452245" y="39651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v4 反演结果与迭代历程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Oval 37"/>
          <p:cNvSpPr/>
          <p:nvPr>
            <p:custDataLst>
              <p:tags r:id="rId15"/>
            </p:custDataLst>
          </p:nvPr>
        </p:nvSpPr>
        <p:spPr>
          <a:xfrm>
            <a:off x="903605" y="43884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>
            <p:custDataLst>
              <p:tags r:id="rId16"/>
            </p:custDataLst>
          </p:nvPr>
        </p:nvSpPr>
        <p:spPr>
          <a:xfrm>
            <a:off x="903605" y="44404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39"/>
          <p:cNvSpPr txBox="1"/>
          <p:nvPr>
            <p:custDataLst>
              <p:tags r:id="rId17"/>
            </p:custDataLst>
          </p:nvPr>
        </p:nvSpPr>
        <p:spPr>
          <a:xfrm>
            <a:off x="1452245" y="44223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OEM 物理反演框架与实验结果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40"/>
          <p:cNvSpPr/>
          <p:nvPr>
            <p:custDataLst>
              <p:tags r:id="rId18"/>
            </p:custDataLst>
          </p:nvPr>
        </p:nvSpPr>
        <p:spPr>
          <a:xfrm>
            <a:off x="903605" y="48456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>
            <p:custDataLst>
              <p:tags r:id="rId19"/>
            </p:custDataLst>
          </p:nvPr>
        </p:nvSpPr>
        <p:spPr>
          <a:xfrm>
            <a:off x="903605" y="48976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42"/>
          <p:cNvSpPr txBox="1"/>
          <p:nvPr>
            <p:custDataLst>
              <p:tags r:id="rId20"/>
            </p:custDataLst>
          </p:nvPr>
        </p:nvSpPr>
        <p:spPr>
          <a:xfrm>
            <a:off x="1452245" y="48795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ARTS 前向模型与垂直信息量诊断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Oval 43"/>
          <p:cNvSpPr/>
          <p:nvPr>
            <p:custDataLst>
              <p:tags r:id="rId21"/>
            </p:custDataLst>
          </p:nvPr>
        </p:nvSpPr>
        <p:spPr>
          <a:xfrm>
            <a:off x="903605" y="53028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>
            <p:custDataLst>
              <p:tags r:id="rId22"/>
            </p:custDataLst>
          </p:nvPr>
        </p:nvSpPr>
        <p:spPr>
          <a:xfrm>
            <a:off x="903605" y="53548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/>
          <p:cNvSpPr txBox="1"/>
          <p:nvPr>
            <p:custDataLst>
              <p:tags r:id="rId23"/>
            </p:custDataLst>
          </p:nvPr>
        </p:nvSpPr>
        <p:spPr>
          <a:xfrm>
            <a:off x="1452245" y="53367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成都真实数据验证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val 46"/>
          <p:cNvSpPr/>
          <p:nvPr>
            <p:custDataLst>
              <p:tags r:id="rId24"/>
            </p:custDataLst>
          </p:nvPr>
        </p:nvSpPr>
        <p:spPr>
          <a:xfrm>
            <a:off x="903605" y="5760085"/>
            <a:ext cx="384048" cy="384048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>
            <p:custDataLst>
              <p:tags r:id="rId25"/>
            </p:custDataLst>
          </p:nvPr>
        </p:nvSpPr>
        <p:spPr>
          <a:xfrm>
            <a:off x="903605" y="5812092"/>
            <a:ext cx="384048" cy="280035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48"/>
          <p:cNvSpPr txBox="1"/>
          <p:nvPr>
            <p:custDataLst>
              <p:tags r:id="rId26"/>
            </p:custDataLst>
          </p:nvPr>
        </p:nvSpPr>
        <p:spPr>
          <a:xfrm>
            <a:off x="1452245" y="5793994"/>
            <a:ext cx="7315200" cy="31623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整体进度、风险与下一步计划</a:t>
            </a:r>
            <a:endParaRPr sz="15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/ —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34440"/>
            <a:ext cx="5440680" cy="32918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" y="1563624"/>
            <a:ext cx="5440680" cy="177393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234440"/>
            <a:ext cx="525780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研究背景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1618488"/>
            <a:ext cx="5184648" cy="168249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大气温湿廓线是数值预报、强对流与航空气象的关键输入。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探空精度高但时空稀疏（每日 2 次）；微波辐射计(MWR)可实现高频连续探测。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反演难点：欠定问题，垂直信息量有限，云天/降雨干扰大。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99632" y="1234440"/>
            <a:ext cx="5458968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1563624"/>
            <a:ext cx="5458968" cy="177393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234440"/>
            <a:ext cx="5276088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项目目标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27648" y="1618488"/>
            <a:ext cx="5202936" cy="168249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建立地基多通道 MWR 温度 T(z) 与相对湿度 RH(z) 反演系统。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复现并超越论文基准（T&lt;1.5K, RH&lt;13%）。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构建 BRNN 统计反演 + OEM 物理反演混合框架。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在成都本地真实数据上完成验证。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30352" y="358444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56616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数据与仪器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30352" y="3931920"/>
          <a:ext cx="11128247" cy="2148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017519"/>
                <a:gridCol w="2194560"/>
                <a:gridCol w="3172968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 / 仪器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通道配置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覆盖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用途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MP-3000A（北京南郊）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 通道 K/V 波段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2013–2019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BRNN v4 训练（历史最佳）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RPG HATPRO 配置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 通道（K7+V7）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2013-01 ERA5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OEM/MonoRTM 物理反演主线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成都实测辐射计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 通道（K7+V7+W1+G5+高频1）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2026-05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真实数据验证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温江探空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483 个文件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2026-05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独立外部验证真值</a:t>
                      </a:r>
                      <a:endParaRPr sz="11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技术路线总览：统计 + 物理混合反演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反演流程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" y="1600200"/>
            <a:ext cx="2057400" cy="868680"/>
          </a:xfrm>
          <a:prstGeom prst="round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600200"/>
            <a:ext cx="205740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观测亮温
Obs_BT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2706624" y="1961388"/>
            <a:ext cx="146304" cy="146304"/>
          </a:xfrm>
          <a:prstGeom prst="rightArrow">
            <a:avLst/>
          </a:prstGeom>
          <a:solidFill>
            <a:srgbClr val="99A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62072" y="1600200"/>
            <a:ext cx="2057400" cy="868680"/>
          </a:xfrm>
          <a:prstGeom prst="round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2072" y="1600200"/>
            <a:ext cx="205740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 / 偏差订正
+ ERA5 标签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4928616" y="1961388"/>
            <a:ext cx="146304" cy="146304"/>
          </a:xfrm>
          <a:prstGeom prst="rightArrow">
            <a:avLst/>
          </a:prstGeom>
          <a:solidFill>
            <a:srgbClr val="99A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84064" y="1600200"/>
            <a:ext cx="2057400" cy="8686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4064" y="1600200"/>
            <a:ext cx="205740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统计反演
~0.5 ms/廓线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7150608" y="1961388"/>
            <a:ext cx="146304" cy="146304"/>
          </a:xfrm>
          <a:prstGeom prst="rightArrow">
            <a:avLst/>
          </a:prstGeom>
          <a:solidFill>
            <a:srgbClr val="99A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06056" y="1600200"/>
            <a:ext cx="205740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6056" y="1600200"/>
            <a:ext cx="205740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OEM 物理反演
(1D-Var)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ight Arrow 38"/>
          <p:cNvSpPr/>
          <p:nvPr/>
        </p:nvSpPr>
        <p:spPr>
          <a:xfrm>
            <a:off x="9372600" y="1961388"/>
            <a:ext cx="146304" cy="146304"/>
          </a:xfrm>
          <a:prstGeom prst="rightArrow">
            <a:avLst/>
          </a:prstGeom>
          <a:solidFill>
            <a:srgbClr val="99A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528048" y="1600200"/>
            <a:ext cx="2057400" cy="86868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28048" y="1600200"/>
            <a:ext cx="205740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T(z), RH(z) 廓线
ARTS 接口已打通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30352" y="28072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278892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已形成的三层能力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30352" y="3200400"/>
            <a:ext cx="3611880" cy="32918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352" y="3529584"/>
            <a:ext cx="3611880" cy="186537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3200400"/>
            <a:ext cx="342900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第一层 · 统计反演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8368" y="3584448"/>
            <a:ext cx="3355848" cy="177393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BRNN v4 当前最佳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T = 1.26 K，RH = 7.76%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推理 ~0.5 ms/廓线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251960" y="3200400"/>
            <a:ext cx="3611880" cy="3291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51960" y="3529584"/>
            <a:ext cx="3611880" cy="186537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61688" y="3200400"/>
            <a:ext cx="342900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第二层 · 物理反演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379976" y="3584448"/>
            <a:ext cx="3355848" cy="177393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OEM + ARTS/MonoRTM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n=100 self-consistent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DOFS ≈ 2.21，收敛 99%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973568" y="3200400"/>
            <a:ext cx="3611880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73568" y="3529584"/>
            <a:ext cx="3611880" cy="186537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83296" y="3200400"/>
            <a:ext cx="342900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第三层 · 混合路线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101584" y="3584448"/>
            <a:ext cx="3355848" cy="177393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NN 作先验/Sₐ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NN surrogate 加速 H(x)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不确定度校准 + 云天 OEM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统计反演：方法与 v4 关键改进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网络结构：6 个独立 BRNN 子模型（T/RH × 0-2km / 2-8km / 8-10km）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1572768"/>
            <a:ext cx="10972800" cy="105156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输入：多通道亮温 + 地面 T2m/RH2m/Ps/IR/CLWC/CIC 等辅助特征；输出 0-10km 共 93 层 T/RH。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分高度段建模：各高度区间物理特性差异大，独立网络更稳定；边界层(2km/8km)由相邻模型各预测一次。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Hidden=256, Dropout=0.3, LR=1e-3, Batch=128, Early-stopping patience=20。</a:t>
            </a:r>
            <a:endParaRPr sz="12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0352" y="271576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269748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v4 相对前序版本的关键改进（成就当前最佳）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30352" y="3108960"/>
            <a:ext cx="91440" cy="74980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" y="3108960"/>
            <a:ext cx="5440680" cy="749808"/>
          </a:xfrm>
          <a:prstGeom prst="rect">
            <a:avLst/>
          </a:prstGeom>
          <a:solidFill>
            <a:srgbClr val="F4F7FC"/>
          </a:solidFill>
          <a:ln w="635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3163824"/>
            <a:ext cx="5166360" cy="32918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CLWC 廓线筛除 + K 波段逐通道 2.5σ 筛除</a:t>
            </a:r>
            <a:endParaRPr sz="11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1519" y="3493008"/>
            <a:ext cx="51663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剔除云天/异常亮温样本</a:t>
            </a:r>
            <a:endParaRPr sz="10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45352" y="3108960"/>
            <a:ext cx="91440" cy="74980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36792" y="3108960"/>
            <a:ext cx="5440680" cy="749808"/>
          </a:xfrm>
          <a:prstGeom prst="rect">
            <a:avLst/>
          </a:prstGeom>
          <a:solidFill>
            <a:srgbClr val="F4F7FC"/>
          </a:solidFill>
          <a:ln w="635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163824"/>
            <a:ext cx="5166360" cy="32918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Winsorize 回归 BT 订正（非 OLS）</a:t>
            </a:r>
            <a:endParaRPr sz="11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46520" y="3493008"/>
            <a:ext cx="51663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K 波段 OMB 厚尾 → OMB std −49%</a:t>
            </a:r>
            <a:endParaRPr sz="10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30352" y="4023360"/>
            <a:ext cx="91440" cy="74980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" y="4023360"/>
            <a:ext cx="5440680" cy="749808"/>
          </a:xfrm>
          <a:prstGeom prst="rect">
            <a:avLst/>
          </a:prstGeom>
          <a:solidFill>
            <a:srgbClr val="F4F7FC"/>
          </a:solidFill>
          <a:ln w="635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19" y="4078224"/>
            <a:ext cx="5166360" cy="32918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IR_Temperature 入模</a:t>
            </a:r>
            <a:endParaRPr sz="11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1519" y="4407408"/>
            <a:ext cx="51663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引入红外测温作为辅助特征</a:t>
            </a:r>
            <a:endParaRPr sz="10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45352" y="4023360"/>
            <a:ext cx="91440" cy="749808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36792" y="4023360"/>
            <a:ext cx="5440680" cy="749808"/>
          </a:xfrm>
          <a:prstGeom prst="rect">
            <a:avLst/>
          </a:prstGeom>
          <a:solidFill>
            <a:srgbClr val="F4F7FC"/>
          </a:solidFill>
          <a:ln w="6350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078224"/>
            <a:ext cx="5166360" cy="32918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 Profile_Index 分组划分（非时间划分）</a:t>
            </a:r>
            <a:endParaRPr sz="11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46520" y="4407408"/>
            <a:ext cx="5166360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同一廓线重复观测~5.6 次，杜绝数据泄露</a:t>
            </a:r>
            <a:endParaRPr sz="10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30352" y="5806440"/>
            <a:ext cx="11128248" cy="457200"/>
          </a:xfrm>
          <a:prstGeom prst="rect">
            <a:avLst/>
          </a:prstGeom>
          <a:solidFill>
            <a:srgbClr val="FBEEEC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806440"/>
            <a:ext cx="10881360" cy="4572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核心结论：v3 证实 Sim→Obs domain gap 退化 3.7×，故 v4 改为 Obs_BT 直接训练，成为当前最优统计反演模型。</a:t>
            </a:r>
            <a:endParaRPr sz="1150" b="1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v4 反演结果与迭代历程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387705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核心指标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30352" y="1554480"/>
          <a:ext cx="3977638" cy="141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6414"/>
                <a:gridCol w="1175211"/>
                <a:gridCol w="1356013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v4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论文基准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RMSE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1.26 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&lt;1.5 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RMSE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7.76%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&lt;13%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推理速度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~0.5 ms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530352" y="317296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154680"/>
            <a:ext cx="387705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分层精度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0352" y="3520440"/>
          <a:ext cx="3977638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6414"/>
                <a:gridCol w="1175211"/>
                <a:gridCol w="1356013"/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高度区间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0–0.5 km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1.09 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5.78%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2–8 km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1.30 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9.50%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5–10 km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1.50 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10.31%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30352" y="5440680"/>
            <a:ext cx="4023360" cy="64008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近地层精度最优；高空信息量下降，与 MWR 垂直分辨能力一致。</a:t>
            </a:r>
            <a:endParaRPr sz="9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Picture 32" descr="slide4_Picture 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279" y="1234440"/>
            <a:ext cx="2587840" cy="228600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4754880" y="3566160"/>
            <a:ext cx="283464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图1  温度散点（v4）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Picture 34" descr="slide4_Picture 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236" y="1234440"/>
            <a:ext cx="3452247" cy="228600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7818120" y="3566160"/>
            <a:ext cx="384048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图2  相对湿度误差廓线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Picture 36" descr="slide4_Picture 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067822"/>
            <a:ext cx="2834640" cy="1877034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4754880" y="6172200"/>
            <a:ext cx="283464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图3  温度误差廓线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818120" y="3904487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64424" y="3886200"/>
            <a:ext cx="36941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六轮迭代关键决策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82127" y="4224528"/>
            <a:ext cx="3749039" cy="19202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▸ Obs_BT 直接训练（v4）</a:t>
            </a:r>
            <a:endParaRPr sz="10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v3 证明 Sim→Obs 退化 3.7×</a:t>
            </a:r>
            <a:endParaRPr sz="9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▸ 6 个独立 BRNN 而非单一多输出</a:t>
            </a:r>
            <a:endParaRPr sz="10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各高度段物理特性差异大</a:t>
            </a:r>
            <a:endParaRPr sz="9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▸ 廓线分组划分而非时间划分</a:t>
            </a:r>
            <a:endParaRPr sz="10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同廓线重复观测~5.6次，必须防泄露</a:t>
            </a:r>
            <a:endParaRPr sz="9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▸ Winsorize 回归订正而非 OLS</a:t>
            </a:r>
            <a:endParaRPr sz="105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K 波段 OMB 厚尾分布</a:t>
            </a:r>
            <a:endParaRPr sz="9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OEM 物理反演框架与实验结果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最优估计 (OEM / 1D-Var) 目标函数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30352" y="1572768"/>
            <a:ext cx="11128248" cy="566928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1572768"/>
            <a:ext cx="11128248" cy="566928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J(x) = (x−xₐ)ᵀ Sₐ⁻¹ (x−xₐ)  +  (y−H(x))ᵀ Sₑ⁻¹ (y−H(x))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0352" y="2212975"/>
          <a:ext cx="6492240" cy="2743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2011680"/>
                <a:gridCol w="356616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符号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当前实现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状态向量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14d T7+RH7（→ 21d 含 LWC）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xₐ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背景场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ERA5 扰动（→ BRNN first guess）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Sₐ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背景误差协方差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指数相关 / v4-derived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观测亮温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synthetic / MonoRTM / Obs_BT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H(x)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前向模型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ARTS 接口；MonoRTM 基线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Sₑ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观测误差协方差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K-band 1.5K, V-band 0.5K</a:t>
                      </a:r>
                      <a:endParaRPr sz="10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7178040" y="2286000"/>
            <a:ext cx="4480560" cy="32918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78040" y="2615184"/>
            <a:ext cx="4480560" cy="191109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2286000"/>
            <a:ext cx="429768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已实现的 OEM 能力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306055" y="2670048"/>
            <a:ext cx="4224528" cy="181965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LM / Gauss-Newton 求解器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有限差分 Jacobian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状态向量打包/解包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Averaging kernel / DOFS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后验协方差诊断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self-consistent 闭环验证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30352" y="5074920"/>
          <a:ext cx="649224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554480"/>
                <a:gridCol w="14630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MonoRTM n=100 基线实验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实验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DOFS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Self-consistent n=20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2.64→1.95K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6.43→6.06%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2.10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Forward-mismatch n=20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→27.0K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7.59→7.22%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2.21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MonoRTM self-cons n=100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2.64→2.02K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6.49→6.20%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2.21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8" name="Picture 37" descr="slide7_Picture 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29" y="4617720"/>
            <a:ext cx="2125980" cy="141732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7178040" y="6053328"/>
            <a:ext cx="448056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图4  Prior→Posterior RMSE 廓线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ARTS 前向模型与垂直信息量诊断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188720"/>
            <a:ext cx="5440680" cy="32918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" y="1517904"/>
            <a:ext cx="5440680" cy="1453895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188720"/>
            <a:ext cx="525780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前向模型主线切换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8368" y="1572768"/>
            <a:ext cx="5184648" cy="136245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ARTS 已设为默认前向接口（对齐研究组工作流）。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支持成都 21 通道；WSL pyarts clear-sky runner 已跑通。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MonoRTM 保留为历史基线，用于交叉验证。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99632" y="1188720"/>
            <a:ext cx="5458968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1517904"/>
            <a:ext cx="5458968" cy="1453895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188720"/>
            <a:ext cx="5276088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关键诊断结论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27648" y="1572768"/>
            <a:ext cx="5202936" cy="136245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OEM 改善集中在 0-2km 近地层；5-10km T 反演几乎完全依赖先验。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DOFS 仅 2.2/14 → 高空信息量极低，是核心瓶颈。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需通过多仰角观测 / 高频通道 / 更优 Sₐ 提升信息量。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30352" y="317296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154680"/>
            <a:ext cx="5294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BRNN v4 vs OEM 分层精度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30352" y="3520440"/>
          <a:ext cx="544068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205740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高度区间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BRNN v4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OEM ΔT / ΔRH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0–0.5 km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T1.09K RH5.78%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+0.42K / +0.67%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2–8 km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T1.30K RH9.50%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+0.07K / +0.28%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5–10 km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T1.50K RH10.31%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−0.01K / +0.10%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530352" y="527608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5257800"/>
            <a:ext cx="5294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Sₐ 与状态降维探索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8368" y="5623560"/>
            <a:ext cx="5303520" cy="7772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v4-derived Sₐ (14×14) 已生成；T 改善 +22%。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EOF/PCA：T/RH 各 5 EOF，基础就绪，10d 版本待优化。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Picture 39" descr="slide8_Picture 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794" y="3520440"/>
            <a:ext cx="2612571" cy="228600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6126480" y="5852160"/>
            <a:ext cx="274320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图6  Averaging Kernel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Picture 41" descr="slide8_Picture 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4245428"/>
            <a:ext cx="2697480" cy="1156062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43" name="TextBox 42"/>
          <p:cNvSpPr txBox="1"/>
          <p:nvPr/>
        </p:nvSpPr>
        <p:spPr>
          <a:xfrm>
            <a:off x="9006840" y="5852160"/>
            <a:ext cx="269748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图7  Sₐ 对比（指数 vs v4）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成都真实数据验证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5340096" cy="29781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链路：21 通道实测亮温 + ERA5 精确小时标签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30352" y="1554480"/>
          <a:ext cx="54864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2928"/>
                <a:gridCol w="2633472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数据集划分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样本/天数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实测亮温总记录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163 条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 ERA5 同 UTC 配对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139 条 / 16 天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Train / Val / Test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 / 22 / 48 条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530352" y="32644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246120"/>
            <a:ext cx="534009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当前最佳 Hybrid（ERA5 测试集）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0352" y="3611880"/>
          <a:ext cx="5486399" cy="12801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19"/>
                <a:gridCol w="1371600"/>
                <a:gridCol w="1554480"/>
              </a:tblGrid>
              <a:tr h="426719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变量 / 方法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相对气候态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· Ridge+5EOF (21ch)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1.479 K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 35.2%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6719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· BRNN 4-seed 集成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20.966%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改善 13.1%</a:t>
                      </a:r>
                      <a:endParaRPr sz="100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30352" y="5029200"/>
            <a:ext cx="5486400" cy="100584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T=Ridge/EOF 更适合小样本；RH=BRNN 集成更适合非线性映射。在当前 48 条测试样本上，T/RH 同时优于气候态基线。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Picture 32" descr="slide9_Picture 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396" y="1280160"/>
            <a:ext cx="4532886" cy="233172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6263640" y="3639312"/>
            <a:ext cx="548640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图8  成都 21ch Hybrid 预测散点（T/RH）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Picture 34" descr="slide9_Picture 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007700"/>
            <a:ext cx="5486400" cy="2042998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6263640" y="6108192"/>
            <a:ext cx="548640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图9  分高度误差（各通道组/模型对比）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成都真实数据验证（二）：物理 48 层 + 温江探空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634593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改进：48 点 → 真正的 48 物理层 + 层平均保守映射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1572768"/>
            <a:ext cx="6355080" cy="128016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层定义：0-500m×1 + 500-2000m/100m×15 + 2000-10000m/250m×32 = 48 层。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地下气压层过滤（站点海拔 548m，均删 ~2.7 层）；T/log(q)/log(P) 层平均后重算 RH。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选择性偏差订正：T 用低自由度校准订正；验证需保持样本独立。</a:t>
            </a:r>
            <a:endParaRPr sz="11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30352" y="294436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2926080"/>
            <a:ext cx="634593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温江探空外部对照（6 份探空，1-2h 时间差）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0352" y="3291840"/>
          <a:ext cx="6492237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5591"/>
                <a:gridCol w="1140528"/>
                <a:gridCol w="1052795"/>
                <a:gridCol w="1140528"/>
                <a:gridCol w="1052795"/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 Bias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RMSE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 Bias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1F4E7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 93 层（层平均）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1.730K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+0.998K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23.685%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−8.075%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优化物理 48 层 ★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1.532K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+0.250K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23.754%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−7.502%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ECF2F9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旧 48 点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1.561K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+0.243K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25.260%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−9.867%</a:t>
                      </a:r>
                      <a:endParaRPr sz="950" b="0">
                        <a:solidFill>
                          <a:srgbClr val="22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30352" y="5166360"/>
            <a:ext cx="6492240" cy="105156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相对原 93 层：T RMSE −11.4%、|Bias| −75%；湿度持平。新基线物理含义更清晰。瓶颈：5-8km 湿度 RMSE&gt;32%（高空信息量不足）。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Picture 32" descr="slide10_Picture 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971" y="1234440"/>
            <a:ext cx="3322697" cy="2377440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7178040" y="3639312"/>
            <a:ext cx="448056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图10  探空独立验证廓线对比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Picture 34" descr="slide10_Picture 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223591"/>
            <a:ext cx="4480560" cy="1611216"/>
          </a:xfrm>
          <a:prstGeom prst="rect">
            <a:avLst/>
          </a:prstGeom>
          <a:ln w="9525">
            <a:solidFill>
              <a:srgbClr val="CCD6E6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7178040" y="6144768"/>
            <a:ext cx="4480560" cy="237744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图11  分高度误差（探空验证）</a:t>
            </a:r>
            <a:endParaRPr sz="9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-12530" y="0"/>
            <a:ext cx="12204530" cy="1035962"/>
            <a:chOff x="-12530" y="0"/>
            <a:chExt cx="12204530" cy="103596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2091" y="179242"/>
              <a:ext cx="744705" cy="74470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" y="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-1" y="2286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457200"/>
              <a:ext cx="633042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-12530" y="910702"/>
              <a:ext cx="645570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-3" y="683951"/>
              <a:ext cx="633043" cy="12526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4018" y="211706"/>
              <a:ext cx="2327759" cy="675179"/>
            </a:xfrm>
            <a:prstGeom prst="rect">
              <a:avLst/>
            </a:prstGeom>
          </p:spPr>
        </p:pic>
        <p:cxnSp>
          <p:nvCxnSpPr>
            <p:cNvPr id="13" name="直接连接符 12"/>
            <p:cNvCxnSpPr/>
            <p:nvPr/>
          </p:nvCxnSpPr>
          <p:spPr>
            <a:xfrm>
              <a:off x="4205909" y="143506"/>
              <a:ext cx="0" cy="72964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9122" y="84514"/>
              <a:ext cx="703864" cy="781252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4992986" y="176969"/>
              <a:ext cx="30905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空间科学与技术学院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School of Aerospace Science and Technology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988300" y="1"/>
              <a:ext cx="4203700" cy="73672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988297" y="731909"/>
              <a:ext cx="4203700" cy="20085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766560" y="118872"/>
            <a:ext cx="5029200" cy="4572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整体进度、风险与下一步计划</a:t>
            </a:r>
            <a:endParaRPr sz="1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/ 9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30352" y="1207008"/>
            <a:ext cx="82296" cy="23774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1188720"/>
            <a:ext cx="11009376" cy="31089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当前进度总览</a:t>
            </a:r>
            <a:endParaRPr sz="14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0352" y="1572768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统计反演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834640" y="1636776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34640" y="1636776"/>
            <a:ext cx="6400800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572768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sz="1000" b="1">
              <a:solidFill>
                <a:srgbClr val="2E7D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21240" y="1572768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v4 当前最佳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0352" y="1847088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OEM 物理反演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834640" y="191109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34640" y="1911095"/>
            <a:ext cx="5120640" cy="128016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1847088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E6C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endParaRPr sz="1000" b="1">
              <a:solidFill>
                <a:srgbClr val="2E6C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921240" y="1847088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ARTS 接口已打通，待系统 baseline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0352" y="2121408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数据湖管理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834640" y="218541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34640" y="2185415"/>
            <a:ext cx="6400800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60" y="2121408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sz="1000" b="1">
              <a:solidFill>
                <a:srgbClr val="2E7D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921240" y="2121408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catalog/谱系 API 已补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0352" y="239572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TAPE3 光谱数据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834640" y="245973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34640" y="2459735"/>
            <a:ext cx="6400800" cy="12801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239572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E7D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sz="1000" b="1">
              <a:solidFill>
                <a:srgbClr val="2E7D3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921240" y="239572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已下载转二进制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0352" y="267004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Sₐ 协方差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834640" y="273405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834640" y="2734055"/>
            <a:ext cx="5120640" cy="128016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267004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2E6CB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80%</a:t>
            </a:r>
            <a:endParaRPr sz="1000" b="1">
              <a:solidFill>
                <a:srgbClr val="2E6CB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921240" y="267004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v4-derived Sₐ 已生成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30352" y="294436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EOF/PCA 降维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834640" y="300837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34640" y="3008375"/>
            <a:ext cx="3840480" cy="128016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1160" y="294436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endParaRPr sz="1000" b="1">
              <a:solidFill>
                <a:srgbClr val="E67E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21240" y="294436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基础就绪，10d 待优化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30352" y="321868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LWC 云天 OEM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834640" y="328269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34640" y="3282695"/>
            <a:ext cx="2560320" cy="128016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81160" y="321868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40%</a:t>
            </a:r>
            <a:endParaRPr sz="1000" b="1">
              <a:solidFill>
                <a:srgbClr val="E67E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921240" y="321868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21d synthetic 实验完成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30352" y="349300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ERA5 CDS 入湖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2834640" y="355701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834640" y="3557015"/>
            <a:ext cx="320040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81160" y="349300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endParaRPr sz="1000" b="1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921240" y="349300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2026-06 已完成（CDS 3 天窗口）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30352" y="3767327"/>
            <a:ext cx="22860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BRNN+OEM 桥接</a:t>
            </a:r>
            <a:endParaRPr sz="105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834640" y="3831335"/>
            <a:ext cx="6400800" cy="128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834640" y="3831335"/>
            <a:ext cx="320040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81160" y="3767327"/>
            <a:ext cx="54864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endParaRPr sz="1000" b="1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921240" y="3767327"/>
            <a:ext cx="1828800" cy="23774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待统一 Obs_BT/通道表</a:t>
            </a:r>
            <a:endParaRPr sz="85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530352" y="4160520"/>
            <a:ext cx="5532120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30352" y="4489704"/>
            <a:ext cx="5532120" cy="149961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" y="4160520"/>
            <a:ext cx="5349240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主要风险与瓶颈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58368" y="4544568"/>
            <a:ext cx="5276088" cy="140817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BRNN+OEM 桥接受通道不一致与 Obs_BT 元数据约束。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MonoRTM 单廓线 ~7s，大样本需 surrogate。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高空 DOFS 低、小样本、探空时间差 1-2h。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6245352" y="4160520"/>
            <a:ext cx="5413248" cy="3291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45352" y="4489704"/>
            <a:ext cx="5413248" cy="1499616"/>
          </a:xfrm>
          <a:prstGeom prst="rect">
            <a:avLst/>
          </a:prstGeom>
          <a:solidFill>
            <a:srgbClr val="F4F7FC"/>
          </a:solidFill>
          <a:ln w="9525">
            <a:solidFill>
              <a:srgbClr val="D9E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55080" y="4160520"/>
            <a:ext cx="5230368" cy="329184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▍ 下一步（P0/P1/P2）</a:t>
            </a:r>
            <a:endParaRPr sz="12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373368" y="4544568"/>
            <a:ext cx="5157216" cy="1408176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P0：成都 21ch ARTS clear-sky OEM baseline（n=100/200/500）。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P1：Sₐ 三层递进 + BRNN 先验桥接 + EOF 10d/14d 对照。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2000"/>
              </a:lnSpc>
            </a:pPr>
            <a:r>
              <a:rPr sz="11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● P2：NN surrogate + LWC 云天 + 不确定度校准。</a:t>
            </a:r>
            <a:endParaRPr sz="11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26" y="188132"/>
            <a:ext cx="744705" cy="7447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018" y="249171"/>
            <a:ext cx="2327759" cy="6751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" y="6400800"/>
            <a:ext cx="11128248" cy="12801"/>
          </a:xfrm>
          <a:prstGeom prst="rect">
            <a:avLst/>
          </a:prstGeom>
          <a:solidFill>
            <a:srgbClr val="CC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55664"/>
            <a:ext cx="82296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地基微波辐射计大气温湿廓线反演  ·  西电空间院期末汇报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455664"/>
            <a:ext cx="11430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/ —</a:t>
            </a:r>
            <a:endParaRPr sz="8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2E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1024128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BRNN 统计反演已达论文基准之上</a:t>
            </a:r>
            <a:endParaRPr sz="16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10241280" cy="64008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v4 实现 T=1.26K、RH=7.76%，六轮迭代明确了 Obs_BT 直接训练、廓线分组防泄露、Winsorize 订正等关键决策。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48640" y="2898648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98648"/>
            <a:ext cx="640080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2852928"/>
            <a:ext cx="1024128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OEM 物理反演框架闭环完成</a:t>
            </a:r>
            <a:endParaRPr sz="16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3264408"/>
            <a:ext cx="10241280" cy="64008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ARTS 已切换为默认前向接口；MonoRTM n=100 self-consistent 基线 T=2.02K、DOFS=2.21、收敛 99%，并完成 AK/后验诊断。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8640" y="4105656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05656"/>
            <a:ext cx="640080" cy="6400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71600" y="4059936"/>
            <a:ext cx="10241280" cy="384048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成都真实数据链路打通</a:t>
            </a:r>
            <a:endParaRPr sz="16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4471416"/>
            <a:ext cx="10241280" cy="64008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2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 通道实测亮温 + ERA5 精确配对在当前测试集上实现 T/RH 同优于气候态；物理 48 层经温江探空外部对照确立为新基线。</a:t>
            </a:r>
            <a:endParaRPr sz="1200" b="0">
              <a:solidFill>
                <a:srgbClr val="22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5486400"/>
            <a:ext cx="11091672" cy="868680"/>
          </a:xfrm>
          <a:prstGeom prst="rect">
            <a:avLst/>
          </a:prstGeom>
          <a:solidFill>
            <a:srgbClr val="EAF1FB"/>
          </a:solidFill>
          <a:ln w="9525">
            <a:solidFill>
              <a:srgbClr val="2E6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3A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下一阶段重心：从「能不能做 OEM」转向提升真实物理可信度与工程可扩展性 —— ARTS baseline、数据湖谱系闭环、Sₐ/状态向量优化、NN surrogate 加速与云天 OEM。</a:t>
            </a:r>
            <a:endParaRPr sz="1200" b="1">
              <a:solidFill>
                <a:srgbClr val="1F3A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55F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  ·  欢迎指正</a:t>
            </a:r>
            <a:endParaRPr sz="1100" b="0">
              <a:solidFill>
                <a:srgbClr val="555F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3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4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5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6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7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8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9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0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1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2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3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4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5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6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7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8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19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0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1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2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3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ags/tag24.xml><?xml version="1.0" encoding="utf-8"?>
<p:tagLst xmlns:p="http://schemas.openxmlformats.org/presentationml/2006/main">
  <p:tag name="KSO_WM_DIAGRAM_VIRTUALLY_FRAME" val="{&quot;height&quot;:282.23999999999995,&quot;left&quot;:71.15,&quot;top&quot;:201.55,&quot;width&quot;:619.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5677</Words>
  <Application>WPS 演示</Application>
  <PresentationFormat>宽屏</PresentationFormat>
  <Paragraphs>657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Times New Roman</vt:lpstr>
      <vt:lpstr>黑体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9914</dc:creator>
  <cp:lastModifiedBy>Administrator</cp:lastModifiedBy>
  <cp:revision>1458</cp:revision>
  <dcterms:created xsi:type="dcterms:W3CDTF">2020-08-10T02:48:00Z</dcterms:created>
  <dcterms:modified xsi:type="dcterms:W3CDTF">2026-07-29T08:34:14Z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E0E2E9FE5EDF4FCFAF859AF46B54EF58_13</vt:lpwstr>
  </property>
  <property fmtid="{D5CDD505-2E9C-101B-9397-08002B2CF9AE}" pid="3" name="KSOProductBuildVer">
    <vt:lpwstr>2052-12.1.0.26895</vt:lpwstr>
  </property>
</Properties>
</file>