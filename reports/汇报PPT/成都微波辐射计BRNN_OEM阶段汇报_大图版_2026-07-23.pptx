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850da636a64867" /><Relationship Type="http://schemas.openxmlformats.org/officeDocument/2006/relationships/extended-properties" Target="/docProps/app.xml" Id="R9997debb03b442e6" /><Relationship Type="http://schemas.openxmlformats.org/officeDocument/2006/relationships/officeDocument" Target="/ppt/presentation.xml" Id="Rf456f5217006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ba719a7d74b98"/>
  </p:sldMasterIdLst>
  <p:notesMasterIdLst>
    <p:notesMasterId xmlns:r="http://schemas.openxmlformats.org/officeDocument/2006/relationships" r:id="Rc500b950a80f42c4"/>
  </p:notesMasterIdLst>
  <p:sldIdLst>
    <p:sldId xmlns:r="http://schemas.openxmlformats.org/officeDocument/2006/relationships" id="256" r:id="R84bcde612fb64fb4"/>
    <p:sldId xmlns:r="http://schemas.openxmlformats.org/officeDocument/2006/relationships" id="257" r:id="R5eb09a8d0f1b4a48"/>
    <p:sldId xmlns:r="http://schemas.openxmlformats.org/officeDocument/2006/relationships" id="258" r:id="R140642f88a8745ea"/>
    <p:sldId xmlns:r="http://schemas.openxmlformats.org/officeDocument/2006/relationships" id="259" r:id="Rad5c1fb2772841ae"/>
    <p:sldId xmlns:r="http://schemas.openxmlformats.org/officeDocument/2006/relationships" id="260" r:id="R0ae9919903a64fd8"/>
    <p:sldId xmlns:r="http://schemas.openxmlformats.org/officeDocument/2006/relationships" id="261" r:id="R6f013053b413481b"/>
    <p:sldId xmlns:r="http://schemas.openxmlformats.org/officeDocument/2006/relationships" id="262" r:id="Redb435d7048547fc"/>
    <p:sldId xmlns:r="http://schemas.openxmlformats.org/officeDocument/2006/relationships" id="263" r:id="Rc6e370b04af04eaf"/>
    <p:sldId xmlns:r="http://schemas.openxmlformats.org/officeDocument/2006/relationships" id="264" r:id="Ra8765461d63541c9"/>
    <p:sldId xmlns:r="http://schemas.openxmlformats.org/officeDocument/2006/relationships" id="265" r:id="R6b2a294900144099"/>
    <p:sldId xmlns:r="http://schemas.openxmlformats.org/officeDocument/2006/relationships" id="266" r:id="R2980d67b1f58401a"/>
    <p:sldId xmlns:r="http://schemas.openxmlformats.org/officeDocument/2006/relationships" id="267" r:id="R8da3b280a3bc41b0"/>
    <p:sldId xmlns:r="http://schemas.openxmlformats.org/officeDocument/2006/relationships" id="268" r:id="Re3b1d17827a04694"/>
    <p:sldId xmlns:r="http://schemas.openxmlformats.org/officeDocument/2006/relationships" id="269" r:id="R7e716b7fcbf44bfc"/>
    <p:sldId xmlns:r="http://schemas.openxmlformats.org/officeDocument/2006/relationships" id="270" r:id="R4bd98b2c8fc8401a"/>
    <p:sldId xmlns:r="http://schemas.openxmlformats.org/officeDocument/2006/relationships" id="271" r:id="R908ba48480d449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dc8dc22fec4221" /><Relationship Type="http://schemas.openxmlformats.org/officeDocument/2006/relationships/slideMaster" Target="/ppt/slideMasters/slideMaster1.xml" Id="R63aba719a7d74b98" /><Relationship Type="http://schemas.openxmlformats.org/officeDocument/2006/relationships/notesMaster" Target="/ppt/notesMasters/notesMaster1.xml" Id="Rc500b950a80f42c4" /><Relationship Type="http://schemas.openxmlformats.org/officeDocument/2006/relationships/presProps" Target="/ppt/presProps.xml" Id="R35e6dd499eb245da" /><Relationship Type="http://schemas.openxmlformats.org/officeDocument/2006/relationships/viewProps" Target="/ppt/viewProps.xml" Id="R538ce701c60b4b84" /><Relationship Type="http://schemas.openxmlformats.org/officeDocument/2006/relationships/tableStyles" Target="/ppt/tableStyles.xml" Id="Re850448b8a194ff6" /><Relationship Type="http://schemas.openxmlformats.org/officeDocument/2006/relationships/slide" Target="/ppt/slides/slide1.xml" Id="R84bcde612fb64fb4" /><Relationship Type="http://schemas.openxmlformats.org/officeDocument/2006/relationships/slide" Target="/ppt/slides/slide2.xml" Id="R5eb09a8d0f1b4a48" /><Relationship Type="http://schemas.openxmlformats.org/officeDocument/2006/relationships/slide" Target="/ppt/slides/slide3.xml" Id="R140642f88a8745ea" /><Relationship Type="http://schemas.openxmlformats.org/officeDocument/2006/relationships/slide" Target="/ppt/slides/slide4.xml" Id="Rad5c1fb2772841ae" /><Relationship Type="http://schemas.openxmlformats.org/officeDocument/2006/relationships/slide" Target="/ppt/slides/slide5.xml" Id="R0ae9919903a64fd8" /><Relationship Type="http://schemas.openxmlformats.org/officeDocument/2006/relationships/slide" Target="/ppt/slides/slide6.xml" Id="R6f013053b413481b" /><Relationship Type="http://schemas.openxmlformats.org/officeDocument/2006/relationships/slide" Target="/ppt/slides/slide7.xml" Id="Redb435d7048547fc" /><Relationship Type="http://schemas.openxmlformats.org/officeDocument/2006/relationships/slide" Target="/ppt/slides/slide8.xml" Id="Rc6e370b04af04eaf" /><Relationship Type="http://schemas.openxmlformats.org/officeDocument/2006/relationships/slide" Target="/ppt/slides/slide9.xml" Id="Ra8765461d63541c9" /><Relationship Type="http://schemas.openxmlformats.org/officeDocument/2006/relationships/slide" Target="/ppt/slides/slide10.xml" Id="R6b2a294900144099" /><Relationship Type="http://schemas.openxmlformats.org/officeDocument/2006/relationships/slide" Target="/ppt/slides/slide11.xml" Id="R2980d67b1f58401a" /><Relationship Type="http://schemas.openxmlformats.org/officeDocument/2006/relationships/slide" Target="/ppt/slides/slide12.xml" Id="R8da3b280a3bc41b0" /><Relationship Type="http://schemas.openxmlformats.org/officeDocument/2006/relationships/slide" Target="/ppt/slides/slide13.xml" Id="Re3b1d17827a04694" /><Relationship Type="http://schemas.openxmlformats.org/officeDocument/2006/relationships/slide" Target="/ppt/slides/slide14.xml" Id="R7e716b7fcbf44bfc" /><Relationship Type="http://schemas.openxmlformats.org/officeDocument/2006/relationships/slide" Target="/ppt/slides/slide15.xml" Id="R4bd98b2c8fc8401a" /><Relationship Type="http://schemas.openxmlformats.org/officeDocument/2006/relationships/slide" Target="/ppt/slides/slide16.xml" Id="R908ba48480d4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6e6636512146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253f50caef47b0" /><Relationship Type="http://schemas.openxmlformats.org/officeDocument/2006/relationships/notesMaster" Target="/ppt/notesMasters/notesMaster1.xml" Id="R02b9b413b9e343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5604a6d700429e" /><Relationship Type="http://schemas.openxmlformats.org/officeDocument/2006/relationships/notesMaster" Target="/ppt/notesMasters/notesMaster1.xml" Id="R9aff7b6062ca4b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45d486ffc04734" /><Relationship Type="http://schemas.openxmlformats.org/officeDocument/2006/relationships/notesMaster" Target="/ppt/notesMasters/notesMaster1.xml" Id="Rbfd548aa4bdf47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1ac49f68de4f1d" /><Relationship Type="http://schemas.openxmlformats.org/officeDocument/2006/relationships/notesMaster" Target="/ppt/notesMasters/notesMaster1.xml" Id="R12374f3c1c2641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c7d9a0db7949fc" /><Relationship Type="http://schemas.openxmlformats.org/officeDocument/2006/relationships/notesMaster" Target="/ppt/notesMasters/notesMaster1.xml" Id="Rdf14979bb18a44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7e7ff4ec034f05" /><Relationship Type="http://schemas.openxmlformats.org/officeDocument/2006/relationships/notesMaster" Target="/ppt/notesMasters/notesMaster1.xml" Id="R6c2b3c587a3c49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bf03fd8a8f4166" /><Relationship Type="http://schemas.openxmlformats.org/officeDocument/2006/relationships/notesMaster" Target="/ppt/notesMasters/notesMaster1.xml" Id="Rc4d64c9d481744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7eb02342ae49c6" /><Relationship Type="http://schemas.openxmlformats.org/officeDocument/2006/relationships/notesMaster" Target="/ppt/notesMasters/notesMaster1.xml" Id="R38a07f82f9c744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ee5d27041a4d0d" /><Relationship Type="http://schemas.openxmlformats.org/officeDocument/2006/relationships/notesMaster" Target="/ppt/notesMasters/notesMaster1.xml" Id="Rd7745fdcb1a240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55861e20744f33" /><Relationship Type="http://schemas.openxmlformats.org/officeDocument/2006/relationships/notesMaster" Target="/ppt/notesMasters/notesMaster1.xml" Id="Re88c84f521014a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ab216f4ab340d3" /><Relationship Type="http://schemas.openxmlformats.org/officeDocument/2006/relationships/notesMaster" Target="/ppt/notesMasters/notesMaster1.xml" Id="R6424e38e54cb4a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fca691a73b4300" /><Relationship Type="http://schemas.openxmlformats.org/officeDocument/2006/relationships/notesMaster" Target="/ppt/notesMasters/notesMaster1.xml" Id="Rd09d1854c26149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a386f02a5c44c0" /><Relationship Type="http://schemas.openxmlformats.org/officeDocument/2006/relationships/notesMaster" Target="/ppt/notesMasters/notesMaster1.xml" Id="R40d74a81a0ab40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88f57106b44313" /><Relationship Type="http://schemas.openxmlformats.org/officeDocument/2006/relationships/notesMaster" Target="/ppt/notesMasters/notesMaster1.xml" Id="R6a26e96d7fdb41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11ba9b48214a05" /><Relationship Type="http://schemas.openxmlformats.org/officeDocument/2006/relationships/notesMaster" Target="/ppt/notesMasters/notesMaster1.xml" Id="R1c14cdddf2aa4a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879e0bdd41483c" /><Relationship Type="http://schemas.openxmlformats.org/officeDocument/2006/relationships/notesMaster" Target="/ppt/notesMasters/notesMaster1.xml" Id="R28917d4a43674f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28fd15ec742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19e30312a4d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2957335134e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b6ca1c88947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9f46f4cba49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2177ca23c48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ab749a17f44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9a3574d6b4b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1b47fef6e4cb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6f7d0f9b24f7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a6db84ad0449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0DDF75-E120-4C2A-AD1E-582AF153601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2F91CBC-AEC5-4BA1-963D-9286375254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A00750-F3B0-4418-8B99-B257124161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1E2EBA7-5620-433B-A444-9D3544C544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2FF70BE-49B4-4FE7-8264-DD1950935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96400" y="6356352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6A8D42-AC18-49C0-A21D-AA5AA498CD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E331C54-DBB4-4EDE-9765-10F2FA78D4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BE83125-F8AD-4CCC-9CCB-7ED4CFBF85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A438C0F-23D9-4E2E-85EC-F3E5E83F01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673935-C11C-41A7-8841-5E6BD17149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371E1B0-7597-486D-B3D4-0F02C6522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40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ECF98C-4DAE-4CF0-B274-005F0AB085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B4DD353-4D54-4414-80F8-19EE8C0D20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EEA5D10-7A82-40A1-8745-7A0D8B045F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05C26F2-337C-4C55-B8CF-EAE416D282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566A994-8904-43B1-9303-F97C4069E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12D8F99-2BFA-45E9-8E37-E99D0AF1BD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A49A19C-7BA3-4DD8-87DD-ECE66B8A50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89C8FD6-F23F-415F-837D-84728DBC44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975DBBD-48E7-485C-B7DC-B77D37334D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6275B47-BD24-4B95-A95F-C5CF15821B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062FAD-D25E-48DD-B452-CE1EB32A1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7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EEE280E-6EC9-4074-ADC7-36916953A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172FFB5-2565-40D1-9DC0-DF803D7B9D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9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78C98F2-633D-412C-B803-7CFD71B4353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2EF6532-3123-4F6F-810F-AA2AD6212A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34E625F-B38F-4F43-8B2A-68C1FA8C34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EE6D95E-7CDB-4CB0-B30E-A85E07586F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E5BEE30-A7F9-4C8D-A523-F3BA0CC2B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CC3BECB-C1C2-434A-B5C8-A5AB9628D1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B422D6D-1514-4A35-A3D8-B2B2318CAF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57D0ED2-BC71-48DE-9239-30E2FB2F8F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F347704-6819-4A19-9A15-9063656EAD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AB293C6-13B1-42F1-B00A-8C87532FDB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64A6A0A-B5E5-48E5-80C7-BC43E93645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7722868-CF77-4865-9F87-3EE1307038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68D36E-9C04-44AA-86DB-19DC1EF9FC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70730F6-667B-485F-A6E9-FE18A130C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9" y="987427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D2B9AEE-CBCC-4CB7-A1AD-B89F7ABCAC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2A95FA4-D94F-4180-AA0D-5A1AAD428A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3894CF8-089E-4DE6-AF74-09D237754D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9BB8DBA-6CB6-497E-AE22-963885684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3790D84-8467-4B58-9BA0-6B5960E30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2B21A3B-5966-46AA-96F0-5C782512EF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9" y="987427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892B62F-F295-4906-82F6-398142C4B2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EA9FB07-605D-4A11-81AF-3E1CE492BB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37E491-148D-4D69-B35C-C40A176CF3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656E452-9CAC-4638-883F-A34C55EEC8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4CB8A26-8E64-4862-A999-E00E8B039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6E2E6B6-A1C4-4207-BFBC-BAA3470FF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EAACFFE-B56E-4104-B7A4-707A351435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07219A-BC94-46FA-9825-40DB7FB373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CB0335D-DBA7-434B-A767-359B46FDF0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ABAB280-C8CF-4088-B454-5D29FC2F79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92C4D-4E5A-4DC7-9086-B3DD97741A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60C8EF8-F1C3-45B7-8C70-404094BE1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A7D404-C1BB-4099-B651-F762A1D40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F8C01D5-D199-4FE3-AAE0-0B29DBE55D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6a62c3b0ce4a4b" /><Relationship Type="http://schemas.openxmlformats.org/officeDocument/2006/relationships/slideLayout" Target="/ppt/slideLayouts/slideLayout1.xml" Id="R09a1ee1fb9d94f09" /><Relationship Type="http://schemas.openxmlformats.org/officeDocument/2006/relationships/slideLayout" Target="/ppt/slideLayouts/slideLayout2.xml" Id="Rc199f4b8cf854cac" /><Relationship Type="http://schemas.openxmlformats.org/officeDocument/2006/relationships/slideLayout" Target="/ppt/slideLayouts/slideLayout3.xml" Id="R67a0f80c8b5e47a3" /><Relationship Type="http://schemas.openxmlformats.org/officeDocument/2006/relationships/slideLayout" Target="/ppt/slideLayouts/slideLayout4.xml" Id="R3e5d825da12048d2" /><Relationship Type="http://schemas.openxmlformats.org/officeDocument/2006/relationships/slideLayout" Target="/ppt/slideLayouts/slideLayout5.xml" Id="Rdfe135e0a840402a" /><Relationship Type="http://schemas.openxmlformats.org/officeDocument/2006/relationships/slideLayout" Target="/ppt/slideLayouts/slideLayout6.xml" Id="R6f0939b325324e98" /><Relationship Type="http://schemas.openxmlformats.org/officeDocument/2006/relationships/slideLayout" Target="/ppt/slideLayouts/slideLayout7.xml" Id="R336f8a2e5040418b" /><Relationship Type="http://schemas.openxmlformats.org/officeDocument/2006/relationships/slideLayout" Target="/ppt/slideLayouts/slideLayout8.xml" Id="Re8bcd3a1a1fe4c9e" /><Relationship Type="http://schemas.openxmlformats.org/officeDocument/2006/relationships/slideLayout" Target="/ppt/slideLayouts/slideLayout9.xml" Id="R6f8ea7714e4e43b6" /><Relationship Type="http://schemas.openxmlformats.org/officeDocument/2006/relationships/slideLayout" Target="/ppt/slideLayouts/slideLayout10.xml" Id="Rb930f939829c4568" /><Relationship Type="http://schemas.openxmlformats.org/officeDocument/2006/relationships/slideLayout" Target="/ppt/slideLayouts/slideLayout11.xml" Id="R812f702d648d45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D25D1DC-D37D-40CD-AFB6-57BCE56563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765811D-AA6A-41BD-B922-A817A078F8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EDD58D5-285C-4DB4-9349-66978494C8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A7C203-C933-4688-80B9-5D6BC80FBE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B07D3F7-9269-4898-A535-02FAFB5783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1ee1fb9d94f09"/>
    <p:sldLayoutId xmlns:r="http://schemas.openxmlformats.org/officeDocument/2006/relationships" id="2147483650" r:id="Rc199f4b8cf854cac"/>
    <p:sldLayoutId xmlns:r="http://schemas.openxmlformats.org/officeDocument/2006/relationships" id="2147483651" r:id="R67a0f80c8b5e47a3"/>
    <p:sldLayoutId xmlns:r="http://schemas.openxmlformats.org/officeDocument/2006/relationships" id="2147483652" r:id="R3e5d825da12048d2"/>
    <p:sldLayoutId xmlns:r="http://schemas.openxmlformats.org/officeDocument/2006/relationships" id="2147483653" r:id="Rdfe135e0a840402a"/>
    <p:sldLayoutId xmlns:r="http://schemas.openxmlformats.org/officeDocument/2006/relationships" id="2147483654" r:id="R6f0939b325324e98"/>
    <p:sldLayoutId xmlns:r="http://schemas.openxmlformats.org/officeDocument/2006/relationships" id="2147483655" r:id="R336f8a2e5040418b"/>
    <p:sldLayoutId xmlns:r="http://schemas.openxmlformats.org/officeDocument/2006/relationships" id="2147483656" r:id="Re8bcd3a1a1fe4c9e"/>
    <p:sldLayoutId xmlns:r="http://schemas.openxmlformats.org/officeDocument/2006/relationships" id="2147483657" r:id="R6f8ea7714e4e43b6"/>
    <p:sldLayoutId xmlns:r="http://schemas.openxmlformats.org/officeDocument/2006/relationships" id="2147483658" r:id="Rb930f939829c4568"/>
    <p:sldLayoutId xmlns:r="http://schemas.openxmlformats.org/officeDocument/2006/relationships" id="2147483659" r:id="R812f702d648d459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2e350231c4254" /><Relationship Type="http://schemas.openxmlformats.org/officeDocument/2006/relationships/image" Target="/ppt/media/image.png" Id="R5df649a3bb454589" /><Relationship Type="http://schemas.openxmlformats.org/officeDocument/2006/relationships/image" Target="/ppt/media/image2.png" Id="R389967bf6d824dd5" /><Relationship Type="http://schemas.openxmlformats.org/officeDocument/2006/relationships/image" Target="/ppt/media/image3.png" Id="Reb05fa412aa74202" /><Relationship Type="http://schemas.openxmlformats.org/officeDocument/2006/relationships/notesSlide" Target="/ppt/notesSlides/notesSlide1.xml" Id="Re8658a986b104f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a54b7c9a64214" /><Relationship Type="http://schemas.openxmlformats.org/officeDocument/2006/relationships/image" Target="/ppt/media/image.png" Id="Re250c7c90c6d4b3e" /><Relationship Type="http://schemas.openxmlformats.org/officeDocument/2006/relationships/image" Target="/ppt/media/image2.png" Id="R0153b2afe18147a3" /><Relationship Type="http://schemas.openxmlformats.org/officeDocument/2006/relationships/image" Target="/ppt/media/image3.png" Id="R7462bd768cf24924" /><Relationship Type="http://schemas.openxmlformats.org/officeDocument/2006/relationships/notesSlide" Target="/ppt/notesSlides/notesSlide2.xml" Id="R8e5000f5f1e841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0734248654ce5" /><Relationship Type="http://schemas.openxmlformats.org/officeDocument/2006/relationships/image" Target="/ppt/media/image.png" Id="Rb06b356f7aff4c0a" /><Relationship Type="http://schemas.openxmlformats.org/officeDocument/2006/relationships/image" Target="/ppt/media/image2.png" Id="R7319d258598540a9" /><Relationship Type="http://schemas.openxmlformats.org/officeDocument/2006/relationships/image" Target="/ppt/media/image3.png" Id="R50976b3c78854635" /><Relationship Type="http://schemas.openxmlformats.org/officeDocument/2006/relationships/notesSlide" Target="/ppt/notesSlides/notesSlide3.xml" Id="R0297455858ef4b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105ee1ac44bfa" /><Relationship Type="http://schemas.openxmlformats.org/officeDocument/2006/relationships/image" Target="/ppt/media/image.png" Id="R046642777f494e86" /><Relationship Type="http://schemas.openxmlformats.org/officeDocument/2006/relationships/image" Target="/ppt/media/image2.png" Id="R00c34c5673084b12" /><Relationship Type="http://schemas.openxmlformats.org/officeDocument/2006/relationships/image" Target="/ppt/media/image3.png" Id="R746b175500bd4dc6" /><Relationship Type="http://schemas.openxmlformats.org/officeDocument/2006/relationships/notesSlide" Target="/ppt/notesSlides/notesSlide4.xml" Id="Rd87fe41c33b84b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0214d576e4472" /><Relationship Type="http://schemas.openxmlformats.org/officeDocument/2006/relationships/image" Target="/ppt/media/image.png" Id="R1eb75a3689974485" /><Relationship Type="http://schemas.openxmlformats.org/officeDocument/2006/relationships/image" Target="/ppt/media/image2.png" Id="R0ae3a5ae9a6d4066" /><Relationship Type="http://schemas.openxmlformats.org/officeDocument/2006/relationships/image" Target="/ppt/media/image3.png" Id="R12cb7d79dc254358" /><Relationship Type="http://schemas.openxmlformats.org/officeDocument/2006/relationships/notesSlide" Target="/ppt/notesSlides/notesSlide5.xml" Id="Re19d3c0fd3454c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ee1049e6e4913" /><Relationship Type="http://schemas.openxmlformats.org/officeDocument/2006/relationships/image" Target="/ppt/media/image.png" Id="R3592bc062aed472b" /><Relationship Type="http://schemas.openxmlformats.org/officeDocument/2006/relationships/image" Target="/ppt/media/image2.png" Id="Rf8ea7d5a9a2b466f" /><Relationship Type="http://schemas.openxmlformats.org/officeDocument/2006/relationships/image" Target="/ppt/media/image3.png" Id="Re18d9acff62f4008" /><Relationship Type="http://schemas.openxmlformats.org/officeDocument/2006/relationships/notesSlide" Target="/ppt/notesSlides/notesSlide6.xml" Id="R5df48e8073e440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ec4a3c2dc4436" /><Relationship Type="http://schemas.openxmlformats.org/officeDocument/2006/relationships/image" Target="/ppt/media/image.png" Id="R433edadc1b0e499c" /><Relationship Type="http://schemas.openxmlformats.org/officeDocument/2006/relationships/image" Target="/ppt/media/image2.png" Id="R3aaca0e076bc4af5" /><Relationship Type="http://schemas.openxmlformats.org/officeDocument/2006/relationships/image" Target="/ppt/media/image3.png" Id="Re5717fee5d404ed1" /><Relationship Type="http://schemas.openxmlformats.org/officeDocument/2006/relationships/notesSlide" Target="/ppt/notesSlides/notesSlide7.xml" Id="R779933741cfe40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eee1001e34d26" /><Relationship Type="http://schemas.openxmlformats.org/officeDocument/2006/relationships/image" Target="/ppt/media/image.png" Id="Rd2045b8b5cae4d37" /><Relationship Type="http://schemas.openxmlformats.org/officeDocument/2006/relationships/image" Target="/ppt/media/image2.png" Id="R696abbb68a974624" /><Relationship Type="http://schemas.openxmlformats.org/officeDocument/2006/relationships/image" Target="/ppt/media/image3.png" Id="R626ceb6498a04d1d" /><Relationship Type="http://schemas.openxmlformats.org/officeDocument/2006/relationships/chart" Target="/ppt/slides/charts/chart1.xml" Id="Rdaa8d15eadd14942" /><Relationship Type="http://schemas.openxmlformats.org/officeDocument/2006/relationships/notesSlide" Target="/ppt/notesSlides/notesSlide8.xml" Id="Re79e9cd1c2d241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fc254552c4c72" /><Relationship Type="http://schemas.openxmlformats.org/officeDocument/2006/relationships/image" Target="/ppt/media/image.png" Id="R02f70fe4401e4dd8" /><Relationship Type="http://schemas.openxmlformats.org/officeDocument/2006/relationships/image" Target="/ppt/media/image2.png" Id="Re0381cb030724575" /><Relationship Type="http://schemas.openxmlformats.org/officeDocument/2006/relationships/image" Target="/ppt/media/image3.png" Id="R3204c7437e534f3c" /><Relationship Type="http://schemas.openxmlformats.org/officeDocument/2006/relationships/chart" Target="/ppt/slides/charts/chart2.xml" Id="R528f92b206824297" /><Relationship Type="http://schemas.openxmlformats.org/officeDocument/2006/relationships/notesSlide" Target="/ppt/notesSlides/notesSlide9.xml" Id="R2fca708fa10546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4bdc0b22148af" /><Relationship Type="http://schemas.openxmlformats.org/officeDocument/2006/relationships/image" Target="/ppt/media/image.png" Id="R07257fed4275459a" /><Relationship Type="http://schemas.openxmlformats.org/officeDocument/2006/relationships/image" Target="/ppt/media/image2.png" Id="R499b5e3b68ce4aa1" /><Relationship Type="http://schemas.openxmlformats.org/officeDocument/2006/relationships/image" Target="/ppt/media/image3.png" Id="R95a2291a19d843eb" /><Relationship Type="http://schemas.openxmlformats.org/officeDocument/2006/relationships/chart" Target="/ppt/slides/charts/chart3.xml" Id="R3968c033fa064e1f" /><Relationship Type="http://schemas.openxmlformats.org/officeDocument/2006/relationships/notesSlide" Target="/ppt/notesSlides/notesSlide10.xml" Id="Rcc435a47483b42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1b8b984e64de0" /><Relationship Type="http://schemas.openxmlformats.org/officeDocument/2006/relationships/image" Target="/ppt/media/image.png" Id="R1a3dffeedd094231" /><Relationship Type="http://schemas.openxmlformats.org/officeDocument/2006/relationships/image" Target="/ppt/media/image2.png" Id="R86774ab1799b4d67" /><Relationship Type="http://schemas.openxmlformats.org/officeDocument/2006/relationships/image" Target="/ppt/media/image3.png" Id="R770cb9c7de4e4617" /><Relationship Type="http://schemas.openxmlformats.org/officeDocument/2006/relationships/notesSlide" Target="/ppt/notesSlides/notesSlide11.xml" Id="Rdb050405e0f64f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b5d5cea7e4282" /><Relationship Type="http://schemas.openxmlformats.org/officeDocument/2006/relationships/image" Target="/ppt/media/image.png" Id="R06eb8da9943e4908" /><Relationship Type="http://schemas.openxmlformats.org/officeDocument/2006/relationships/image" Target="/ppt/media/image2.png" Id="R87767a0204d34603" /><Relationship Type="http://schemas.openxmlformats.org/officeDocument/2006/relationships/image" Target="/ppt/media/image3.png" Id="R929bf58d37cc4605" /><Relationship Type="http://schemas.openxmlformats.org/officeDocument/2006/relationships/chart" Target="/ppt/slides/charts/chart4.xml" Id="R17e0bdf0c6c240e8" /><Relationship Type="http://schemas.openxmlformats.org/officeDocument/2006/relationships/notesSlide" Target="/ppt/notesSlides/notesSlide12.xml" Id="Rae5d880a50b540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71a6cc6dd4316" /><Relationship Type="http://schemas.openxmlformats.org/officeDocument/2006/relationships/image" Target="/ppt/media/image.png" Id="Rf1dc421ebb354132" /><Relationship Type="http://schemas.openxmlformats.org/officeDocument/2006/relationships/image" Target="/ppt/media/image2.png" Id="R18d3f0037dd34e9f" /><Relationship Type="http://schemas.openxmlformats.org/officeDocument/2006/relationships/image" Target="/ppt/media/image3.png" Id="Rb7f09d0dee3c477a" /><Relationship Type="http://schemas.openxmlformats.org/officeDocument/2006/relationships/notesSlide" Target="/ppt/notesSlides/notesSlide13.xml" Id="R0b16e5b1d1e44f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9e89151704f01" /><Relationship Type="http://schemas.openxmlformats.org/officeDocument/2006/relationships/image" Target="/ppt/media/image.png" Id="R2088fabd316749a6" /><Relationship Type="http://schemas.openxmlformats.org/officeDocument/2006/relationships/image" Target="/ppt/media/image2.png" Id="Rf9053a9b20f44ccc" /><Relationship Type="http://schemas.openxmlformats.org/officeDocument/2006/relationships/image" Target="/ppt/media/image3.png" Id="R0513dafc382945f6" /><Relationship Type="http://schemas.openxmlformats.org/officeDocument/2006/relationships/notesSlide" Target="/ppt/notesSlides/notesSlide14.xml" Id="R929f6915abf944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a2b91a55a407e" /><Relationship Type="http://schemas.openxmlformats.org/officeDocument/2006/relationships/image" Target="/ppt/media/image.png" Id="R2a14f432bfc44944" /><Relationship Type="http://schemas.openxmlformats.org/officeDocument/2006/relationships/image" Target="/ppt/media/image2.png" Id="Reb2ec33d5b2f42fe" /><Relationship Type="http://schemas.openxmlformats.org/officeDocument/2006/relationships/image" Target="/ppt/media/image3.png" Id="R822b5d37e46f482b" /><Relationship Type="http://schemas.openxmlformats.org/officeDocument/2006/relationships/notesSlide" Target="/ppt/notesSlides/notesSlide15.xml" Id="R75af0126841b40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969aa8dea4ee1" /><Relationship Type="http://schemas.openxmlformats.org/officeDocument/2006/relationships/image" Target="/ppt/media/image.png" Id="R5680c7578d034d65" /><Relationship Type="http://schemas.openxmlformats.org/officeDocument/2006/relationships/image" Target="/ppt/media/image2.png" Id="R5069fc9e01214b42" /><Relationship Type="http://schemas.openxmlformats.org/officeDocument/2006/relationships/image" Target="/ppt/media/image3.png" Id="R4edfd88e6f7c4d9a" /><Relationship Type="http://schemas.openxmlformats.org/officeDocument/2006/relationships/notesSlide" Target="/ppt/notesSlides/notesSlide16.xml" Id="R17c489b608f6456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 RMSE(K)</c:v>
          </c:tx>
          <c:spPr>
            <a:solidFill xmlns:a="http://schemas.openxmlformats.org/drawingml/2006/main">
              <a:srgbClr val="C00000"/>
            </a:solidFill>
          </c:spPr>
          <c:cat>
            <c:strLit>
              <c:ptCount val="3"/>
              <c:pt idx="0">
                <c:v>旧模型直接迁移</c:v>
              </c:pt>
              <c:pt idx="1">
                <c:v>成都本地混合</c:v>
              </c:pt>
              <c:pt idx="2">
                <c:v>物理48层探空</c:v>
              </c:pt>
            </c:strLit>
          </c:cat>
          <c:val>
            <c:numLit>
              <c:formatCode>General</c:formatCode>
              <c:ptCount val="3"/>
              <c:pt idx="0">
                <c:v>29.376</c:v>
              </c:pt>
              <c:pt idx="1">
                <c:v>1.479</c:v>
              </c:pt>
              <c:pt idx="2">
                <c:v>1.532</c:v>
              </c:pt>
            </c:numLit>
          </c:val>
        </c:ser>
        <c:ser>
          <c:idx val="1"/>
          <c:order val="1"/>
          <c:tx>
            <c:v>RH RMSE(%)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3"/>
              <c:pt idx="0">
                <c:v>旧模型直接迁移</c:v>
              </c:pt>
              <c:pt idx="1">
                <c:v>成都本地混合</c:v>
              </c:pt>
              <c:pt idx="2">
                <c:v>物理48层探空</c:v>
              </c:pt>
            </c:strLit>
          </c:cat>
          <c:val>
            <c:numLit>
              <c:formatCode>General</c:formatCode>
              <c:ptCount val="3"/>
              <c:pt idx="0">
                <c:v>42.496</c:v>
              </c:pt>
              <c:pt idx="1">
                <c:v>20.966</c:v>
              </c:pt>
              <c:pt idx="2">
                <c:v>23.754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样本数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4"/>
              <c:pt idx="0">
                <c:v>训练</c:v>
              </c:pt>
              <c:pt idx="1">
                <c:v>验证</c:v>
              </c:pt>
              <c:pt idx="2">
                <c:v>测试</c:v>
              </c:pt>
              <c:pt idx="3">
                <c:v>独立探空</c:v>
              </c:pt>
            </c:strLit>
          </c:cat>
          <c:val>
            <c:numLit>
              <c:formatCode>General</c:formatCode>
              <c:ptCount val="4"/>
              <c:pt idx="0">
                <c:v>69</c:v>
              </c:pt>
              <c:pt idx="1">
                <c:v>22</c:v>
              </c:pt>
              <c:pt idx="2">
                <c:v>48</c:v>
              </c:pt>
              <c:pt idx="3">
                <c:v>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 RMSE(K)</c:v>
          </c:tx>
          <c:spPr>
            <a:solidFill xmlns:a="http://schemas.openxmlformats.org/drawingml/2006/main">
              <a:srgbClr val="C00000"/>
            </a:solidFill>
          </c:spPr>
          <c:cat>
            <c:strLit>
              <c:ptCount val="5"/>
              <c:pt idx="0">
                <c:v>全21ch</c:v>
              </c:pt>
              <c:pt idx="1">
                <c:v>前14ch</c:v>
              </c:pt>
              <c:pt idx="2">
                <c:v>高频7ch</c:v>
              </c:pt>
              <c:pt idx="3">
                <c:v>183GHz五通道</c:v>
              </c:pt>
              <c:pt idx="4">
                <c:v>平均廓线</c:v>
              </c:pt>
            </c:strLit>
          </c:cat>
          <c:val>
            <c:numLit>
              <c:formatCode>General</c:formatCode>
              <c:ptCount val="5"/>
              <c:pt idx="0">
                <c:v>2.613</c:v>
              </c:pt>
              <c:pt idx="1">
                <c:v>2.379</c:v>
              </c:pt>
              <c:pt idx="2">
                <c:v>2.898</c:v>
              </c:pt>
              <c:pt idx="3">
                <c:v>2.61</c:v>
              </c:pt>
              <c:pt idx="4">
                <c:v>2.284</c:v>
              </c:pt>
            </c:numLit>
          </c:val>
        </c:ser>
        <c:ser>
          <c:idx val="1"/>
          <c:order val="1"/>
          <c:tx>
            <c:v>RH RMSE(%)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5"/>
              <c:pt idx="0">
                <c:v>全21ch</c:v>
              </c:pt>
              <c:pt idx="1">
                <c:v>前14ch</c:v>
              </c:pt>
              <c:pt idx="2">
                <c:v>高频7ch</c:v>
              </c:pt>
              <c:pt idx="3">
                <c:v>183GHz五通道</c:v>
              </c:pt>
              <c:pt idx="4">
                <c:v>平均廓线</c:v>
              </c:pt>
            </c:strLit>
          </c:cat>
          <c:val>
            <c:numLit>
              <c:formatCode>General</c:formatCode>
              <c:ptCount val="5"/>
              <c:pt idx="0">
                <c:v>20.632</c:v>
              </c:pt>
              <c:pt idx="1">
                <c:v>21.085</c:v>
              </c:pt>
              <c:pt idx="2">
                <c:v>23.705</c:v>
              </c:pt>
              <c:pt idx="3">
                <c:v>24.149</c:v>
              </c:pt>
              <c:pt idx="4">
                <c:v>24.119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 RMSE(K)</c:v>
          </c:tx>
          <c:spPr>
            <a:solidFill xmlns:a="http://schemas.openxmlformats.org/drawingml/2006/main">
              <a:srgbClr val="C00000"/>
            </a:solidFill>
          </c:spPr>
          <c:cat>
            <c:strLit>
              <c:ptCount val="4"/>
              <c:pt idx="0">
                <c:v>0-2km</c:v>
              </c:pt>
              <c:pt idx="1">
                <c:v>2-5km</c:v>
              </c:pt>
              <c:pt idx="2">
                <c:v>5-8km</c:v>
              </c:pt>
              <c:pt idx="3">
                <c:v>8-10km</c:v>
              </c:pt>
            </c:strLit>
          </c:cat>
          <c:val>
            <c:numLit>
              <c:formatCode>General</c:formatCode>
              <c:ptCount val="4"/>
              <c:pt idx="0">
                <c:v>1.848</c:v>
              </c:pt>
              <c:pt idx="1">
                <c:v>1.222</c:v>
              </c:pt>
              <c:pt idx="2">
                <c:v>1.535</c:v>
              </c:pt>
              <c:pt idx="3">
                <c:v>1.218</c:v>
              </c:pt>
            </c:numLit>
          </c:val>
        </c:ser>
        <c:ser>
          <c:idx val="1"/>
          <c:order val="1"/>
          <c:tx>
            <c:v>RH RMSE(%)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4"/>
              <c:pt idx="0">
                <c:v>0-2km</c:v>
              </c:pt>
              <c:pt idx="1">
                <c:v>2-5km</c:v>
              </c:pt>
              <c:pt idx="2">
                <c:v>5-8km</c:v>
              </c:pt>
              <c:pt idx="3">
                <c:v>8-10km</c:v>
              </c:pt>
            </c:strLit>
          </c:cat>
          <c:val>
            <c:numLit>
              <c:formatCode>General</c:formatCode>
              <c:ptCount val="4"/>
              <c:pt idx="0">
                <c:v>11.624</c:v>
              </c:pt>
              <c:pt idx="1">
                <c:v>22.117</c:v>
              </c:pt>
              <c:pt idx="2">
                <c:v>32.553</c:v>
              </c:pt>
              <c:pt idx="3">
                <c:v>28.141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649a3bb4545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E33757-4BF6-4D78-8BDA-21D545FE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0D6483E-9AFA-4CC3-9A75-57D4350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B71BF4-2B0C-49BA-9064-E0028D74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57BDBAE-AEA1-4113-B44D-EDD475C7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B525159-632C-4A90-A3FC-DDCF403D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967bf6d824d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9DBB855B-CA06-4AD1-8BF7-0B3173A6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5fa412aa74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FD33689-3D15-4F5F-9264-E0232DC4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6964EBD-140F-4B09-B41E-5EE0DB16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42AE1F5-C393-4985-909C-6D8090EB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8F980E32-49F0-4771-B25A-58F0DFF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56" y="2295846"/>
            <a:ext cx="105859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主题</a:t>
            </a:r>
          </a:p>
        </p:txBody>
      </p:sp>
      <p:sp>
        <p:nvSpPr>
          <p:cNvPr id="23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894227F-B9E2-4DF1-BA96-B5AB129C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172" y="4170878"/>
            <a:ext cx="3755254" cy="19552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报 告 人：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导    师： 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年    级： 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E8184379-3E93-4CE9-BF30-0E34584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42" y="3429000"/>
            <a:ext cx="4821247" cy="0"/>
          </a:xfrm>
          <a:prstGeom xmlns:a="http://schemas.openxmlformats.org/drawingml/2006/main" prst="line">
            <a:avLst/>
          </a:prstGeom>
          <a:ln xmlns:a="http://schemas.openxmlformats.org/drawingml/2006/main" w="19050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82FD64AB-BD20-4600-866E-DB409422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889" y="3429002"/>
            <a:ext cx="5513313" cy="1754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BAE1F27-F503-457A-B9EC-998E7C7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11" y="99553"/>
            <a:ext cx="306651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5B2D0-5135-457B-8A0E-12832491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19200"/>
            <a:ext cx="112395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0C24A5-C0FC-4868-A533-D0BFBB69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65C"/>
                </a:solidFill>
              </a:defRPr>
            </a:pPr>
            <a:r>
              <a:rPr sz="2550" b="1">
                <a:solidFill>
                  <a:srgbClr val="16365C"/>
                </a:solidFill>
              </a:rPr>
              <a:t>神经网络与OEM融合的微波辐射计廓线反演研究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8C84C7-7ABA-4EFD-A3AA-BFE92F6F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4476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44C488-AEF4-4AEC-A240-6CCAB556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1F"/>
                </a:solidFill>
              </a:defRPr>
            </a:pPr>
            <a:r>
              <a:rPr sz="1575" b="0">
                <a:solidFill>
                  <a:srgbClr val="1F1F1F"/>
                </a:solidFill>
              </a:rPr>
              <a:t>成都站21通道实测亮温迁移测试、效果诊断与下一步方案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0E578C-49E5-4132-BBDC-E513BFAB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阶段汇报 | 2026年7月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7B227F-0CB6-4AE6-A0AF-532D5C6A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汇报人：</a:t>
            </a:r>
          </a:p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导师：</a:t>
            </a:r>
          </a:p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年级：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718BD5-99CD-4A8B-A8C0-70CD348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B842-5EDC-46FB-999E-5F8F5178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F25B6B-DC83-4616-8E90-D6938AC4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阶段汇报</a:t>
            </a:r>
          </a:p>
        </p:txBody>
      </p:sp>
    </p:spTree>
    <p:extLst>
      <p:ext uri="{BB962C8B-B14F-4D97-AF65-F5344CB8AC3E}">
        <p14:creationId xmlns:p14="http://schemas.microsoft.com/office/powerpoint/2010/main" val="7547310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0c7c90c6d4b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D5CBF1-A727-43B3-BC37-80F571C0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BD7EB07-193E-41CA-8815-EC48F3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CB902C0-DBEA-4A16-9F5D-13D810D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277ED30-EEDF-493A-9D3C-BF64BD03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200CAB-58D2-4C6D-A244-986848EC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3b2afe18147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D4FB81-2635-4395-8921-96CA4F9D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2bd768cf24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F72B4AD5-DD35-4DDB-BCA8-B3EFECD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24CD6EC-8394-4898-86D9-77BC8A20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0BC4CD9-4B0F-4DD9-9AFA-303971B1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F26C33E-4A70-4DFD-A05E-4AEDF12B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88" y="96701"/>
            <a:ext cx="306651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汇 报 目 录</a:t>
            </a:r>
          </a:p>
        </p:txBody>
      </p:sp>
      <p:sp>
        <p:nvSpPr>
          <p:cNvPr id="25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37F8EF5-EE92-4B32-81BD-EF745000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0" y="1641079"/>
            <a:ext cx="899795" cy="90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内</a:t>
            </a:r>
          </a:p>
        </p:txBody>
      </p:sp>
      <p:sp>
        <p:nvSpPr>
          <p:cNvPr id="26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CD99921-665F-4B66-AE49-7284BD36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83" y="2169399"/>
            <a:ext cx="1560830" cy="90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400" b="1">
                <a:solidFill>
                  <a:schemeClr val="accent5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容</a:t>
            </a:r>
          </a:p>
        </p:txBody>
      </p:sp>
      <p:sp>
        <p:nvSpPr>
          <p:cNvPr id="27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9201529-8A0D-4093-A507-0BC789F2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606342" y="4048364"/>
            <a:ext cx="3760470" cy="90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400" b="1">
                <a:solidFill>
                  <a:srgbClr val="D9D9D9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28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8EEC8CE-D680-4D75-9357-8435B86F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5" y="1221552"/>
            <a:ext cx="6894395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一、</a:t>
            </a: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           </a:t>
            </a: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研 究 背 景 及 意 义</a:t>
            </a:r>
          </a:p>
        </p:txBody>
      </p:sp>
      <p:sp>
        <p:nvSpPr>
          <p:cNvPr id="30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697E0A8-C548-4AE4-B466-41CF4569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978" y="2358943"/>
            <a:ext cx="6891855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二、            国 内 外 研 究 </a:t>
            </a: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现 状</a:t>
            </a:r>
          </a:p>
        </p:txBody>
      </p:sp>
      <p:sp>
        <p:nvSpPr>
          <p:cNvPr id="31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8D7E14F-EA60-422E-8742-808E9A62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5" y="3496334"/>
            <a:ext cx="6891853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三、            关键问题及研究内容</a:t>
            </a:r>
          </a:p>
        </p:txBody>
      </p:sp>
      <p:sp>
        <p:nvSpPr>
          <p:cNvPr id="32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CACDADB-3EAB-4400-8987-5CE042FF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3" y="4633725"/>
            <a:ext cx="6891852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四、                拟 研 究 思 路</a:t>
            </a:r>
          </a:p>
        </p:txBody>
      </p:sp>
      <p:sp>
        <p:nvSpPr>
          <p:cNvPr id="24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BCEB5DE-CDF2-4072-AF2E-B3F124B1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3" y="5771116"/>
            <a:ext cx="6891855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五、        研 究 计 划 及 论 文 大 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A80EAC-3B2E-46AA-AF3E-620D6A6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47750"/>
            <a:ext cx="80962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06A25-8EBB-4BBB-9827-C7EFD7E6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857F7E-7460-413A-85C4-F8ECBBBE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E87119-A78E-4A77-B401-1798FC7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汇报目录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0638BC-D8DA-452F-829D-755AAA52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42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00000"/>
                </a:solidFill>
              </a:defRPr>
            </a:pPr>
            <a:r>
              <a:rPr sz="2325" b="1">
                <a:solidFill>
                  <a:srgbClr val="C00000"/>
                </a:solidFill>
              </a:rPr>
              <a:t>内容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23C33C-5110-4346-963A-D9DDC096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FBFBF"/>
                </a:solidFill>
              </a:defRPr>
            </a:pPr>
            <a:r>
              <a:rPr sz="1650" b="0">
                <a:solidFill>
                  <a:srgbClr val="BFBFBF"/>
                </a:solidFill>
              </a:rPr>
              <a:t>CONTENTS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15F630-6D6E-463E-8390-FB4BC0C4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192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11F0CE-5F57-4B55-8038-167BA0DC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335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一、    研究背景及国内外现状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8380F2-7261-4F5B-9E20-08885D43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19325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D01B1A-4385-4BB2-94E8-221FB6E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二、    研究要解决的问题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A88561-78CB-40D8-8B91-A5A2FCF4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80BCD2-E418-4174-A871-2FB0882F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三、    成都迁移与当前结果分析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5A518F-35B1-4FFF-9AD3-CB785830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9575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248524-37FC-4E6A-9C02-EBF63268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338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四、    结果不合适的原因诊断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C4980F-2BC1-4EAB-97B9-78964C86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197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9219BA-4ACC-48E0-AA7C-1BE56E15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五、    后续改进方向与实施计划</a:t>
            </a:r>
          </a:p>
        </p:txBody>
      </p:sp>
    </p:spTree>
    <p:extLst>
      <p:ext uri="{BB962C8B-B14F-4D97-AF65-F5344CB8AC3E}">
        <p14:creationId xmlns:p14="http://schemas.microsoft.com/office/powerpoint/2010/main" val="5009866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b356f7aff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9d258598540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7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76b3c788546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B51331-C0A3-4617-8D75-3AD5AD36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96E5FD-548C-4329-8EE1-E49D2048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C71004-30B4-4784-BE38-8C70AE02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研究现状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98564F-0C4D-4E9F-9480-369D0CB5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国内外研究正在从经验统计反演转向“物理前向 + 数据驱动”的融合框架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0B7FC9-4261-4405-85D4-F2AC9A8B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DEBA3C-2667-4EE2-AEAA-C257479E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国外强调OEM/1DVAR、前向模型和不确定度闭环；国内近年更多使用多年站点资料训练机器学习模型，并开始关注偏差订正和资料同化。内容取向必须服务成都站本地化。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AB9885-2E99-4A9B-B8E0-C2BB7B3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4F5F3B-6DB0-4199-AB8F-0EEED80B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62E871-FA15-4E75-A1BC-B1826CC9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经典统计反演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F2C86D-3B3A-4A76-B14A-BF360893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线性回归、厂商神经网络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依赖历史样本和本地气候统计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FA1B36-EC18-47EF-98C9-C0016157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55B9BB-D541-405A-9753-9F3DEA1C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36CA63-CFFE-4162-B6A3-D7379F51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OEM / 1DVAR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C916AC-A5C8-4629-8F4A-EA4FE65B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Rodgers框架 + RTM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显式使用S_a / S_e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和敏感度矩阵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3A697D-78E5-46E3-A459-D901B050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A3FB4B-F743-45DC-B858-6CC7125B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A30F95-8AF4-46BF-810B-066CD785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机器学习反演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1A95BA-4CF8-434D-A95B-72650A2F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DL / RF / XGBoost / BRNN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要求多年亮温-探空/再分析配对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8BCB79-C8E9-4076-903D-DD597DCF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39AF25-4E72-4A1C-B88D-19B0230B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0A48AC-5B1B-44CA-A27A-BD64135C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融合趋势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B3DCC1-89E5-434A-ABBC-BE1135DD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NN提供先验，OEM做物理修正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高频通道需可信RTM校验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A06E06-C5DC-45AB-BFB1-D63CBA18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03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459355-648F-4AB1-A361-202098BA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03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2C4C00-A18A-4BC5-BD7C-F1DFF03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03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47EE78-846C-40B0-99C2-FAAE3214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国内现状：广州4年资料ML对比、武汉9年资料ANN偏差订正、北方GMR/RTM模拟和资料同化均说明：样本量、QC、站点偏差订正是工程落地关键。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52B699-49E5-4698-8D34-A39EC31C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国外现状：HATPRO长期业务评估、复杂地形检验、雨天低层温度扫描角增强、PAMTRA/MonoRTM/RTTOV-gb等前向模型形成物理约束基础。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52949F-F829-4EA7-83EA-35A3AADA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</a:defRPr>
            </a:pPr>
            <a:r>
              <a:rPr sz="788" b="0">
                <a:solidFill>
                  <a:srgbClr val="777777"/>
                </a:solidFill>
              </a:rPr>
              <a:t>来源：Rodgers 2000；Löhnert &amp; Maier 2012；Massaro et al. 2015；Remote Sens. 2023/2025；GMD 2020/2025；AMT 2024/2026。第14页列出链接。 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642777f494e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34c567308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b175500bd4d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6EBEA9-1E48-4678-992C-23936677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C34A98-B90E-4F90-B8CB-B9A540AD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5EEEF5-6DCB-4BAA-B779-A6FA3C24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研究内容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D07B2B-35A9-4013-8540-EEA5CD9C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本研究要解决的是：让成都站反演从“能跑”变成“可解释、可迁移、可物理约束”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B45098-FBF1-440D-8876-4FA5F443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7EC506-D6AC-4AAE-9F51-CD4C2D29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目标不是简单追求一次测试RMSE最低，而是建立能被探空验证、能进入OEM、能解释通道贡献的反演链路。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12D7DF-6FE1-4AF4-87F9-2120548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3000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391C12-B728-4E69-8339-909EA1FA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E0A960-3B55-42DE-BCB2-61A16B9F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问题1：站点迁移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A1CD3D-ED68-46AC-B51B-49EFA6B6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26574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旧站点/天津模型能否直接用到成都？如果不行，失败来自通道、气候还是标签？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53A18B-9D98-4E1F-BFB2-79F0D5B5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3000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9535BE-4C29-4477-B959-871D370F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9063AD-DC94-4877-9E0E-2FD5EF87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526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问题2：BRNN与OEM如何结合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78A90C-8D93-46AA-B070-D102F710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95575"/>
            <a:ext cx="26574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BRNN适合作为先验/first guess，还是直接输出最终廓线？OEM需要哪些误差协方差？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F1A365-3BCF-428D-9899-1DE868C5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3000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A472CB-69DA-48EF-9557-DEFF836D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2CC077-61F9-48C3-B5C1-CCD15516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526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A6A6"/>
                </a:solidFill>
              </a:defRPr>
            </a:pPr>
            <a:r>
              <a:rPr sz="1350" b="1">
                <a:solidFill>
                  <a:srgbClr val="A6A6A6"/>
                </a:solidFill>
              </a:rPr>
              <a:t>问题3：21通道如何利用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FFEBF2-62E4-4659-8BF9-B597F3C8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95575"/>
            <a:ext cx="26574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前14通道可接MonoRTM，高频89/183/229 GHz是否能稳定提升中高层湿度？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F4892B-9B00-4C8A-A038-AC8BA96A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当前策略：先用成都本地数据训练稳定统计先验，再以前14通道接入MonoRTM/OEM；高频通道作为待验证增量信息，不提前放入物理反演闭环。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6EFAD7-DDEE-42A1-B208-63780EDF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</a:defRPr>
            </a:pPr>
            <a:r>
              <a:rPr sz="788" b="0">
                <a:solidFill>
                  <a:srgbClr val="777777"/>
                </a:solidFill>
              </a:rPr>
              <a:t>项目依据：config.py、reports/进度记录/OEM阶段进度.md、成都ERA5精确配对训练与物理48层优化报告。 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75a3689974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3a5ae9a6d40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7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b7d79dc25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5A7B43-9C98-4FDF-8FFA-8DB7E813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1E57D5-148E-4473-ACD6-BCA9160B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E7E932-A17D-47A9-B79D-4EAC82E3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方法路线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618C49-FC5A-4439-A4ED-C87FE8F9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推荐路线是“成都本地BRNN/Ridge先验 + 前14通道OEM修正 + 高频通道逐步验证”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5752C4-8AAC-47D4-9BF1-4C2B75DA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F4D16F-F776-4D79-9F18-61330EEC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BRNN不是直接替代OEM，而是提供更好的x_a；OEM再用前向模型和观测亮温残差进行物理校正。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9B6228-C1AB-4D53-A06E-B90A441D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44A4E1-C64D-459E-A68B-36A6C748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实测亮温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21通道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4487E3-1120-42FA-9235-E52FB394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FDD762-13BF-48A2-946B-71C1FE6D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ERA5/探空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配对标签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1D5AB5-8B43-44B5-B1D5-EA1919A9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15987B-806A-4A17-B4C0-AC4C3266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Ridge/BRNN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成都先验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1DFDEE-0122-4FC8-9F63-6D4DAB30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2E1657-9977-4AEE-91E0-6A63B4CE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MonoRTM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前14通道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A9119E-519E-44AA-885F-8BD2CC00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7DF431-7310-4BEB-BD10-03CC8AE1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00000"/>
                </a:solidFill>
              </a:defRPr>
            </a:pPr>
            <a:r>
              <a:rPr sz="1275" b="1">
                <a:solidFill>
                  <a:srgbClr val="C00000"/>
                </a:solidFill>
              </a:rPr>
              <a:t>OEM</a:t>
            </a:r>
          </a:p>
          <a:p xmlns:a="http://schemas.openxmlformats.org/drawingml/2006/main">
            <a:pPr algn="ctr">
              <a:defRPr sz="1275" b="1">
                <a:solidFill>
                  <a:srgbClr val="C00000"/>
                </a:solidFill>
              </a:defRPr>
            </a:pPr>
            <a:r>
              <a:rPr sz="1275" b="1">
                <a:solidFill>
                  <a:srgbClr val="C00000"/>
                </a:solidFill>
              </a:rPr>
              <a:t>物理修正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669B00-BB4B-47A4-96E1-D9586AA0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05125"/>
            <a:ext cx="5048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9E7D07-250D-4C2A-99B6-B9940E70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05125"/>
            <a:ext cx="5048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CB02D6-F7C0-4F11-8DC2-812746F4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695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C70BA8-A8E7-4AF9-9CBB-1471351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05125"/>
            <a:ext cx="695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92AA31-F7C6-485A-89DC-4EBB1B42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67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4E79"/>
                </a:solidFill>
              </a:defRPr>
            </a:pPr>
            <a:r>
              <a:rPr sz="1125" b="0">
                <a:solidFill>
                  <a:srgbClr val="1F4E79"/>
                </a:solidFill>
              </a:rPr>
              <a:t>S_a：由成都ERA5/探空误差统计估计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937D55-99A9-4CBD-A363-5B8AB37D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67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00000"/>
                </a:solidFill>
              </a:defRPr>
            </a:pPr>
            <a:r>
              <a:rPr sz="1125" b="0">
                <a:solidFill>
                  <a:srgbClr val="C00000"/>
                </a:solidFill>
              </a:rPr>
              <a:t>S_e / OMB：由观测-模拟亮温偏差估计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927E74-2D68-472B-81E5-FE6ADAB7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C96CCC-569D-45AF-A82E-5FF8B96C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C1478D-DB84-4824-8339-C4BC0223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当前已完成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46FF29-3E9C-4B3C-929A-277F0D0A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成都21通道配置、ERA5精确配对、本地训练、物理48层处理、独立探空评估。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4307AB-144B-4983-85E6-71998E8E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3F6B26-430A-4400-9F76-59E49A09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11DB56-9D37-46DD-914E-19541DB6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下一步关键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068071-8296-4535-A7FF-AB89D8D1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补surface变量与QC，先跑前14通道真实观测OEM，再验证89/183/229 GHz。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1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2bc062aed47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7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a7d5a9a2b46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d9acff62f40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E07AF4-CD2D-4039-8D6E-66AB096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7B0CB3-0CFF-4048-AEC5-7C882873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62FD54-3471-401A-9286-73C83CE5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数据资产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6AF48A-A839-44C5-8479-57286DF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成都站数据链路已经打通，但样本规模仍不足以支撑强泛化神经网络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2B5003-0FFA-4886-BD9F-3984E6CD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F33CB3-0AD7-4ECD-BD32-07A7EE65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当前训练样本只有69条，能做阶段验证，但不能作为最终部署精度证明。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D43615-7290-4139-A8EC-2C8C5FEA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0073A5-FC26-49FB-B63C-6C4D1061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实测亮温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4D6BF7-B6F2-4402-BD90-735B0A6D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79"/>
                </a:solidFill>
              </a:defRPr>
            </a:pPr>
            <a:r>
              <a:rPr sz="2025" b="1">
                <a:solidFill>
                  <a:srgbClr val="1F4E79"/>
                </a:solidFill>
              </a:rPr>
              <a:t>163条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96E65D-D26F-4E2E-8A25-BA824342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2026-05-13至05-30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94408B-C448-4F94-8406-0150857F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75D004-D248-4FAC-9B9F-97B3CA90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ERA5同小时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1EF72F-8D2D-4ED8-9EF5-E40CC00A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79"/>
                </a:solidFill>
              </a:defRPr>
            </a:pPr>
            <a:r>
              <a:rPr sz="2025" b="1">
                <a:solidFill>
                  <a:srgbClr val="1F4E79"/>
                </a:solidFill>
              </a:rPr>
              <a:t>139条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EF7DF0-D91B-4B20-A509-86E8588F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严格UTC小时匹配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14BCEE-7D4F-4CDC-8400-213DC86B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6F3037-0E4A-49A8-A245-69169CA6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训练样本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2C4C2B-3CFD-4800-9F2A-DF4F55B9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00000"/>
                </a:solidFill>
              </a:defRPr>
            </a:pPr>
            <a:r>
              <a:rPr sz="2025" b="1">
                <a:solidFill>
                  <a:srgbClr val="C00000"/>
                </a:solidFill>
              </a:rPr>
              <a:t>69条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357AE2-C279-48FA-9F98-D21EE7B9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11天，日期划分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603447-54F8-4A67-9BCF-0AFE2689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9316B0-D264-46F3-8420-52C1A015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独立探空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8978E7-6CA5-4933-9272-0B7ABAD2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77C02"/>
                </a:solidFill>
              </a:defRPr>
            </a:pPr>
            <a:r>
              <a:rPr sz="2025" b="1">
                <a:solidFill>
                  <a:srgbClr val="C77C02"/>
                </a:solidFill>
              </a:rPr>
              <a:t>6份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71A60C-2BC7-452D-AE56-9565DC61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亮温差1-2小时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50A04E-CDF6-47B5-A925-BD637021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8F9A4C-4001-4322-AACD-0B3F226F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通道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4F2213-C69A-4344-97AB-CE234C20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7D32"/>
                </a:solidFill>
              </a:defRPr>
            </a:pPr>
            <a:r>
              <a:rPr sz="2025" b="1">
                <a:solidFill>
                  <a:srgbClr val="2E7D32"/>
                </a:solidFill>
              </a:rPr>
              <a:t>21个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68F5F9-4859-4D64-A6D8-BDBC0BD5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前14个兼容HATPRO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3133E2-C8D9-4810-A91E-E36F19F1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通道分组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4C29BA-9263-4FEC-B9E4-078B8A50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177A8E-F680-4486-B513-9B121777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K-band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59232B-CE49-4871-9A70-445FAC56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22.24-31.40 GHz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BD9D16-A682-4924-B331-DBCF1FFF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水汽 / 液态水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DFE325-BBCB-4109-B40C-36102B18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2910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0CA43C-59A6-4C48-B5D6-2C6B3F0C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333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00000"/>
                </a:solidFill>
              </a:defRPr>
            </a:pPr>
            <a:r>
              <a:rPr sz="1200" b="1">
                <a:solidFill>
                  <a:srgbClr val="C00000"/>
                </a:solidFill>
              </a:rPr>
              <a:t>V-band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29ABA8-407E-47FF-9610-75C39B48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51.26-58.00 GHz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C14B1A-411E-4D8B-9833-12C4644A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76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温度廓线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E9359C-53E2-4863-9990-65A6D88D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29100"/>
            <a:ext cx="1285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087B110-3B78-4DAE-8AFB-C2D8029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338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A6A6"/>
                </a:solidFill>
              </a:defRPr>
            </a:pPr>
            <a:r>
              <a:rPr sz="1200" b="1">
                <a:solidFill>
                  <a:srgbClr val="A6A6A6"/>
                </a:solidFill>
              </a:rPr>
              <a:t>89 GHz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BFF18F-3A87-4264-BBAE-C2B1B90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2915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窗口通道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35477B4-182B-43E5-A14E-3460383A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7680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云液水 / 水汽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01D092-6B53-42E7-9B6C-4910C386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2910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1F0825-47C3-4D3A-8E83-B09C24B0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33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</a:defRPr>
            </a:pPr>
            <a:r>
              <a:rPr sz="1200" b="1">
                <a:solidFill>
                  <a:srgbClr val="2E7D32"/>
                </a:solidFill>
              </a:rPr>
              <a:t>183 GHz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91A9F4-4074-4CF1-80C6-85FCE5DD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291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184.31-190.31 GHz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EFE105-D671-49FB-8125-A49A0067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768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中高层湿度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420A580-AA19-4E47-AD65-A2AA41D4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29100"/>
            <a:ext cx="1285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7C0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F14DE6D-4B60-4099-BB32-D4D8BFF7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338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7C02"/>
                </a:solidFill>
              </a:defRPr>
            </a:pPr>
            <a:r>
              <a:rPr sz="1200" b="1">
                <a:solidFill>
                  <a:srgbClr val="C77C02"/>
                </a:solidFill>
              </a:rPr>
              <a:t>229 GHz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7FF62DC-1F5C-43E1-A132-55294682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62915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高频窗口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1CFE9F9-5A2B-4A58-B667-82FE3260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7680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水汽 / 云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edadc1b0e49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ca0e076bc4a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9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17fee5d404e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1D22F2-9E4F-49E0-B3B0-756B6C4E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22B10E-814A-4728-B577-98882A8D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0ED451-1001-4826-BB3A-AC44A153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方法尝试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09222-CE6D-4A13-A827-1EDBE278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OEM链路已经验证可行，但BRNN+OEM必须先解决通道自洽和误差协方差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2C2F7A-4D51-4B8A-A9D1-E6710538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C0D451-5B4E-4190-A756-8D758F08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非自洽前向模型会让OEM把温度拉坏，因此不能直接把旧BRNN输出和任意前向模型拼接。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409925-565A-41D3-A572-C57E9F22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44226B-D227-4403-BE2A-FFC7290C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实验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37E435-276E-45A4-A9D1-EB3ABE2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98754F-FA03-4299-AC51-F66A891E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T变化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F0DEAF-D076-4B37-86CA-88D8960D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11D38C-D1A8-4D7E-A3BA-DBD09D3E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336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RH变化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067BEA-7F15-4232-B9C9-973CBBBB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FC80B1-C84A-4690-A543-5091E44B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336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BT residual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B1462B-8CA9-49A8-9A9E-80E5B978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C5171A-05B4-4235-8443-918A12E3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结论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A9A83C-4F64-4838-812B-33C6E15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53AABB-FD49-4CC6-ADAD-B64B300F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Self-consistent simple RTM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B5B566-185C-4FAB-BEA0-187F2211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746F21-619E-4BA1-9636-9C3969F4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2.38→2.06K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A0B825-0E8A-4664-980A-59AA298C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EBEEB7-0871-4F89-B4D6-975F05FE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336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7.59→6.73%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8D6264-E237-452A-9846-3D4B7DD0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9C219F-1407-49BD-995C-8E3E696C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336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1.50→0.54K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7F535D-EB29-4A6B-8FE2-317EACEB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A4965C-0BB6-4509-B2DB-9A0D34FE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算法闭环有效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F71FC6-3F90-485B-A31D-3D3A023D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EAB8E2-EC44-4290-9E1B-06DDC1D9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Self-consistent MonoRTM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1492C8-F399-4F18-A4CE-7384754C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20D6D9E-1120-45AC-9C3B-C335C67F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2.41→2.00K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5DC075F-9CE1-4794-9502-1995BDEF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7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8DCA07-D549-4A96-9AB6-ECD78CD4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33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8.97→7.84%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10A6C7-E89A-43FE-8F15-AAAC2D1D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C4846A-28B6-44D8-A3A3-DD584BD6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6.41→0.75K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1F1C11-3464-4709-A995-CCF3FA4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6272194-0DEF-4F5B-ABFB-2291CBB7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物理链路有效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FFA576-FCD1-41FE-A442-9BCDD4C0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B8C911-790C-4EBC-B2C7-F3C62287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Non-self-consistent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55F092-5AD7-4BD7-A5A0-54327CD8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49E76B-1860-494F-905B-D288CFAA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2.38→27.00K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EB161C-4667-4CB4-B79B-D69E0250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29B08E8-20C4-4E94-80F9-8285F312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略改善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1393293-1463-42D6-9227-D97EDF3B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D2697D-00CE-401B-A371-8E11A2E3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22.92→20.15K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31DBD1F-373C-4639-9C04-E8764E11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452C28-8951-4A42-BBA7-6E483953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前向不匹配会崩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AA2733-5AED-42BF-939C-02F344B9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191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E6BA54-91FB-45F9-B6F2-02CB3094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AC214BA-965B-4311-A65E-BD26CA7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BRNN在融合框架中的角色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9E77595-3A44-4C1A-B7C2-248B7C0B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848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不建议直接作为最终真值输出；更适合给OEM提供成都本地x_a，并由S_a描述先验可信度。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FC69816-B694-45C8-A3D4-5E65567A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4191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6732F06-C0EC-4D3D-950B-D396C86B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AE8D657-6550-4B2D-96CC-B6204FCD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OEM在融合框架中的角色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8E42C7B-7E7A-4340-BB32-5BC40E7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62450"/>
            <a:ext cx="3848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不是万能修正器；必须先估计通道偏差、S_e和Jacobian，否则会把亮温残差解释成错误廓线。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45b8b5cae4d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abbb68a97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ceb6498a04d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0DD22A-6486-43AD-A307-47DB8CF3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0126F4-57AF-47DA-BD1B-0A1ED000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3E7837-E3E0-496C-BBB1-A241479C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结果分析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943D47-5D63-4C52-A8B9-EDC63F4A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旧站点反演算法直接迁移到成都失败，本地重训后才形成可用基线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12D482-94A4-4BB6-BABB-6321A4BC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B1E68E-6ACB-48F3-9D71-74A8D5E7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这说明模型主要学到了站点-仪器-标签体系的联合分布，而不是可无条件跨站使用的通用反演函数。</a:t>
            </a:r>
          </a:p>
        </p:txBody>
      </p:sp>
      <p:graphicFrame>
        <p:nvGraphicFramePr>
          <p:cNvPr id="93" name="Chart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a8d15eadd14942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73D5EF-19C9-4F01-835E-6F2CBE6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007747-8496-4518-8C81-EC03C1BA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050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阶段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0F8D58-BEF4-4596-8A2D-ACC42E94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D51229-6895-4933-932A-F062AAF6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 RMSE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CE5741-F773-4730-9195-8C7AB299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59470D-FEC9-4ADC-AD8A-8B408C9A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050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RMSE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92C24C-DF28-4C55-84C4-87031FFA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1CC4EE-DEC4-4C85-8D1F-1FF770E5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0505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判断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772BF9-C398-4A8E-8E6F-AFF5F1C7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860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86F58B-9C09-49CA-BD59-206B6645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432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旧checkpoint迁移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7AF78C-CCD9-4282-B0D9-91990F3A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4B4E12-351A-4855-9E8A-E06AEC4F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432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29.376K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68D97D-C0AD-43F0-80AF-627DB637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860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7499A6-F0AB-4CA8-AE5D-AB48A7FE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432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42.496%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FA6805-A77D-4B3D-8DC1-19D54772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60B80D-0D20-4245-834B-AFB2F172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4320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不可用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A3B5BA-82B9-4C47-9D4A-0216BF03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90311C-154E-45A3-8790-C3CEBCD6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81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成都ERA5混合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A666D4-CDB1-466A-BB2C-68D50A5F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242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EC45DD-9036-4D57-B781-236B9931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813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1.479K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D5CA4D-495C-4D1C-B758-E6BF4BFC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E18616-C1FB-45A8-8CF3-A8F8D069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813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20.966%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CB9908-DC72-4502-90D2-AB307BDF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BD2DB4-B8F3-43D6-AB9B-7C485CF7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阶段基线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ADA581-32B3-4478-B145-E3839AC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D9A4F8-E4C2-4137-B96B-D6669442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物理48层探空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028F5D-4C01-43CE-8E21-12BBB574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20BFDA-09C0-407C-A62A-ADC1B336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195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1.532K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F5D1A3-6D03-4B66-829B-D15BCA74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623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806F9B-2D00-46DF-BB7A-7B3FD9E4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195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23.754%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F3D990-A46D-4D53-9FA5-92DC7D42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434456-7FC0-40C6-8EA5-0F5F34C6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1950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OEM主网格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8151532-78D6-4AC3-A2D7-1535D4A6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核心解释：跨站泛化失败不是单一模型问题，而是通道、亮温定标、地面海拔、气候水汽结构、垂直层定义和训练标签共同变化。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70fe4401e4d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81cb0307245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1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4c7437e534f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D87B2F-F027-41F5-90D1-197F2431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8FD29-FC87-4313-A2A7-B6DFCF03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C05E63-7FB0-47F0-8666-2A76B375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原因诊断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83CF0E-5DAF-43B7-9026-E18FF46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当前结果“不合适”的第一原因是样本不足，第二原因是BRNN跨站泛化失效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644A6D-4FEC-4370-AB7D-820BF974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2D454B-4F36-4246-99B8-F7FDB704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69条训练样本可以验证流程，但不足以训练稳定的深层非线性映射。</a:t>
            </a:r>
          </a:p>
        </p:txBody>
      </p:sp>
      <p:graphicFrame>
        <p:nvGraphicFramePr>
          <p:cNvPr id="72" name="Chart"/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41910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8f92b206824297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FDFDD6-621A-4893-9EDA-4B02C0FF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7CD417-0F8E-4F7F-900A-92075653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B3AD6A-E3AB-4739-8346-FED515AA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098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训练样本要求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881D48-508A-4F98-833E-B1F6B6E8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527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BRNN需要覆盖季节、天气型、湿度层结、云/雨和仪器状态；当前16天资料无法覆盖这些变化。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197058-CF3F-421A-B528-73D16797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04DD90-244A-4202-BF44-421211C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F0113E-DEC4-4870-8922-C19723E6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480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泛化失败表现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394914-C6F9-44CD-82B6-8F8FAD42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9095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旧模型迁移成都T RMSE达到29.376K，说明输入分布已经离开原训练域。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982D4C-A9B2-48DB-A612-BD2DABBD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720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343CDF-5CF6-4CA1-97A8-063F26F8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72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2196A1-B5C1-497E-9023-8495926E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6863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A6A6"/>
                </a:solidFill>
              </a:defRPr>
            </a:pPr>
            <a:r>
              <a:rPr sz="1350" b="1">
                <a:solidFill>
                  <a:srgbClr val="A6A6A6"/>
                </a:solidFill>
              </a:rPr>
              <a:t>标签不确定性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372E9C-3B31-4368-B55D-E6F2FABE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292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ERA5不是绝对真值；探空与亮温差1-2小时，对湿度尤其敏感。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57fed427545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b5e3b68ce4a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2291a19d8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26981A-3798-4C98-BB5F-BF388EBA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BA3D11-9BAE-4488-A960-8204DE93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EC9E08-1B26-461B-B558-10E01FB9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通道利用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915F8-D511-4431-AE70-95FA7609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21通道没有完全转化为有效信息，高频通道目前还不能直接证明稳定增益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5BD516-1E2D-4F9C-80C6-DFFE0664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D688D1-3F73-4025-A6A6-523D11B8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高频通道有物理潜力，但样本、QC和前向模型没有到位时，网络很容易学不到可靠贡献。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4953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68c033fa064e1f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01B4F1-5113-4180-B5F2-2E11E723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判断：前14通道可先进入MonoRTM/OEM；89/183/229 GHz需要独立的前向模拟、OMB偏差和误差协方差验证。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dffeedd094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2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74ab1799b4d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cb9c7de4e4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0709B6-F1C5-40AD-AAC3-F5A682B3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FB37E1-AAB6-4D29-9E3D-3C2F1829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324A4F-B79D-4A0C-BDEE-E3AB19E7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数据处理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ED6CBB-C669-43EC-8C27-2B23CFDC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物理48层优化提升了处理一致性，也让后续OEM状态向量更合理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DA62F7-B261-45F7-B865-BC0B9CED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D8F6D6-CC53-42AF-A759-3C7C406A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真正的层平均替代简单高度点插值，同时删除地下ERA5气压层并用T/log(q)/log(P)处理湿度。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F14FF9-7BEE-4AAC-BB26-78ECBEFE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72E660-57C6-4276-8C5D-DEFB577B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526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模型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391855-9431-4C21-B10C-395EF735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20C600-1D39-4642-B1EE-F2F1EFD7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 RMSE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3B395F-9289-4BBF-AA47-09A97EB0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C50724-597C-47A6-8BE6-735AAC71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526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RMSE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4D3E5B-A552-49F2-BBF9-D0A769F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3EADA7-CC7D-4E52-A302-6D181CF0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526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Bias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E3DBAE-4EBD-4555-96AB-4BE74F45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955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18C5C9-F7E4-452D-A99F-F7953535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527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原93层映射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51E4C4-14E4-4CCB-94BE-E1785975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955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35FB6D-4263-4135-8218-A432A809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1.730K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7BEF70-6313-4559-8F3C-12B36390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955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3499B0-B36D-4C2B-B51A-D138AF03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527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23.685%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8CF1A6-C45A-41BE-BDD6-77E815C4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95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CBF26F-26D0-44BB-9006-8CA373F9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527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-8.075%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E98658-6B4A-4D2D-91D3-13D1271F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865B75-9C13-4454-95A1-A2706CC6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旧48点映射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83689E-9F14-4249-B61E-395D1B2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1F0422-5E83-40DD-BD89-88E68419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1.561K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A6A16D-16DE-4E6A-8137-C2871209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956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689D32-C16E-4A7F-AD64-DF7C1998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527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25.260%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D9C03A-5991-496A-A635-8D3C4EF9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95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2C7853-0147-4F7C-A008-117BE3D6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527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-9.867%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989AC4-E56B-4E21-A9BE-B086AD49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D5F60F-29A5-4404-B26A-7FC1BA1D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28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优化物理48层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D7A943-B323-45F6-95F3-B925D2B9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956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E71239-AC37-497D-9EEC-EA59388D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1.532K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1ACE57F-665D-418D-B7D6-C99DAE74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956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9930B51-B43F-4EFD-BDEB-FB567B5D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528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23.754%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567D283-7379-4BD1-86EF-AEDD4290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95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F42F66-7545-4912-AA11-8AF4B8D4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-7.502%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DCEBA4-C6CA-4A29-A468-B5A34731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8F7C277-3BB6-4093-852F-82BCE9A9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B3A8929-028F-488B-9576-508D4486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为什么仍采用物理48层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82A459D-6B6B-40AA-971D-B6A14648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432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RH RMSE与原93层差异无统计意义，但T更好、RH Bias更小、层定义与OEM兼容，因此作为下一阶段主基线。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b8da9943e4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67a0204d346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bf58d37cc4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EB47D4-D14F-4D22-BAF5-835928CC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1A059B-88D0-4473-8A71-19FACD0C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2581BB-E59B-48A5-A6BB-3376A3D3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误差瓶颈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89938A-6674-4197-BEBD-B55D3473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主要短板集中在5-8 km湿度：不是层数问题，而是中高层水汽信息不足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E04462-4BF9-4B28-88CA-7DFF701A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13BED8-96B1-41A8-A92C-A9FFAD15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独立温江探空只有6份，但高度分布已经暴露出明确瓶颈。 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4429125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e0bdf0c6c240e8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FC2AFE-045A-46BD-A459-E276F621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解释：5-8 km湿度受183 GHz信息、云雨QC、ERA5标签误差和探空时间差共同影响；仅改插值方法不能根治。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c421ebb354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3f0037dd34e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09d0dee3c47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36A4FB-0681-4F1D-82E5-333849C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22DB03-FC97-44C1-A02B-54EBD671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F340F8-655A-4061-A512-E6CF5F72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改进方向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D662F5-8D42-4E03-A932-8943D673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后续改进要按“数据可靠性 → 先验稳定性 → OEM物理闭环 → 高频通道增益”推进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9C3845-C9F4-4753-B175-CFD86248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F064D1-2F72-4837-8502-36092D3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先补地基，再上复杂模型；否则模型结构越复杂，误差解释越困难。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4792FD-2D76-48F6-BE30-B07FFBC2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78D3B6-CB38-4D54-AB23-46D17256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P0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40B734-DC66-4E49-A2CD-5D8A37D1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扩大样本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97B751-3F6D-45A5-915D-0FF1E6F1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3-6个月连续亮温+ERA5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覆盖季节和天气型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69852D-6D57-4FEA-B937-81FD3E75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684A7B-986E-464F-B056-EF8BB046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3E426A-24FE-4291-95BF-EEA87215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P0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EE158A-516C-4B9D-8109-7B4B245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时间/QC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0271F1-4028-43FF-B493-081BBA7B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统一UTC/北京时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探空匹配压到±30min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7ABD85-CAAB-4C1D-BCA0-381DEAE4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29C5A8-3660-43E4-83F0-33E5C7F0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330907-4CC8-4EAF-8FA4-3B48F949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P1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B1971D-A7ED-4FB9-A0A8-4CA18AD8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补地面变量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8FD76F-D2F0-4735-B8FA-CF65E063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surface pressure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2m T/dewpoint或仪器T/RH/P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717909-06D0-4574-A6A0-258FD91D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34B9D5-1AF4-4617-97F5-F37D99B7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E31A6C-3EAF-4B7B-B845-8EC6C323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P1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F80B33-E0EC-4C4E-B90D-7D015848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前14通道OEM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1C4CC9-FDEF-4FF2-8D01-3A58A4AA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估计S_a/S_e/OMB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MonoRTM真实观测闭环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71AB51-22FA-40D8-8185-937F7482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76A122-835C-47E4-84B3-2A474E7D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4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A30FD0-AE40-4F52-9566-A7B5CE0D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32"/>
                </a:solidFill>
              </a:defRPr>
            </a:pPr>
            <a:r>
              <a:rPr sz="1500" b="1">
                <a:solidFill>
                  <a:srgbClr val="2E7D32"/>
                </a:solidFill>
              </a:rPr>
              <a:t>P2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68F718-F32B-4AA3-AE83-2792A211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高频验证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8CBFDE-7814-4FCE-8524-72DB7685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89/183/229 GHz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前向模型与消融检验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240A0A-48C5-4349-AE01-E2E117B4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305CD3-2B17-451F-A5C0-A59B66A5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061F68-0EC0-4410-83E4-898F8E63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短期目标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7AFA36-54F5-42B5-B46C-A79F6839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以前14通道完成成都真实观测OEM POC，证明BRNN/Ridge先验能被物理前向稳定修正。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49BEEB-0AA7-422B-8E49-68DEBF36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08FA7E-C257-41CE-912D-DE88D56D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2CF0124-F90E-40E4-866E-F3784026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论文目标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02DBCB-00E1-4672-BEF3-49CD0AC1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292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建立可解释的NN+OEM框架：给出通道贡献、误差来源、S_a/S_e估计和独立探空验证。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8fabd316749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53a9b20f44c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3dafc382945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688799-C43F-4D91-87DD-4DDDE1DD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CA76BB-35B6-42E6-AE17-349380F2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6A7641-CE8A-411E-AC72-25A5A401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5EC6D2-902A-4BC7-A17D-54D1F0C7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训练曲线和预测散点：小样本下能学习总体关系，但RH散点明显更分散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756FF8-BC5A-4DC8-B778-9A0F4459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4CE82A-4589-4672-8830-2C9BD89A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改为大图展示，优先保证坐标轴、曲线和散点细节能在投影中看清。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3A78FE-DB9D-4AB1-9A30-2A52BDDF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6365C"/>
                </a:solidFill>
              </a:defRPr>
            </a:pPr>
            <a:r>
              <a:rPr sz="1388" b="1">
                <a:solidFill>
                  <a:srgbClr val="16365C"/>
                </a:solidFill>
              </a:rPr>
              <a:t>左图用于检查训练/验证误差是否震荡；右图显示T预测较集中、RH离散更强，说明湿度反演受非线性、标签噪声和样本覆盖影响更大。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9146B4-D5DC-42CD-9A48-B57E51A6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</a:defRPr>
            </a:pPr>
            <a:r>
              <a:rPr sz="788" b="0">
                <a:solidFill>
                  <a:srgbClr val="777777"/>
                </a:solidFill>
              </a:rPr>
              <a:t>图片来源：results/chengdu_era5_figures/01_brnn_training_curves.png、03_prediction_scatter.png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4f432bfc4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ec33d5b2f42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b5d37e46f48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98D1C0-E389-453E-8103-273F3193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03215D-020C-44FC-8210-317A6931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5FD30A-785C-4CEA-A619-ABB542F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探空验证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46ABF4-439D-4DA4-B405-ED3FC005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独立探空验证：T已经有可用基础，RH中高层干偏仍是主问题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4BE071-2696-4A2A-844F-8EBA9613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48CF25-D5AB-4F84-BCDF-B89FC7D9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用两张大图直接展示6份温江探空上的模型对比和典型剖面。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4D851F-46C9-442D-B777-4091D4CE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6365C"/>
                </a:solidFill>
              </a:defRPr>
            </a:pPr>
            <a:r>
              <a:rPr sz="1388" b="1">
                <a:solidFill>
                  <a:srgbClr val="16365C"/>
                </a:solidFill>
              </a:rPr>
              <a:t>物理48层方案T Bias约+0.250 K，RH Bias约-7.5%；剖面图显示中高层湿度仍偏干，后续应优先补样本、QC和183GHz高频通道前向验证。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CD2FEA-9BA4-4C64-AB3D-C9708931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</a:defRPr>
            </a:pPr>
            <a:r>
              <a:rPr sz="788" b="0">
                <a:solidFill>
                  <a:srgbClr val="777777"/>
                </a:solidFill>
              </a:rPr>
              <a:t>图片来源：results/chengdu_era5_layer48_optimized_evaluation/02_independent_sounding_comparison.png、04_sounding_profiles.png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0c7578d034d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9fc9e01214b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fd88e6f7c4d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97708F-B166-4E7D-BD53-AA1F4E66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22E0F9-FC4B-4FF8-88FE-3D25391F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B90784-627B-4D18-88E1-67D52E2C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ED67E1-1339-442E-BD08-F20AF132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阶段结论：成都站不能直接迁移旧模型，但已具备构建本地NN+OEM反演框架的条件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F0FBAF-1E3B-4159-8646-3FAD507D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D2C94D-1A1F-4518-BBD2-89F1FAF7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下一步的关键不是继续堆模型，而是补样本、补QC、补前向模型闭环。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610769-F3EB-4C9B-A6EA-49B21A84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000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DC434-A5FE-4D47-895D-EFE31DB2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B81966-587F-459F-8EBD-70FC689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已经完成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B96CFB-89C5-49C2-8DD7-2AF4433D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657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21通道配置、ERA5精确配对、本地训练、物理48层、独立探空评估。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D6D4A1-8CBF-47FA-AC2F-FF8E60F4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000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2E2C9A-2F96-4E9F-86A4-96E2AF7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6A2014-0C56-4CD9-ABD1-A5D24CFD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主要原因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B68164-757D-47B0-94A2-E022DA47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33650"/>
            <a:ext cx="2657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小样本、跨站泛化、通道利用不足、湿度标签不确定和高频前向模型缺口。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B5BF37-D87B-4F12-8BA4-5D9C4487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3000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4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DD8277-2E10-4C85-A05A-29BF0457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DCC509-48F2-4C61-9DCD-9B454A0A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</a:defRPr>
            </a:pPr>
            <a:r>
              <a:rPr sz="1350" b="1">
                <a:solidFill>
                  <a:srgbClr val="2E7D32"/>
                </a:solidFill>
              </a:rPr>
              <a:t>解决路径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A9CC5A-D3D4-4F8B-AE92-BDA905C7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33650"/>
            <a:ext cx="2657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扩大数据后以成都先验接前14通道OEM，再验证高频通道信息量。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670F01-5F34-4F46-A2EA-D9853D68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建议汇报口径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1BD5DF-2FE4-48DD-ACAE-24E5FB75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1F1F"/>
                </a:solidFill>
              </a:defRPr>
            </a:pPr>
            <a:r>
              <a:rPr sz="1425" b="1">
                <a:solidFill>
                  <a:srgbClr val="1F1F1F"/>
                </a:solidFill>
              </a:rPr>
              <a:t>当前结果的价值在于找到了不宜直接迁移的证据，并把下一阶段可实现的技术路线收敛到：成都本地统计先验 + 物理48层 + 前14通道OEM + 高频通道验证。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22D841-D509-422C-AE9B-E792C330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参考来源：Rodgers 2000 DOI 10.1142/9789812813718；GMD PAMTRA 2020 DOI 10.5194/gmd-13-4229-2020；GMD ARMS-gb 2025；AMT HATPRO/复杂地形/雨天低层温度/2026浮标MWR；Remote Sensing 2023广州ML、2025武汉ANN订正；项目Git提交4dc2262。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2026-07-23T08:34:57.9020000Z</dcterms:created>
  <dcterms:modified xsi:type="dcterms:W3CDTF">2026-07-23T08:34:57.9020000Z</dcterms:modified>
</coreProperties>
</file>