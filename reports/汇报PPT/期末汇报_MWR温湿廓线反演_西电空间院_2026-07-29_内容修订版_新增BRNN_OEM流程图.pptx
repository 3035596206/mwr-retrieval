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cdfbc21ee460e" /><Relationship Type="http://schemas.openxmlformats.org/officeDocument/2006/relationships/extended-properties" Target="/docProps/app.xml" Id="Rf537b9218ce64e74" /><Relationship Type="http://schemas.openxmlformats.org/officeDocument/2006/relationships/officeDocument" Target="/ppt/presentation.xml" Id="R0caa9b258e3e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2c93b2592444a1"/>
  </p:sldMasterIdLst>
  <p:notesMasterIdLst>
    <p:notesMasterId xmlns:r="http://schemas.openxmlformats.org/officeDocument/2006/relationships" r:id="Rac529fa249834fc1"/>
  </p:notesMasterIdLst>
  <p:sldIdLst>
    <p:sldId xmlns:r="http://schemas.openxmlformats.org/officeDocument/2006/relationships" id="256" r:id="Rd3b7a10400334c05"/>
    <p:sldId xmlns:r="http://schemas.openxmlformats.org/officeDocument/2006/relationships" id="257" r:id="Rd2f2ad2768434334"/>
    <p:sldId xmlns:r="http://schemas.openxmlformats.org/officeDocument/2006/relationships" id="258" r:id="R3dc4217a87174715"/>
    <p:sldId xmlns:r="http://schemas.openxmlformats.org/officeDocument/2006/relationships" id="259" r:id="Rb39766d8f02649fc"/>
    <p:sldId xmlns:r="http://schemas.openxmlformats.org/officeDocument/2006/relationships" id="260" r:id="Rba4ce53231424a28"/>
    <p:sldId xmlns:r="http://schemas.openxmlformats.org/officeDocument/2006/relationships" id="261" r:id="R807c84599d8d46e0"/>
    <p:sldId xmlns:r="http://schemas.openxmlformats.org/officeDocument/2006/relationships" id="262" r:id="R1e4fe8b462b748da"/>
    <p:sldId xmlns:r="http://schemas.openxmlformats.org/officeDocument/2006/relationships" id="263" r:id="Rea1a68b09ab7431b"/>
    <p:sldId xmlns:r="http://schemas.openxmlformats.org/officeDocument/2006/relationships" id="264" r:id="Re1b2503652c642cd"/>
    <p:sldId xmlns:r="http://schemas.openxmlformats.org/officeDocument/2006/relationships" id="265" r:id="R70de89307c0b4094"/>
    <p:sldId xmlns:r="http://schemas.openxmlformats.org/officeDocument/2006/relationships" id="266" r:id="R302c67ace64d4893"/>
    <p:sldId xmlns:r="http://schemas.openxmlformats.org/officeDocument/2006/relationships" id="267" r:id="Rf94345c060be471d"/>
    <p:sldId xmlns:r="http://schemas.openxmlformats.org/officeDocument/2006/relationships" id="268" r:id="R3989ee252ac747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aef8420994442" /><Relationship Type="http://schemas.openxmlformats.org/officeDocument/2006/relationships/slideMaster" Target="/ppt/slideMasters/slideMaster1.xml" Id="R0f2c93b2592444a1" /><Relationship Type="http://schemas.openxmlformats.org/officeDocument/2006/relationships/notesMaster" Target="/ppt/notesMasters/notesMaster1.xml" Id="Rac529fa249834fc1" /><Relationship Type="http://schemas.openxmlformats.org/officeDocument/2006/relationships/presProps" Target="/ppt/presProps.xml" Id="Rdf8f426ab9c44ecc" /><Relationship Type="http://schemas.openxmlformats.org/officeDocument/2006/relationships/viewProps" Target="/ppt/viewProps.xml" Id="R47d598b770ac4630" /><Relationship Type="http://schemas.openxmlformats.org/officeDocument/2006/relationships/tableStyles" Target="/ppt/tableStyles.xml" Id="Ra34dcaca0e624f2b" /><Relationship Type="http://schemas.openxmlformats.org/officeDocument/2006/relationships/slide" Target="/ppt/slides/slide1.xml" Id="Rd3b7a10400334c05" /><Relationship Type="http://schemas.openxmlformats.org/officeDocument/2006/relationships/slide" Target="/ppt/slides/slide2.xml" Id="Rd2f2ad2768434334" /><Relationship Type="http://schemas.openxmlformats.org/officeDocument/2006/relationships/slide" Target="/ppt/slides/slide3.xml" Id="R3dc4217a87174715" /><Relationship Type="http://schemas.openxmlformats.org/officeDocument/2006/relationships/slide" Target="/ppt/slides/slide4.xml" Id="Rb39766d8f02649fc" /><Relationship Type="http://schemas.openxmlformats.org/officeDocument/2006/relationships/slide" Target="/ppt/slides/slide5.xml" Id="Rba4ce53231424a28" /><Relationship Type="http://schemas.openxmlformats.org/officeDocument/2006/relationships/slide" Target="/ppt/slides/slide6.xml" Id="R807c84599d8d46e0" /><Relationship Type="http://schemas.openxmlformats.org/officeDocument/2006/relationships/slide" Target="/ppt/slides/slide7.xml" Id="R1e4fe8b462b748da" /><Relationship Type="http://schemas.openxmlformats.org/officeDocument/2006/relationships/slide" Target="/ppt/slides/slide8.xml" Id="Rea1a68b09ab7431b" /><Relationship Type="http://schemas.openxmlformats.org/officeDocument/2006/relationships/slide" Target="/ppt/slides/slide9.xml" Id="Re1b2503652c642cd" /><Relationship Type="http://schemas.openxmlformats.org/officeDocument/2006/relationships/slide" Target="/ppt/slides/slide10.xml" Id="R70de89307c0b4094" /><Relationship Type="http://schemas.openxmlformats.org/officeDocument/2006/relationships/slide" Target="/ppt/slides/slide11.xml" Id="R302c67ace64d4893" /><Relationship Type="http://schemas.openxmlformats.org/officeDocument/2006/relationships/slide" Target="/ppt/slides/slide12.xml" Id="Rf94345c060be471d" /><Relationship Type="http://schemas.openxmlformats.org/officeDocument/2006/relationships/slide" Target="/ppt/slides/slide13.xml" Id="R3989ee252ac7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a26914a36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e60483aa14489" /><Relationship Type="http://schemas.openxmlformats.org/officeDocument/2006/relationships/notesMaster" Target="/ppt/notesMasters/notesMaster1.xml" Id="Rcfb4a1cd31ec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81916eff74a09" /><Relationship Type="http://schemas.openxmlformats.org/officeDocument/2006/relationships/notesMaster" Target="/ppt/notesMasters/notesMaster1.xml" Id="R1d8ac7354e28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7864941a942b7" /><Relationship Type="http://schemas.openxmlformats.org/officeDocument/2006/relationships/notesMaster" Target="/ppt/notesMasters/notesMaster1.xml" Id="Rcff6200ee3da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95beedfd44b0a" /><Relationship Type="http://schemas.openxmlformats.org/officeDocument/2006/relationships/notesMaster" Target="/ppt/notesMasters/notesMaster1.xml" Id="R4e78cda9cad648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ef3093986431f" /><Relationship Type="http://schemas.openxmlformats.org/officeDocument/2006/relationships/notesMaster" Target="/ppt/notesMasters/notesMaster1.xml" Id="R2d57b9f80d46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9aff87233e4be6" /><Relationship Type="http://schemas.openxmlformats.org/officeDocument/2006/relationships/notesMaster" Target="/ppt/notesMasters/notesMaster1.xml" Id="R648760b188774b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45b10f32f4aa9" /><Relationship Type="http://schemas.openxmlformats.org/officeDocument/2006/relationships/notesMaster" Target="/ppt/notesMasters/notesMaster1.xml" Id="R8d6effcffb93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beffe012e64844" /><Relationship Type="http://schemas.openxmlformats.org/officeDocument/2006/relationships/notesMaster" Target="/ppt/notesMasters/notesMaster1.xml" Id="Rde4fd1d47f3f4c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8a2766f9e84e8f" /><Relationship Type="http://schemas.openxmlformats.org/officeDocument/2006/relationships/notesMaster" Target="/ppt/notesMasters/notesMaster1.xml" Id="R17f1de3c04f648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c013cf48454419" /><Relationship Type="http://schemas.openxmlformats.org/officeDocument/2006/relationships/notesMaster" Target="/ppt/notesMasters/notesMaster1.xml" Id="Rc08ecdc7ecae44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43bc63f86448cd" /><Relationship Type="http://schemas.openxmlformats.org/officeDocument/2006/relationships/notesMaster" Target="/ppt/notesMasters/notesMaster1.xml" Id="Rff84ffe896174f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81743f268f46aa" /><Relationship Type="http://schemas.openxmlformats.org/officeDocument/2006/relationships/notesMaster" Target="/ppt/notesMasters/notesMaster1.xml" Id="R79d298e232c24c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4aade1acac4358" /><Relationship Type="http://schemas.openxmlformats.org/officeDocument/2006/relationships/notesMaster" Target="/ppt/notesMasters/notesMaster1.xml" Id="Rb7205816a29e41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b5eea524e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007b6341c4d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5b3d4475440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7ef36023b4a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cbaf4cea54a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e956913a94e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c46edcbc746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f932ec17045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2bfc7321e43e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56c2a6038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d5a12b589472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63D541-8318-4BF5-BF6A-11E0B03C63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D2A53E6-9819-4669-97AA-30E3157938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4DECD2-F2D0-4DC9-9E08-E8E5453157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4403BC-B5C3-4A7A-9436-A3EFB3F714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FCB89C-4FFB-4A5F-83B2-2A9A4B49F1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96400" y="635635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6E33F9-BF28-4ADC-9C68-DDD38F734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4C4666F-9421-4838-8A51-F9F48C7A84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730C17-2BB3-48DB-9BE6-C0AC39AC3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053A68C-011B-4CA9-A5FD-18A44CDF58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7951EB-F93C-4488-B9C0-D5FCD5E2F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2F8CD8-84DE-436C-9DA5-CBF64733E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5B3D58-BF30-4972-B8A4-DCE317B80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3E3A9B-237F-4174-BE95-67F876471D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EE6CF6-7311-43AC-8943-2D278D6CA5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596756-86AD-44FC-9A19-035138C0BB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98B64A8-02B9-4AAD-BEDB-1E056E42C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286BCEC-CC4C-4513-BE2A-4B308F118F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B96813F-B248-4915-A5D6-3061FA8DFF3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E4A8D7B-54C9-4124-A8A0-3106037D6E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41015E3-289F-4A1D-988A-1FA3577DFA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CBB1E04-C964-48CE-B187-C414E2F26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99FE41-CC48-4A64-BE2F-0ABE64989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7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D737E7E-C6FF-445F-8F8D-1CDCF464C5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00EBF8F-90DB-4F6E-969B-8765914100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BA2293-2CE2-4691-A87E-F2FC504898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76C8030-0327-4EE5-BBB9-071399A5AB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E305D81-1686-4AF4-9C1F-452C6DE508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AC13703-5479-4DDA-B81A-59519EE82B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BC776-58DD-4C02-A49C-DB3AAB1DE5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18DB51-1F4E-4C4B-BA10-50E9A3E15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E85EEA4-52AE-4588-A078-502F4165FF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0BF5375-1713-4AD8-A33A-37D1DC6D46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34A381E-6096-46C6-BD5C-93B7404A07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2CEB377-AA9A-44BB-9DA9-FB9D9A54A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21EF7DA-80BF-4AB7-A649-2F13D99DCD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1C793AE-CAF3-4022-9B68-84D405CB9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DF78BA-A127-4BAF-9E00-BC78AA01B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EBFD036-3830-46F9-A740-31CC2B9EEF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C798E51-0C3E-44CC-A2A4-5900E74E5A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30A98D5-E68F-4C30-8E42-D7B5D31AAD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64B0ED9-05AA-437B-824F-EC0FE1529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814866C-A3C6-4F3E-A4EA-8934A264B4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B040A2-A32A-4EDF-A72B-148D24550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46D9FC9-49D2-46A1-A7A6-B6C52DAA972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24D48B-EEF0-46D3-9479-B7905D13D8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96B5B05-A378-45A0-919D-62B935A15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608E57A-6880-4F93-A4E8-29B40CD52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D1AD09-2C2C-4A1D-832D-3770F5AD12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ADE59E-1433-4AAA-810C-2796CF387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41063D4-3634-4573-BDBD-3BAEFF134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590BA6-0565-45C1-944D-D995B69AFF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86D039B-8BE9-4E8A-9C08-F4F4C42932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B9F5EC-2B5D-4131-A63A-AC6D30FD24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89F90C2-9940-40A1-A823-870608B58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097437F-0E4B-4712-9E7C-61CE50DB0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745DA9E-6FD6-494E-8FE3-714F403E00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3C419D-150A-4E51-A38B-727F750D48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31FB8B-8FEB-463A-8106-A1BC84D2DA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3e6b003db4fb1" /><Relationship Type="http://schemas.openxmlformats.org/officeDocument/2006/relationships/slideLayout" Target="/ppt/slideLayouts/slideLayout1.xml" Id="Rb86b75a2c9b5435e" /><Relationship Type="http://schemas.openxmlformats.org/officeDocument/2006/relationships/slideLayout" Target="/ppt/slideLayouts/slideLayout2.xml" Id="R02d9ce30663d4863" /><Relationship Type="http://schemas.openxmlformats.org/officeDocument/2006/relationships/slideLayout" Target="/ppt/slideLayouts/slideLayout3.xml" Id="R9a6dca8af184406e" /><Relationship Type="http://schemas.openxmlformats.org/officeDocument/2006/relationships/slideLayout" Target="/ppt/slideLayouts/slideLayout4.xml" Id="R42c19eca6ba24d54" /><Relationship Type="http://schemas.openxmlformats.org/officeDocument/2006/relationships/slideLayout" Target="/ppt/slideLayouts/slideLayout5.xml" Id="R3c8ae22ba0144ce8" /><Relationship Type="http://schemas.openxmlformats.org/officeDocument/2006/relationships/slideLayout" Target="/ppt/slideLayouts/slideLayout6.xml" Id="R3632758fdcea43ce" /><Relationship Type="http://schemas.openxmlformats.org/officeDocument/2006/relationships/slideLayout" Target="/ppt/slideLayouts/slideLayout7.xml" Id="Rcf1968d5c68f490d" /><Relationship Type="http://schemas.openxmlformats.org/officeDocument/2006/relationships/slideLayout" Target="/ppt/slideLayouts/slideLayout8.xml" Id="R0b374a834c9646d8" /><Relationship Type="http://schemas.openxmlformats.org/officeDocument/2006/relationships/slideLayout" Target="/ppt/slideLayouts/slideLayout9.xml" Id="R1e0c0ef0a2194474" /><Relationship Type="http://schemas.openxmlformats.org/officeDocument/2006/relationships/slideLayout" Target="/ppt/slideLayouts/slideLayout10.xml" Id="R9d68f9b019d14f4d" /><Relationship Type="http://schemas.openxmlformats.org/officeDocument/2006/relationships/slideLayout" Target="/ppt/slideLayouts/slideLayout11.xml" Id="R449a4c395bf34d0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1DDEB3-5B5E-4EF1-8A36-A0E0A4118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267DA3C-E1C1-4F53-99B1-8019459279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982AF4-2255-436A-915D-67D45DA2DE4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721F9A-6D9A-4165-B073-91BAB1A0859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60F2EBE-026D-49C6-A624-8E86F9AFF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b75a2c9b5435e"/>
    <p:sldLayoutId xmlns:r="http://schemas.openxmlformats.org/officeDocument/2006/relationships" id="2147483650" r:id="R02d9ce30663d4863"/>
    <p:sldLayoutId xmlns:r="http://schemas.openxmlformats.org/officeDocument/2006/relationships" id="2147483651" r:id="R9a6dca8af184406e"/>
    <p:sldLayoutId xmlns:r="http://schemas.openxmlformats.org/officeDocument/2006/relationships" id="2147483652" r:id="R42c19eca6ba24d54"/>
    <p:sldLayoutId xmlns:r="http://schemas.openxmlformats.org/officeDocument/2006/relationships" id="2147483653" r:id="R3c8ae22ba0144ce8"/>
    <p:sldLayoutId xmlns:r="http://schemas.openxmlformats.org/officeDocument/2006/relationships" id="2147483654" r:id="R3632758fdcea43ce"/>
    <p:sldLayoutId xmlns:r="http://schemas.openxmlformats.org/officeDocument/2006/relationships" id="2147483655" r:id="Rcf1968d5c68f490d"/>
    <p:sldLayoutId xmlns:r="http://schemas.openxmlformats.org/officeDocument/2006/relationships" id="2147483656" r:id="R0b374a834c9646d8"/>
    <p:sldLayoutId xmlns:r="http://schemas.openxmlformats.org/officeDocument/2006/relationships" id="2147483657" r:id="R1e0c0ef0a2194474"/>
    <p:sldLayoutId xmlns:r="http://schemas.openxmlformats.org/officeDocument/2006/relationships" id="2147483658" r:id="R9d68f9b019d14f4d"/>
    <p:sldLayoutId xmlns:r="http://schemas.openxmlformats.org/officeDocument/2006/relationships" id="2147483659" r:id="R449a4c395bf34d0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985d2019743a5" /><Relationship Type="http://schemas.openxmlformats.org/officeDocument/2006/relationships/image" Target="/ppt/media/image.png" Id="R66741f9f5f36458f" /><Relationship Type="http://schemas.openxmlformats.org/officeDocument/2006/relationships/image" Target="/ppt/media/image2.png" Id="R87ed1581b83242fd" /><Relationship Type="http://schemas.openxmlformats.org/officeDocument/2006/relationships/image" Target="/ppt/media/image3.png" Id="Rc108d6cd602a411b" /><Relationship Type="http://schemas.openxmlformats.org/officeDocument/2006/relationships/notesSlide" Target="/ppt/notesSlides/notesSlide1.xml" Id="R4df91b725aaa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0bbb60b0b94918" /><Relationship Type="http://schemas.openxmlformats.org/officeDocument/2006/relationships/image" Target="/ppt/media/image.jpeg" Id="R761b560d0157422b" /><Relationship Type="http://schemas.openxmlformats.org/officeDocument/2006/relationships/image" Target="/ppt/media/image.png" Id="R7281a7403ada41bc" /><Relationship Type="http://schemas.openxmlformats.org/officeDocument/2006/relationships/image" Target="/ppt/media/image2.png" Id="Reaa83fb24ac74fab" /><Relationship Type="http://schemas.openxmlformats.org/officeDocument/2006/relationships/notesSlide" Target="/ppt/notesSlides/notesSlide2.xml" Id="Ree605036db16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6fb603cdd04b6d" /><Relationship Type="http://schemas.openxmlformats.org/officeDocument/2006/relationships/image" Target="/ppt/media/image.jpeg" Id="R327b0ffa421644f9" /><Relationship Type="http://schemas.openxmlformats.org/officeDocument/2006/relationships/image" Target="/ppt/media/image.png" Id="R8b91478ac76242ff" /><Relationship Type="http://schemas.openxmlformats.org/officeDocument/2006/relationships/image" Target="/ppt/media/image2.png" Id="Refd49361219e4d6a" /><Relationship Type="http://schemas.openxmlformats.org/officeDocument/2006/relationships/notesSlide" Target="/ppt/notesSlides/notesSlide3.xml" Id="Rf30d5b580bca45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7d304311b44777" /><Relationship Type="http://schemas.openxmlformats.org/officeDocument/2006/relationships/image" Target="/ppt/media/image.jpeg" Id="R1af2d5a7c4b549d7" /><Relationship Type="http://schemas.openxmlformats.org/officeDocument/2006/relationships/image" Target="/ppt/media/image.png" Id="Re39b6d118f144df0" /><Relationship Type="http://schemas.openxmlformats.org/officeDocument/2006/relationships/image" Target="/ppt/media/image2.png" Id="R0e4dc918a8dc486c" /><Relationship Type="http://schemas.openxmlformats.org/officeDocument/2006/relationships/notesSlide" Target="/ppt/notesSlides/notesSlide4.xml" Id="Rea9d86bbecb0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cbdef8b9ed49a6" /><Relationship Type="http://schemas.openxmlformats.org/officeDocument/2006/relationships/image" Target="/ppt/media/image.jpeg" Id="Re4c00a1952144cff" /><Relationship Type="http://schemas.openxmlformats.org/officeDocument/2006/relationships/image" Target="/ppt/media/image.png" Id="R75959aafc8964473" /><Relationship Type="http://schemas.openxmlformats.org/officeDocument/2006/relationships/image" Target="/ppt/media/image2.png" Id="Rd6c773f7b6c441fb" /><Relationship Type="http://schemas.openxmlformats.org/officeDocument/2006/relationships/notesSlide" Target="/ppt/notesSlides/notesSlide5.xml" Id="Rbabf6e55bfc5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29940c699c496b" /><Relationship Type="http://schemas.openxmlformats.org/officeDocument/2006/relationships/image" Target="/ppt/media/image.jpeg" Id="Rb564c8a805094a47" /><Relationship Type="http://schemas.openxmlformats.org/officeDocument/2006/relationships/image" Target="/ppt/media/image4.png" Id="R1ccf452052974e0e" /><Relationship Type="http://schemas.openxmlformats.org/officeDocument/2006/relationships/image" Target="/ppt/media/image5.png" Id="Re94d667b92e048c1" /><Relationship Type="http://schemas.openxmlformats.org/officeDocument/2006/relationships/image" Target="/ppt/media/image6.png" Id="Re7b93aa589794c2d" /><Relationship Type="http://schemas.openxmlformats.org/officeDocument/2006/relationships/image" Target="/ppt/media/image.png" Id="R22badcf826d54bd1" /><Relationship Type="http://schemas.openxmlformats.org/officeDocument/2006/relationships/image" Target="/ppt/media/image2.png" Id="Rac6e4ce14942477d" /><Relationship Type="http://schemas.openxmlformats.org/officeDocument/2006/relationships/notesSlide" Target="/ppt/notesSlides/notesSlide6.xml" Id="Re410241ece1c4a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dec2f698824eea" /><Relationship Type="http://schemas.openxmlformats.org/officeDocument/2006/relationships/image" Target="/ppt/media/image.jpeg" Id="R24d917ad731e48e2" /><Relationship Type="http://schemas.openxmlformats.org/officeDocument/2006/relationships/image" Target="/ppt/media/image7.png" Id="R94d757fc9208407f" /><Relationship Type="http://schemas.openxmlformats.org/officeDocument/2006/relationships/image" Target="/ppt/media/image.png" Id="R29c4dac7fd254b70" /><Relationship Type="http://schemas.openxmlformats.org/officeDocument/2006/relationships/image" Target="/ppt/media/image2.png" Id="R38d613f263d04f0b" /><Relationship Type="http://schemas.openxmlformats.org/officeDocument/2006/relationships/notesSlide" Target="/ppt/notesSlides/notesSlide7.xml" Id="R47cacee65b2d45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8e69f4a16c43ab" /><Relationship Type="http://schemas.openxmlformats.org/officeDocument/2006/relationships/image" Target="/ppt/media/image.jpeg" Id="R420d5bf6264443f2" /><Relationship Type="http://schemas.openxmlformats.org/officeDocument/2006/relationships/image" Target="/ppt/media/image8.png" Id="R1c4ad06ceb564417" /><Relationship Type="http://schemas.openxmlformats.org/officeDocument/2006/relationships/image" Target="/ppt/media/image.png" Id="Rbb82e85b7d2b40e1" /><Relationship Type="http://schemas.openxmlformats.org/officeDocument/2006/relationships/image" Target="/ppt/media/image2.png" Id="Re8bd284de3a64544" /><Relationship Type="http://schemas.openxmlformats.org/officeDocument/2006/relationships/notesSlide" Target="/ppt/notesSlides/notesSlide8.xml" Id="R391fd7245d314b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e31decedb54b5a" /><Relationship Type="http://schemas.openxmlformats.org/officeDocument/2006/relationships/image" Target="/ppt/media/image.jpeg" Id="R76ac64f2a7c044e9" /><Relationship Type="http://schemas.openxmlformats.org/officeDocument/2006/relationships/image" Target="/ppt/media/image9.png" Id="Rc8e7602fda9d470a" /><Relationship Type="http://schemas.openxmlformats.org/officeDocument/2006/relationships/image" Target="/ppt/media/image10.png" Id="Recc78080e10542cd" /><Relationship Type="http://schemas.openxmlformats.org/officeDocument/2006/relationships/image" Target="/ppt/media/image.png" Id="R5301c872591c41c6" /><Relationship Type="http://schemas.openxmlformats.org/officeDocument/2006/relationships/image" Target="/ppt/media/image2.png" Id="Rebc83767667644a5" /><Relationship Type="http://schemas.openxmlformats.org/officeDocument/2006/relationships/notesSlide" Target="/ppt/notesSlides/notesSlide9.xml" Id="R097f74c3ea644c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d2b2b7917242de" /><Relationship Type="http://schemas.openxmlformats.org/officeDocument/2006/relationships/image" Target="/ppt/media/image.jpeg" Id="R0c77437b1f374857" /><Relationship Type="http://schemas.openxmlformats.org/officeDocument/2006/relationships/image" Target="/ppt/media/image11.png" Id="Rfb616f38e12e408e" /><Relationship Type="http://schemas.openxmlformats.org/officeDocument/2006/relationships/image" Target="/ppt/media/image12.png" Id="Rc7391b22564d421f" /><Relationship Type="http://schemas.openxmlformats.org/officeDocument/2006/relationships/image" Target="/ppt/media/image.png" Id="R89f492db19d44ac8" /><Relationship Type="http://schemas.openxmlformats.org/officeDocument/2006/relationships/image" Target="/ppt/media/image2.png" Id="Rd55b594ad25d4bac" /><Relationship Type="http://schemas.openxmlformats.org/officeDocument/2006/relationships/notesSlide" Target="/ppt/notesSlides/notesSlide10.xml" Id="R7f31f26cf8b743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2ccf4616814db6" /><Relationship Type="http://schemas.openxmlformats.org/officeDocument/2006/relationships/image" Target="/ppt/media/image.jpeg" Id="R1515ed8c956d47a7" /><Relationship Type="http://schemas.openxmlformats.org/officeDocument/2006/relationships/image" Target="/ppt/media/image.png" Id="Rbff2fb5c1ba64b65" /><Relationship Type="http://schemas.openxmlformats.org/officeDocument/2006/relationships/image" Target="/ppt/media/image2.png" Id="Ra952a92c53d24e19" /><Relationship Type="http://schemas.openxmlformats.org/officeDocument/2006/relationships/notesSlide" Target="/ppt/notesSlides/notesSlide11.xml" Id="R4b86c944505043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abd2b33b1441f1" /><Relationship Type="http://schemas.openxmlformats.org/officeDocument/2006/relationships/image" Target="/ppt/media/image.jpeg" Id="Rc86e077e72904511" /><Relationship Type="http://schemas.openxmlformats.org/officeDocument/2006/relationships/image" Target="/ppt/media/image.png" Id="R05b72079eed74049" /><Relationship Type="http://schemas.openxmlformats.org/officeDocument/2006/relationships/image" Target="/ppt/media/image2.png" Id="R55ceabb5e1ac4e34" /><Relationship Type="http://schemas.openxmlformats.org/officeDocument/2006/relationships/notesSlide" Target="/ppt/notesSlides/notesSlide12.xml" Id="R128231e4da984b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69be48a605421e" /><Relationship Type="http://schemas.openxmlformats.org/officeDocument/2006/relationships/notesSlide" Target="/ppt/notesSlides/notesSlide13.xml" Id="R23007024c4f34b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1f9f5f36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A375487-ED98-4814-A51D-73EC978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7292405-6045-4851-9F65-033294C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D075A97-BAC1-4E01-9A21-8E16EBC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916305-8826-4101-ACF4-CB2A0F3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D30C20-5593-49DC-B48A-EDE7DC4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d1581b832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1DC163D-F76E-426E-92C2-F5C20E71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8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8d6cd602a41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381615C-F80C-4CB8-A2AC-665554A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E87F411-BDC7-4E46-902D-58FD18E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17D85A-0AF4-4F77-990C-D6333A41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1746C43-AF64-4713-BFEF-5F22D59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56" y="2295846"/>
            <a:ext cx="105859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地基微波辐射计大气温湿廓线反演</a:t>
            </a:r>
          </a:p>
        </p:txBody>
      </p:sp>
      <p:sp>
        <p:nvSpPr>
          <p:cNvPr id="23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5F94734-D81B-45BD-AED9-27476148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172" y="4170878"/>
            <a:ext cx="3755254" cy="166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报 告 人：  </a:t>
            </a: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白杨</a:t>
            </a:r>
          </a:p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导    师：  </a:t>
            </a: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石磊</a:t>
            </a:r>
          </a:p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学    院：  空间科学与技术学院</a:t>
            </a:r>
          </a:p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汇报日期：2026-0</a:t>
            </a: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FDA016C3-BE02-4A14-8861-2615EE86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42" y="3429000"/>
            <a:ext cx="4821247" cy="0"/>
          </a:xfrm>
          <a:prstGeom xmlns:a="http://schemas.openxmlformats.org/drawingml/2006/main" prst="line">
            <a:avLst/>
          </a:prstGeom>
          <a:ln xmlns:a="http://schemas.openxmlformats.org/drawingml/2006/main" w="19050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FF99E00C-9A42-4EE5-AB4A-A614B1E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889" y="3429002"/>
            <a:ext cx="5513313" cy="1754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00D5663-24B0-443A-8CDD-F5D2A12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11" y="99553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期末汇报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F079A73-8621-4854-B0D9-DE14613C4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CA212E7-6F87-449C-9FAB-3C3D869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3749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700" b="1">
                <a:solidFill>
                  <a:srgbClr val="2E6CB5"/>
                </a:solidFill>
                <a:latin typeface="微软雅黑"/>
                <a:ea typeface="微软雅黑"/>
                <a:cs typeface="微软雅黑"/>
              </a:rPr>
              <a:t>—— BRNN 统计反演  ·  OEM 物理反演  ·  成都真实数据验证</a:t>
            </a:r>
          </a:p>
        </p:txBody>
      </p:sp>
    </p:spTree>
    <p:extLst>
      <p:ext uri="{BB962C8B-B14F-4D97-AF65-F5344CB8AC3E}">
        <p14:creationId xmlns:p14="http://schemas.microsoft.com/office/powerpoint/2010/main" val="20376194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D40B83F-399C-4F91-86AE-FB7B168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4E34EF0-C4E2-4CFE-B806-763A9A1B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14FB1C-AACC-4E2C-B395-9033F42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F5FFD09-F6E7-4F9B-8983-4CC8E35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D9B6D89-FF81-4D31-8112-05F7D65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D01D485-8FC1-4960-BD56-205232C9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5B18A66-1CA6-4C73-9145-3367C44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637A6C1-01E4-4FA1-A733-D29FBE97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DA803CB-2C9B-492B-98D8-A4AF57B0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b560d0157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26D42D1-DCA2-436F-BB4E-67F48F4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 报 目 录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96697E2-F4C4-4C51-9B3E-365DF46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876425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592331C-21C6-48AE-9ABF-554F7CD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55" y="1704340"/>
            <a:ext cx="1967230" cy="581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容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60CC324-7D2F-4DD9-BFB7-2C5FDC9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385" y="173736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000" b="1">
                <a:solidFill>
                  <a:srgbClr val="2E6CB5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29C68F6F-C49F-4F0D-B549-C0C53C81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25596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8C585DF-D2EE-4347-BD3F-8E1A49A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26116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7EC8425-74CD-4155-87E5-78E9B16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25935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研究背景与目标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313852DC-DF68-481E-A733-E35933E7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0168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FF60B7E-1945-4774-980D-D2C8E9B1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0688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C20B99D-DAF3-48A2-9775-EB0680C4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30507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技术路线总览</a:t>
            </a: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BF6AA5D6-E079-4A6E-8347-B3B6EC8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4740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AA93122-AB44-4207-8094-D21DEE7B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5260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85BE919-F4B0-44F2-82EE-E67C955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35079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BRNN 统计反演：方法与 v4 改进</a:t>
            </a: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45E404F5-E455-42B7-8683-C8C65EE5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9312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15A08E0-748F-4F59-85DA-2368C38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39832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76E5C40-6171-40CF-BDE1-8C950A01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39651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BRNN v4 反演结果与迭代历程</a:t>
            </a: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B2311ECE-825A-437D-B6B5-1838ED0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43884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7AE137-008D-4396-BDAC-2677445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44404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46C3F46-7579-4C2B-92A6-C09A725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44223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OEM 物理反演框架与实验结果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73A30E2D-8D4D-4B8D-92A1-6305260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48456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66EC241-06D2-49D0-BCF4-55CF1EC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48976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2ECCEC0-A8A6-4218-996D-24576AC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48795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ARTS 前向模型与垂直信息量诊断</a:t>
            </a: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292359E8-724A-4E2F-B78C-6B95691F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53028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2F15006F-9B6E-45BB-BBD0-858F2B12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53548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27D69EC9-B3E0-4CAB-AB2C-FD79744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53367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成都真实数据验证</a:t>
            </a: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8AE07F2E-95D1-468E-8531-0FB6A308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576008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E255FF3-6AED-4E4B-BBF4-71A111D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" y="5812092"/>
            <a:ext cx="384048" cy="28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BAB4773-F9B1-45AA-9B78-D9A9D694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45" y="5793994"/>
            <a:ext cx="7315200" cy="316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整体进度、风险与下一步计划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89A5DB5C-85E4-4756-8494-2E8ADC4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09FA158-1F3C-4AEC-A992-8533693B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— / —</a:t>
            </a:r>
          </a:p>
        </p:txBody>
      </p:sp>
      <p:pic>
        <p:nvPicPr>
          <p:cNvPr id="9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1a7403ada41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9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83fb24ac74f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06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b0ffa4216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51B4659-D2B3-4F76-8E52-F09172B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DE18EA-0781-4B95-A7F7-53A142D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A26AEB1-844D-4F5D-A48C-19C9473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7ACDF2E-00CD-4B3F-BEF4-9D44B3F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1FDA3D-6C85-4358-A811-8D83429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D8BE5BA3-637F-4167-8C49-373103D0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04F4942-A2D7-4692-81EE-3183CA2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F634172-0C0D-41DF-B1E6-C4AD3A2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463C72B-4FFE-405F-B60A-B71C4DB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239EC8-37E3-49BF-B99B-BE7EC15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研究背景与目标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C31BD56-2381-494D-8583-29F137A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D405A6E-9FFB-4D90-8729-06462F22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9631EA6-A90F-4CA0-96B1-F3D61AD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1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C282986-201D-4DBD-B195-0AB6F784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34440"/>
            <a:ext cx="5440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8FF6CFF-5849-44CB-888C-882CB68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63624"/>
            <a:ext cx="5440680" cy="1773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607A863-3870-47F7-9169-CC48D47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▍ 研究背景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C475B9-33F9-4E66-8249-1E5D3F03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18488"/>
            <a:ext cx="5184648" cy="1682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大气温湿廓线是数值预报、强对流与航空气象的关键输入。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探空精度高但时空稀疏（每日 2 次）；微波辐射计(MWR)可实现高频连续探测。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反演难点：欠定问题，垂直信息量有限，云天/降雨干扰大。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2CD784E-B1D6-4D63-9550-B5E406F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234440"/>
            <a:ext cx="545896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B0AC26-5A6F-470B-BFA4-5A7C256D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563624"/>
            <a:ext cx="5458968" cy="1773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0FB39E4-910D-462F-A886-E28332E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276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▍ 项目目标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8CA4FFD-83F3-4BB6-A953-0D563D2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18488"/>
            <a:ext cx="5202936" cy="989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建立地基多通道 MWR 温度 T(z) 与相对湿度 RH(z) 反演系统。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brnn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方法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复现论文基准（T&lt;1.5K, RH&lt;13%）。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构建 BRNN 统计反演 + OEM 物理反演混合框架。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在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天津，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成都本地真实数据上完成验证。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B91E308-355C-42D6-88A8-FFD64E1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58444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34CFD40-654E-4C58-A4D8-4D094B3F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66160"/>
            <a:ext cx="11009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数据与仪器</a:t>
            </a:r>
          </a:p>
        </p:txBody>
      </p:sp>
      <p:graphicFrame>
        <p:nvGraphicFramePr>
          <p:cNvPr id="66" name="Table 35"/>
          <p:cNvGraphicFramePr/>
          <p:nvPr/>
        </p:nvGraphicFramePr>
        <p:xfrm>
          <a:off xmlns:a="http://schemas.openxmlformats.org/drawingml/2006/main" x="530352" y="3931920"/>
          <a:ext xmlns:a="http://schemas.openxmlformats.org/drawingml/2006/main" cx="11128247" cy="214884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017519"/>
                <a:gridCol w="2194560"/>
                <a:gridCol w="3172968"/>
              </a:tblGrid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 / 仪器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通道配置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MP-3000A（北京南郊）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 通道 K/V 波段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2013–2019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BRNN v4 训练（历史最佳）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RPG HATPRO 配置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通道（K7+V7）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2013-01 ERA5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OEM/MonoRTM 物理反演主线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成都实测辐射计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通道（K7+V7+W1+G5+高频1）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真实数据验证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温江探空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483 个文件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2026-05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独立外部验证真值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pic>
        <p:nvPicPr>
          <p:cNvPr id="6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1478ac762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6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49361219e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61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2d5a7c4b5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B87E098-B2EF-426F-B54E-BAD800A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1B28F1-8540-437F-85F4-F92ADD8C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31BB84-325C-4A57-A98F-B5E4D7FB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7D3691E-294B-46F0-8A40-8D56BBB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E8BC5C6-69C1-4184-9F97-987BE62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F4FE36A-E335-43DD-B492-74385C2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4ED6C1BC-9F97-4438-BE9A-441C5C9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F085403-D826-4E0D-BF6A-36580DEA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8917F7B-AEDE-4FE0-91AF-D0CDD194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B6E246-AE1D-4E96-93A9-B050FCF6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技术路线总览：统计 + 物理混合反演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2012A65-4B8F-40DF-A3D0-D7A2DF0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5FDDC2F-B65D-41A9-998D-7688E3F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20DF2FB-84FB-431A-9C53-D3B72EA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2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F4F4CE-C780-4F58-AE67-3B72137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B19AE2B-DCD2-40A7-BCB0-371D2D92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11009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反演流程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3B5A9A6-804E-4D6A-A9A4-7FA5D64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057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5779AA5-619C-43A9-A59A-A8DA7CE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057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观测亮温
Obs_BT</a:t>
            </a:r>
          </a:p>
        </p:txBody>
      </p:sp>
      <p:sp>
        <p:nvSpPr>
          <p:cNvPr id="30" name="Right Arrow 29">
            <a:extLst xmlns:a="http://schemas.openxmlformats.org/drawingml/2006/main">
              <a:ext uri="{FF2B5EF4-FFF2-40B4-BE49-F238E27FC236}">
                <a16:creationId xmlns:a16="http://schemas.microsoft.com/office/drawing/2014/main" id="{E7103DA3-5471-4C5B-B624-AE205AC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961388"/>
            <a:ext cx="146304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A8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421A8DF-7249-46A6-93F9-F52BEF0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600200"/>
            <a:ext cx="2057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D23A72C-8569-4BD5-8C15-57348FA2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600200"/>
            <a:ext cx="2057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QC / 偏差订正
+ ERA5 标签</a:t>
            </a:r>
          </a:p>
        </p:txBody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ED6E0FE4-0BD7-4FE9-9579-2B611427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961388"/>
            <a:ext cx="146304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A8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1921D36B-33BB-4C9F-8E28-DE359A5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600200"/>
            <a:ext cx="2057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91336A4-213F-4571-97EA-BEE75AB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600200"/>
            <a:ext cx="2057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BRNN 统计反演
~0.5 ms/廓线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3259A317-D4FF-4836-9BF2-10A60FE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961388"/>
            <a:ext cx="146304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A8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CBDF27F8-B957-4350-B57B-3E7918C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600200"/>
            <a:ext cx="2057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49CA103-B018-4C7A-A076-BF3B8534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600200"/>
            <a:ext cx="2057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OEM 物理反演
(1D-Var)</a:t>
            </a:r>
          </a:p>
        </p:txBody>
      </p:sp>
      <p:sp>
        <p:nvSpPr>
          <p:cNvPr id="39" name="Right Arrow 38">
            <a:extLst xmlns:a="http://schemas.openxmlformats.org/drawingml/2006/main">
              <a:ext uri="{FF2B5EF4-FFF2-40B4-BE49-F238E27FC236}">
                <a16:creationId xmlns:a16="http://schemas.microsoft.com/office/drawing/2014/main" id="{9E148F41-B4D5-4A38-86F0-5D39364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61388"/>
            <a:ext cx="146304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A8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461A6100-F5F2-4658-8198-9CC97644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1600200"/>
            <a:ext cx="20574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3A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1314861-7C12-4CD7-B87D-F2327635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1823403"/>
            <a:ext cx="2057400" cy="422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T(z), RH(z) 廓线
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1242CF1-4601-4031-92A1-FE53C150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8072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AFBC6B3-37FA-485A-BF0B-D34E42E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88920"/>
            <a:ext cx="11009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已形成的三层能力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2E72BC2C-DEFF-4A7E-AEED-2A74520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0"/>
            <a:ext cx="3611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570496B3-6F7D-4169-A05A-762ED0A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529584"/>
            <a:ext cx="3611880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D33973-B997-490F-B133-15B8F06C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第一层 · 统计反演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2FBC9F0-084C-468E-B3E1-6C05ED18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84448"/>
            <a:ext cx="3355848" cy="1773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BRNN v4 当前最佳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T = 1.26 K，RH = 7.76%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推理 ~0.5 ms/廓线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EB178F8B-4D1D-4996-ABA5-660370B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200400"/>
            <a:ext cx="3611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0529DFB2-A6E7-44E3-935D-011BEA5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529584"/>
            <a:ext cx="3611880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D182295-967F-4807-97B6-C8E45962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20040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第二层 · 物理反演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C714C199-3116-4C6A-840D-4B83554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3584448"/>
            <a:ext cx="3355848" cy="1773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OEM + ARTS/MonoRTM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n=100 self-consistent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DOFS ≈ 2.21，收敛 99%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BA0BBEFA-59B1-49BC-84ED-6B6B6166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00400"/>
            <a:ext cx="3611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7CD76E50-16DA-4F00-B133-90B38E29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529584"/>
            <a:ext cx="3611880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ECCAA88-C998-4D3D-8CA3-5E2A4B6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20040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第三层 · 混合路线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396AD843-F4BD-4190-8559-BE58C76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584448"/>
            <a:ext cx="3355848" cy="1773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NN 作先验/Sₐ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NN surrogate 加速 H(x)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不确定度校准 + 云天 OEM</a:t>
            </a:r>
          </a:p>
        </p:txBody>
      </p:sp>
      <p:pic>
        <p:nvPicPr>
          <p:cNvPr id="10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b6d118f144d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10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dc918a8dc48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19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00a1952144c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A89C352-B77D-40E2-9EEF-D7CC36AE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51D860-3396-4E81-AE1F-070E4CBD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CA8F14-7553-4A60-A194-EA75379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CFF0660-2B23-473B-847E-9E2743F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84F9A3A-74AA-4D99-99A1-6280503C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3324B5AF-FCAD-418A-A602-BFDAE2CE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AC021FD-12D8-4E07-918A-43AC2F23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45911C7-E6B7-4E20-A82F-607638F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106171A-4867-4C53-8905-770E80E4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7CD4C6-3901-4F2C-91AA-FB7DF391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BRNN 统计反演：方法与 v4 关键改进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77FCE8-ED4F-47FC-89E4-C5489093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A843BBF-1FFF-4989-B934-E538A80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35E498E-8683-4788-BC1D-97F92E6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3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8E376EB-A943-4EB1-BFAA-A1B0C01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2CA0026-2944-499B-AC70-A0B4AFD2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11009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网络结构：6 个独立 BRNN 子模型（T/RH × 0-2km / 2-8km / 8-10km）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0D1644-CE65-4017-85FB-70832C1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972800" cy="772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输入：多通道亮温 + 地面 T2m/RH2m/Ps/IR/CLWC/CIC 等辅助特征；输出 0-10km 共 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 层 T/RH。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分高度段建模：各高度区间物理特性差异大，独立网络更稳定；边界层(2km/8km)由相邻模型各预测一次。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Hidden=256, Dropout=0.3, LR=1e-3, Batch=128, Early-stopping patience=20。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D341006-9826-48F7-BD9D-87A1D53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1576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5C50E48-18C4-4525-91BA-50FE2C5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697480"/>
            <a:ext cx="11009376" cy="297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v4 相对前序版本的关键改进（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效果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当前最佳）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5E51E8B-5693-4E88-997D-658215C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08960"/>
            <a:ext cx="91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53F9019-0CCC-4FB1-AAF9-E32FB3E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08960"/>
            <a:ext cx="5440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6350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47E8ADF-A31C-44B5-9D06-A22EF6D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16382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CLWC 廓线筛除 + K 波段逐通道 2.5σ 筛除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3511958-DC7F-4535-9D36-BD8610ED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493008"/>
            <a:ext cx="5166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→ 剔除云天/异常亮温样本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3F9F54B4-9913-4961-8E6E-6D7E072F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108960"/>
            <a:ext cx="91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1B2FB88-C4D3-4989-8CD6-7AA39E9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108960"/>
            <a:ext cx="5440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6350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E1A36C1-D075-477F-9D7F-9AE9DE74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6382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Winsorize 回归 BT 订正（非 OLS）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1D8A19A-C3EA-47D4-8D3F-BE1260F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93008"/>
            <a:ext cx="5166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→ K 波段 OMB 厚尾 → OMB std −49%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52718063-675C-45E4-9160-C60B9E5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23360"/>
            <a:ext cx="91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26A6337-F95C-4A7F-9821-1AA97B6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23360"/>
            <a:ext cx="5440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6350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AF18207-8831-4C28-A68A-B1C2146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07822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IR_Temperature 入模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A87AFE-D9F1-416F-8A08-2110FB8B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407408"/>
            <a:ext cx="5166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→ 引入红外测温作为辅助特征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F4216B0E-0EEC-473B-A673-C6E1644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023360"/>
            <a:ext cx="914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4C6B61BD-CA92-4FFD-B2FA-AD3FD96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23360"/>
            <a:ext cx="5440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6350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9E0CC9D-6E5C-41B4-B4E7-31ABEBA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7822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按 Profile_Index 分组划分（非时间划分）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717582C-A767-4853-A642-D5FC9219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07408"/>
            <a:ext cx="5166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→ 同一廓线重复观测~5.6 次，杜绝数据泄露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53BA70A-4621-469B-B7EC-3C06043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06440"/>
            <a:ext cx="111282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C"/>
          </a:solidFill>
          <a:ln xmlns:a="http://schemas.openxmlformats.org/drawingml/2006/main" w="952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89F94DC-BDB1-48EE-A323-E097F94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核心结论：v3 证实 Sim→Obs domain gap 退化 3.7×，故 v4 改为 Obs_BT 直接训练，成为当前最优统计反演模型。</a:t>
            </a:r>
          </a:p>
        </p:txBody>
      </p:sp>
      <p:pic>
        <p:nvPicPr>
          <p:cNvPr id="9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59aafc896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9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773f7b6c4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534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4c8a8050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3211F47-A0A1-45A2-B239-2A73AE6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1377C18-546A-4AA4-A8D7-AF033A9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AAC60AE-7A7B-4317-A04B-29C13D9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CCDCFA-55C2-4FFC-B50C-2960920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E5CA581-DB1E-4883-A57A-58045731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F2D9CDF1-DA5E-43CD-ADEF-822CD866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934EEAD-6E70-48B6-8396-F53F9C6E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6D92D6-1835-4A7D-AA82-0959399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0FE5F9-4559-43AD-B4AF-F74BAA1C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290189-3120-489E-9E56-EEDB7DE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BRNN v4 反演结果与迭代历程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15D0A18-647E-472F-991E-2A44A26C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610162F-CAF9-473E-9FF8-448FDD0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316F8F2-9B57-46DB-9C5E-33EFBE42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4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89F8758-79E0-4D20-90F5-517897D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4FC256-A430-4C18-B665-F9E9D33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3877056" cy="297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核心指标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（天津站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数据）</a:t>
            </a:r>
          </a:p>
        </p:txBody>
      </p:sp>
      <p:graphicFrame>
        <p:nvGraphicFramePr>
          <p:cNvPr id="66" name="Table 27"/>
          <p:cNvGraphicFramePr/>
          <p:nvPr/>
        </p:nvGraphicFramePr>
        <p:xfrm>
          <a:off xmlns:a="http://schemas.openxmlformats.org/drawingml/2006/main" x="530352" y="1554480"/>
          <a:ext xmlns:a="http://schemas.openxmlformats.org/drawingml/2006/main" cx="3977638" cy="141732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354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v4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论文基准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RMSE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1.26 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&lt;1.5 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RMSE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&lt;13%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推理速度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~0.5 ms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BC528E0-F86D-4439-A1E4-CD625EE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7296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4D2F4D-7338-4347-A086-4512756E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54680"/>
            <a:ext cx="3877056" cy="297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分层精度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（天津站</a:t>
            </a: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数据）</a:t>
            </a:r>
          </a:p>
        </p:txBody>
      </p:sp>
      <p:graphicFrame>
        <p:nvGraphicFramePr>
          <p:cNvPr id="69" name="Table 30"/>
          <p:cNvGraphicFramePr/>
          <p:nvPr/>
        </p:nvGraphicFramePr>
        <p:xfrm>
          <a:off xmlns:a="http://schemas.openxmlformats.org/drawingml/2006/main" x="530352" y="3520440"/>
          <a:ext xmlns:a="http://schemas.openxmlformats.org/drawingml/2006/main" cx="3977638" cy="178308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445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高度区间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0–0.5 km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 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2–8 km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1.30 K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9.50%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5–10 km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1.50 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6FDECE6-8BB5-4E37-9B0B-B98F151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440680"/>
            <a:ext cx="4023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9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近地层精度最优；高空信息量下降，与 MWR 垂直分辨能力一致。</a:t>
            </a:r>
          </a:p>
        </p:txBody>
      </p:sp>
      <p:pic>
        <p:nvPicPr>
          <p:cNvPr id="71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f45205297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8279" y="1234440"/>
            <a:ext cx="2587840" cy="2286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847242F-6EF5-42E1-BE42-815238C8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66160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图1  温度散点（v4）</a:t>
            </a:r>
          </a:p>
        </p:txBody>
      </p:sp>
      <p:pic>
        <p:nvPicPr>
          <p:cNvPr id="73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d667b92e0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2236" y="1234440"/>
            <a:ext cx="3452247" cy="2286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A54040-7936-43F4-AC8E-0D9FB78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566160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图2  相对湿度误差廓线</a:t>
            </a:r>
          </a:p>
        </p:txBody>
      </p:sp>
      <p:pic>
        <p:nvPicPr>
          <p:cNvPr id="75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93aa58979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067822"/>
            <a:ext cx="2834640" cy="1877034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A4B28CF-2211-4C8A-B618-32212643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6172200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图3  温度误差廓线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6E0A457-3F4B-4D22-96FB-4EDABF56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904487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C637021-C1A4-495C-991C-B54233E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886200"/>
            <a:ext cx="36941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六轮迭代关键决策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40BB362-3444-4564-A5FF-716529BF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4224528"/>
            <a:ext cx="3749039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▸ Obs_BT 直接训练（v4）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9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  v3 证明 Sim→Obs 退化 3.7×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▸ 6 个独立 BRNN 而非单一多输出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9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  各高度段物理特性差异大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▸ 廓线分组划分而非时间划分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9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  同廓线重复观测~5.6次，必须防泄露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▸ Winsorize 回归订正而非 OLS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95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  K 波段 OMB 厚尾分布</a:t>
            </a:r>
          </a:p>
        </p:txBody>
      </p:sp>
      <p:pic>
        <p:nvPicPr>
          <p:cNvPr id="8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adcf826d5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8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e4ce1494247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640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917ad731e48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ADA8F7D-410D-4862-B5DC-86F2EC4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1E43A8A-BF75-4145-AB0F-653C6D0F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EBA0D7-55FA-466C-9FF3-64C1AA34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E580CD-B3F6-41DD-89A9-CA7EFAF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6E670BF-E506-4BC0-83D0-0E373FA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3EF2B35C-F71B-4DC0-A986-D1940E0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77C9F930-E29B-410C-A70B-461A9DC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139234-B899-40A8-B851-A3748ED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9578774-5352-4608-93C2-19935B8C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8B4D2FE-C4FE-4E74-B301-66CF1EC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OEM 物理反演框架与实验结果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093E7F3-3B85-4815-8EED-5AEA402D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E42A2F5-B38D-4A1E-8403-2EF1507A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51F10F7-498C-4B59-B1F7-441A1568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5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C54B67-2768-4F74-8BF7-E798748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747D62A-9565-4EE9-B6F0-02C1355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11009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最优估计 (OEM / 1D-Var) 目标函数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76D5416-D9DF-46A8-BA27-D845797A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72768"/>
            <a:ext cx="1112824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97764C3-9A33-4F95-8577-E6E7E354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72768"/>
            <a:ext cx="11128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J(x) = (x−xₐ)ᵀ Sₐ⁻¹ (x−xₐ)  +  (y−H(x))ᵀ Sₑ⁻¹ (y−H(x))</a:t>
            </a:r>
          </a:p>
        </p:txBody>
      </p:sp>
      <p:graphicFrame>
        <p:nvGraphicFramePr>
          <p:cNvPr id="65" name="Table 29"/>
          <p:cNvGraphicFramePr/>
          <p:nvPr/>
        </p:nvGraphicFramePr>
        <p:xfrm>
          <a:off xmlns:a="http://schemas.openxmlformats.org/drawingml/2006/main" x="530352" y="2212975"/>
          <a:ext xmlns:a="http://schemas.openxmlformats.org/drawingml/2006/main" cx="6492240" cy="2743195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011680"/>
                <a:gridCol w="3566160"/>
              </a:tblGrid>
              <a:tr h="391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当前实现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状态向量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14d T7+RH7（→ 21d 含 LWC）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xₐ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背景场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ERA5 扰动（→ BRNN first guess）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背景误差协方差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指数相关 / v4-derived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观测亮温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synthetic / MonoRTM / Obs_BT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H(x)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前向模型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ARTS 接口；MonoRTM 基线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Sₑ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观测误差协方差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K-band 1.5K, V-band 0.5K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D37C220-03E7-4CEA-88D7-F14C7C6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86000"/>
            <a:ext cx="44805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3FFF96D-7CFE-4E2B-997F-4701489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615184"/>
            <a:ext cx="4480560" cy="1911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1BE6FB8-EC2E-4901-A17D-9438D1F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286000"/>
            <a:ext cx="4297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▍ 已实现的 OEM 能力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12E1843-1D52-4642-AFAD-A8C6C8A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2670048"/>
            <a:ext cx="4224528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LM / Gauss-Newton 求解器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有限差分 Jacobian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状态向量打包/解包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Averaging kernel / DOFS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后验协方差诊断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self-consistent 闭环验证</a:t>
            </a:r>
          </a:p>
        </p:txBody>
      </p:sp>
      <p:graphicFrame>
        <p:nvGraphicFramePr>
          <p:cNvPr id="70" name="Table 36"/>
          <p:cNvGraphicFramePr/>
          <p:nvPr/>
        </p:nvGraphicFramePr>
        <p:xfrm>
          <a:off xmlns:a="http://schemas.openxmlformats.org/drawingml/2006/main" x="530352" y="5074920"/>
          <a:ext xmlns:a="http://schemas.openxmlformats.org/drawingml/2006/main" cx="6492240" cy="128016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54480"/>
                <a:gridCol w="14630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MonoRTM n=100 基线实验</a:t>
                      </a:r>
                    </a:p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DOFS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Self-consistent n=20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2.64→1.95K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6.43→6.06%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Forward-mismatch n=20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→27.0K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7.59→7.22%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2.21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MonoRTM self-cons n=100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2.64→2.02K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6.49→6.20%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1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757fc9208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6060" y="4544695"/>
            <a:ext cx="3144520" cy="151638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F02F53D-18D5-45AF-8876-45479CA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6053328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图4  Prior→Posterior RMSE 廓线</a:t>
            </a:r>
          </a:p>
        </p:txBody>
      </p:sp>
      <p:pic>
        <p:nvPicPr>
          <p:cNvPr id="7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4dac7fd25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7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13f263d04f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782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d5bf62644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4B05BB-8070-46A5-B13D-A421F99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08B394C-7396-4B28-93A1-E639029F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15D8A90-D705-4F33-80E2-0E3CBAB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4AA1174-76E2-451E-9B35-061060E1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529AA36-0C57-49BE-AE74-E604A35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9F9D787C-3E5E-459A-92D2-382D0C0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F2F90EF-1196-4226-8A6C-F073AA0C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89D30-01D1-43F2-A168-6B47044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D5772D-9D21-4897-8854-5B9F342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435E552-4508-421F-84C9-D6C4EA9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ARTS 前向模型与垂直信息量诊断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6257DBE-A188-4EAE-8A25-A551C77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F53CCD-82F4-43CB-A216-B3853464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A675E65-5278-450B-B772-58D4FF29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6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890F0B4-DDD7-4241-AF12-7DCAF2AE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88720"/>
            <a:ext cx="5440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7785CF-6CD4-4ACD-B9AD-994983F7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17904"/>
            <a:ext cx="5440680" cy="1453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61732B9-A614-4697-A53D-507258F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▍ 前向模型主线切换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25780EC-4878-419E-B53D-D9C2989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5184648" cy="725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ARTS 设为默认前向接口。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支持成都 21 通道；WSL pyarts clear-sky runner 已跑通。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MonoRTM 保留为历史基线，用于交叉验证。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F5E79AE-A0FF-4592-B85C-F6B39B2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188720"/>
            <a:ext cx="545896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6B841AB-D266-4680-B2AC-3ECD005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517904"/>
            <a:ext cx="5458968" cy="1453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9E2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C06518A-E6C7-418D-8975-E9A70D2E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276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▍ 关键诊断结论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AEA92C9-3B2E-4BCF-83A2-AF07A20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72768"/>
            <a:ext cx="5202936" cy="1362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OEM 改善集中在 0-2km 近地层；5-10km T 反演几乎完全依赖先验。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DOFS 仅 2.2/14 → 高空信息量极低，是核心瓶颈。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需通过多仰角观测 / 高频通道 / 更优 Sₐ 提升信息量。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C169461-B419-4020-9F70-94EDFB0F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7296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22A768-909C-4C63-A435-3753B67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54680"/>
            <a:ext cx="5294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BRNN v4 vs OEM 分层精度</a:t>
            </a:r>
          </a:p>
        </p:txBody>
      </p:sp>
      <p:graphicFrame>
        <p:nvGraphicFramePr>
          <p:cNvPr id="73" name="Table 35"/>
          <p:cNvGraphicFramePr/>
          <p:nvPr/>
        </p:nvGraphicFramePr>
        <p:xfrm>
          <a:off xmlns:a="http://schemas.openxmlformats.org/drawingml/2006/main" x="530352" y="3520440"/>
          <a:ext xmlns:a="http://schemas.openxmlformats.org/drawingml/2006/main" cx="5440680" cy="155448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57400"/>
              </a:tblGrid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高度区间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BRNN v4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OEM ΔT / ΔRH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0–0.5 km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T1.09K RH5.78%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+0.42K / +0.67%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2–8 km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T1.30K RH9.50%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+0.07K / +0.28%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5–10 km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T1.50K RH10.31%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−0.01K / +0.10%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CDC06C3-DEBF-4FA8-AAE9-2CD7022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27608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9F817B8-34E3-4B78-8982-2B9C4E32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257800"/>
            <a:ext cx="52943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Sₐ 与状态降维探索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408E4CC-28BF-43CF-9D6A-17B0C76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5303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v4-derived Sₐ (14×14) 已生成；T 改善 +22%。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EOF/PCA：T/RH 各 5 EOF，基础就绪，10d 版本待优化。</a:t>
            </a:r>
          </a:p>
        </p:txBody>
      </p:sp>
      <p:pic>
        <p:nvPicPr>
          <p:cNvPr id="77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ad06ceb56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5250" y="3465830"/>
            <a:ext cx="4411345" cy="189103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E59AF3B-F23C-4F74-A96F-6DE7AEA0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95" y="5691505"/>
            <a:ext cx="269748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  Sₐ 对比（指数 vs v4）</a:t>
            </a:r>
          </a:p>
        </p:txBody>
      </p:sp>
      <p:pic>
        <p:nvPicPr>
          <p:cNvPr id="7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2e85b7d2b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8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d284de3a6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349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64f2a7c0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9D6DCDB-868A-4473-96C4-732ADB64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ABEA07B-3E17-4402-B725-956A5797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E34E401-9652-42A8-BCC7-0BD37B8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512DB2-BD57-412C-8B35-5188F97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D9231CC-D58B-4904-ABA2-8F969E6B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FEB5C448-D5DA-4E8F-B8B6-01C4317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E64F703-D6A3-4302-BF27-02641676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6EA5DC-CA2B-40F8-A104-70F47342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83CFBA-0DF2-479F-AFBE-3FCC7B5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CDC1C65-4F38-49B1-AFC6-703AD20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成都真实数据验证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054AAD9-58D1-4531-A3C3-3EDC354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77F278-A8A7-43FB-B0AC-CE5F9C2C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02A37CC-34CA-48BB-ABAC-591AE448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7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640D24E-9170-4757-8C7F-3A6398F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992125A-7D27-400A-B2AC-283A0712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5340096" cy="297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链路：21 通道实测亮温 + ERA5 精确小时标签</a:t>
            </a:r>
          </a:p>
        </p:txBody>
      </p:sp>
      <p:graphicFrame>
        <p:nvGraphicFramePr>
          <p:cNvPr id="60" name="Table 27"/>
          <p:cNvGraphicFramePr/>
          <p:nvPr/>
        </p:nvGraphicFramePr>
        <p:xfrm>
          <a:off xmlns:a="http://schemas.openxmlformats.org/drawingml/2006/main" x="530352" y="1554480"/>
          <a:ext xmlns:a="http://schemas.openxmlformats.org/drawingml/2006/main" cx="5486400" cy="155448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2928"/>
                <a:gridCol w="2633472"/>
              </a:tblGrid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数据集划分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样本/天数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实测亮温总记录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 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ERA5 同 UTC 配对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139 条 / 16 天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Train / Val / Test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 / 22 / 48 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E628962-41E4-4866-AF5A-4B30E99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644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470080F-A83C-44A5-AC97-2330AAEA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246120"/>
            <a:ext cx="5340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当前最佳 Hybrid（ERA5 测试集）</a:t>
            </a:r>
          </a:p>
        </p:txBody>
      </p:sp>
      <p:graphicFrame>
        <p:nvGraphicFramePr>
          <p:cNvPr id="63" name="Table 30"/>
          <p:cNvGraphicFramePr/>
          <p:nvPr/>
        </p:nvGraphicFramePr>
        <p:xfrm>
          <a:off xmlns:a="http://schemas.openxmlformats.org/drawingml/2006/main" x="530352" y="3611880"/>
          <a:ext xmlns:a="http://schemas.openxmlformats.org/drawingml/2006/main" cx="5486399" cy="1280157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19"/>
                <a:gridCol w="1371600"/>
                <a:gridCol w="1554480"/>
              </a:tblGrid>
              <a:tr h="42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变量 / 方法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相对气候态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· Ridge+5EOF (21ch)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1.479 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改善 35.2%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· BRNN 4-seed 集成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20.966%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改善 13.1%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51B9CB8-FD05-4FF9-9591-57A5F54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029200"/>
            <a:ext cx="5486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T=Ridge/EOF 更适合小样本；RH=BRNN 集成更适合非线性映射。在当前 48 条测试样本上，T/RH 同时优于气候态基线。</a:t>
            </a:r>
          </a:p>
        </p:txBody>
      </p:sp>
      <p:pic>
        <p:nvPicPr>
          <p:cNvPr id="65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7602fda9d47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0396" y="1280160"/>
            <a:ext cx="4532886" cy="233172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6DD6620-3EA0-4AED-9FCD-1BE2940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39312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图8  成都 21ch Hybrid 预测散点（T/RH）</a:t>
            </a:r>
          </a:p>
        </p:txBody>
      </p:sp>
      <p:pic>
        <p:nvPicPr>
          <p:cNvPr id="67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78080e105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4007700"/>
            <a:ext cx="5486400" cy="2042998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8CC8E16-7B99-49B5-BBF4-92C7662D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108192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图9  分高度误差（各通道组/模型对比）</a:t>
            </a:r>
          </a:p>
        </p:txBody>
      </p:sp>
      <p:pic>
        <p:nvPicPr>
          <p:cNvPr id="6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1c872591c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7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83767667644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02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7437b1f374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C60159B-A832-45B9-9E82-72A7808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0DD3E9-AB7A-4666-B9D0-E89F061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020DE3-2347-4A27-A9F3-F9F8A0F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3D8F21-8302-4FCC-9E42-2DCF741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4FE61E-2ABC-47D4-B70D-255E78C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C4417C9-3A68-4C19-9D0F-C8D98FE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28124E6-BF1F-4774-BAF6-8626CDE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352A5-1457-4FEB-A0ED-AD0D1EA8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565D876-8443-48A3-94E5-3548A30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712C93-F065-4040-AA2B-5D8E78B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成都真实数据验证（二）：物理 48 层 + 温江探空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2F4FBE-A47C-4BEA-8C44-C4D2905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58F608D-663E-4E4E-97B1-7CBC98E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CF20F21-8C6E-4B2C-8909-4CB8BB2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8 / 9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1970B37-24DD-4BA9-84AE-C419F47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00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8AB2B32-DA21-4B84-B14C-762AF9A8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88720"/>
            <a:ext cx="63459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改进：48 点 → 真正的 48 物理层 + 层平均保守映射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D1FFD5-4773-468C-B13B-D6059E8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63550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层定义：0-500m×1 + 500-2000m/100m×15 + 2000-10000m/250m×32 = 48 层。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地下气压层过滤（站点海拔 548m，均删 ~2.7 层）；T/log(q)/log(P) 层平均后重算 RH。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5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● 选择性偏差订正：T 用低自由度校准订正；验证需保持样本独立。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54CA0C2-A13F-402D-95C4-CBE0DCD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944368"/>
            <a:ext cx="82296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669FDBF-51B7-4688-B1C9-6AA2DAC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926080"/>
            <a:ext cx="63459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4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▍ 温江探空外部对照（6 份探空，1-2h 时间差）</a:t>
            </a:r>
          </a:p>
        </p:txBody>
      </p:sp>
      <p:graphicFrame>
        <p:nvGraphicFramePr>
          <p:cNvPr id="62" name="Table 30"/>
          <p:cNvGraphicFramePr/>
          <p:nvPr/>
        </p:nvGraphicFramePr>
        <p:xfrm>
          <a:off xmlns:a="http://schemas.openxmlformats.org/drawingml/2006/main" x="530352" y="3291840"/>
          <a:ext xmlns:a="http://schemas.openxmlformats.org/drawingml/2006/main" cx="6492237" cy="178308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591"/>
                <a:gridCol w="1140528"/>
                <a:gridCol w="1052795"/>
                <a:gridCol w="1140528"/>
                <a:gridCol w="1052795"/>
              </a:tblGrid>
              <a:tr h="445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Bias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RMSE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RH Bias</a:t>
                      </a: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 93 层（层平均）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1.730K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+0.998K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23.685%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−8.075%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优化物理 48 层 ★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1.532K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+0.250K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23.754%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−7.502%</a:t>
                      </a: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 48 点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1.561K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+0.243K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25.260%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22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−9.867%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1864AE9-C7FC-44ED-9973-FD1BBFA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166360"/>
            <a:ext cx="6492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相对原 93 层：T RMSE −11.4%、|Bias| −75%；湿度持平。新基线物理含义更清晰。瓶颈：5-8km 湿度 RMSE&gt;32%（高空信息量不足）。</a:t>
            </a:r>
          </a:p>
        </p:txBody>
      </p:sp>
      <p:pic>
        <p:nvPicPr>
          <p:cNvPr id="64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16f38e12e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6971" y="1234440"/>
            <a:ext cx="3322697" cy="237744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864FC06-5458-4D2E-9973-8FF1A151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39312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图10  探空独立验证廓线对比</a:t>
            </a:r>
          </a:p>
        </p:txBody>
      </p:sp>
      <p:pic>
        <p:nvPicPr>
          <p:cNvPr id="66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91b22564d42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8040" y="4223591"/>
            <a:ext cx="4480560" cy="1611216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CD6E6"/>
            </a:solidFill>
          </a:ln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8E428A0-70D2-4378-9A69-9B0F54C8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6144768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9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图11  分高度误差（探空验证）</a:t>
            </a:r>
          </a:p>
        </p:txBody>
      </p:sp>
      <p:pic>
        <p:nvPicPr>
          <p:cNvPr id="6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492db19d44a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6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b594ad25d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91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5ed8c956d47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C60159B-A832-45B9-9E82-72A7808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0DD3E9-AB7A-4666-B9D0-E89F061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020DE3-2347-4A27-A9F3-F9F8A0F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3D8F21-8302-4FCC-9E42-2DCF741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4FE61E-2ABC-47D4-B70D-255E78C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C4417C9-3A68-4C19-9D0F-C8D98FE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28124E6-BF1F-4774-BAF6-8626CDE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352A5-1457-4FEB-A0ED-AD0D1EA8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565D876-8443-48A3-94E5-3548A30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712C93-F065-4040-AA2B-5D8E78B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BRNN 具体流程图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2F4FBE-A47C-4BEA-8C44-C4D2905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58F608D-663E-4E4E-97B1-7CBC98E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CF20F21-8C6E-4B2C-8909-4CB8BB2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>
                <a:solidFill>
                  <a:srgbClr val="314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476B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pic>
        <p:nvPicPr>
          <p:cNvPr id="9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2fb5c1ba64b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9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2a92c53d24e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57B726-99B3-4909-92D4-637A02D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88720"/>
            <a:ext cx="533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D4C40A-08B5-429D-B2F3-FD4F04CB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8872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6"/>
          </a:solidFill>
          <a:ln xmlns:a="http://schemas.openxmlformats.org/drawingml/2006/main" w="9525">
            <a:solidFill>
              <a:srgbClr val="2F6EB6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数据输入与样本构建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C7D012-011E-495F-A254-4B594B73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" y="156972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输入：21 通道 Obs_BT + 地面温度 / 湿度 / 气压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处理：质量控制、归一化、时间配准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划分：按日期分 train / val / test，避免泄漏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5C6329-5320-46C1-B3C4-E58313C5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88720"/>
            <a:ext cx="544068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8835EB-D892-4679-A33B-B6EDFCB6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88720"/>
            <a:ext cx="54406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A2A"/>
          </a:solidFill>
          <a:ln xmlns:a="http://schemas.openxmlformats.org/drawingml/2006/main" w="9525">
            <a:solidFill>
              <a:srgbClr val="C23A2A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网络输出与训练目标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FEDDBC-DE42-433E-ACEA-4B942288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9720"/>
            <a:ext cx="525018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6 个独立 BRNN 子网：T / RH × 0–2 km、2–8 km、8–10 km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输出为分层 T/RH 廓线，再做边界层拼接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评价指标：RMSE、Bias、推理耗时与稳定性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645BF6-645A-427E-B296-5EEB403A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81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F80"/>
                </a:solidFill>
                <a:latin typeface="Microsoft YaHei"/>
                <a:ea typeface="Microsoft YaHei"/>
                <a:cs typeface="Microsoft YaHei"/>
              </a:rPr>
              <a:t>▍ BRNN 训练与推理流程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C0D5E2-03BB-4AD4-9C87-7B54A29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E0FA8-0664-4103-BDBB-891DD29D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1 原始观测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09A8D4-CA20-4F44-8B29-9BBF0FFF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21 通道亮温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辅助特征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4DEB87-7AAB-4993-B094-DFB9324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8E54F3-9B20-4BAA-BFF1-F1E5A5DD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2 质量控制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802AD-5A61-4CC9-94FD-7E53E5F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去异常值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时间对齐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4F293D-4C19-4A4E-B790-7AA14318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621DB9-B0C5-4AF1-ADC2-57B0B66F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3 高度切片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97466E-3ECF-4BEE-98A3-216D81D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0–2 / 2–8 / 8–10 km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分段样本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F3AC32-9D1C-40B1-A4DE-9A5985B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A1F637-F40E-4FE7-A7E5-77236FF3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4 BRNN 训练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4E32AA-675E-4017-8FDC-F3238689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T / RH 分段学习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6 个子网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ADD90B-620B-41F1-B7A7-0121FF9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33B1F2-9C86-4F2D-AC2B-7209D7B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5 段间拼接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737D2D-77F7-43FC-B273-9392772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边界层重叠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结果融合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820D75-947B-4F0E-A395-FEF8238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6287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01BC44-A567-4498-AF90-0E063902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6 输出评估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426B16-9721-4E73-B5F3-5575E92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T / RH 廓线</a:t>
            </a:r>
          </a:p>
          <a:p xmlns:a="http://schemas.openxmlformats.org/drawingml/2006/main">
            <a:pPr algn="ctr">
              <a:def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RMSE / Bias / 时延</a:t>
            </a:r>
          </a:p>
        </p:txBody>
      </p:sp>
      <p:cxnSp>
        <p:nvCxnSpPr>
          <p:cNvPr id="117" name=""/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200275" y="3981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18" name=""/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3990975" y="3981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19" name=""/>
          <p:cNvCxnSpPr>
            <a:stCxn xmlns:a="http://schemas.openxmlformats.org/drawingml/2006/main" id="56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781675" y="3981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5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572375" y="3981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62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9363075" y="3981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1C9036-3EDF-4967-A73D-54386026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429250"/>
            <a:ext cx="10839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3588CD-0001-4EC1-B02E-047D958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429250"/>
            <a:ext cx="10839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6"/>
          </a:solidFill>
          <a:ln xmlns:a="http://schemas.openxmlformats.org/drawingml/2006/main" w="9525">
            <a:solidFill>
              <a:srgbClr val="2F6EB6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关键特点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6A3B94-F8C5-4347-BBAD-FA62BCF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" y="58102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分高度段独立建模，减少跨层非线性干扰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训练和推理保持同一套 21 通道输入；输出按高度段拼接后形成完整廓线</a:t>
            </a:r>
          </a:p>
        </p:txBody>
      </p:sp>
    </p:spTree>
    <p:extLst>
      <p:ext uri="{BB962C8B-B14F-4D97-AF65-F5344CB8AC3E}">
        <p14:creationId xmlns:p14="http://schemas.microsoft.com/office/powerpoint/2010/main" val="971991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e077e72904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C60159B-A832-45B9-9E82-72A7808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0DD3E9-AB7A-4666-B9D0-E89F061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020DE3-2347-4A27-A9F3-F9F8A0F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3D8F21-8302-4FCC-9E42-2DCF741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4FE61E-2ABC-47D4-B70D-255E78C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C4417C9-3A68-4C19-9D0F-C8D98FE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28124E6-BF1F-4774-BAF6-8626CDE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352A5-1457-4FEB-A0ED-AD0D1EA8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565D876-8443-48A3-94E5-3548A30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712C93-F065-4040-AA2B-5D8E78B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18872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OEM 框架流程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2F4FBE-A47C-4BEA-8C44-C4D2905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58F608D-663E-4E4E-97B1-7CBC98E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CF20F21-8C6E-4B2C-8909-4CB8BB2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>
                <a:solidFill>
                  <a:srgbClr val="314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476B"/>
                </a:solidFill>
                <a:latin typeface="Microsoft YaHei"/>
                <a:ea typeface="Microsoft YaHei"/>
                <a:cs typeface="Microsoft YaHei"/>
              </a:rPr>
              <a:t>10 / 9</a:t>
            </a:r>
          </a:p>
        </p:txBody>
      </p:sp>
      <p:pic>
        <p:nvPicPr>
          <p:cNvPr id="9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72079eed7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26" y="188132"/>
            <a:ext cx="744705" cy="744705"/>
          </a:xfrm>
          <a:prstGeom xmlns:a="http://schemas.openxmlformats.org/drawingml/2006/main" prst="rect">
            <a:avLst/>
          </a:prstGeom>
        </p:spPr>
      </p:pic>
      <p:pic>
        <p:nvPicPr>
          <p:cNvPr id="9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eabb5e1ac4e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018" y="249171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FBDC77-FAF8-46E6-8CE3-17C2F905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0777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F80"/>
                </a:solidFill>
                <a:latin typeface="Microsoft YaHei"/>
                <a:ea typeface="Microsoft YaHei"/>
                <a:cs typeface="Microsoft YaHei"/>
              </a:rPr>
              <a:t>▍ OEM 框架流程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C93DF-8B9D-4390-853D-EBBCE0B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72768"/>
            <a:ext cx="1112824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8"/>
          </a:solidFill>
          <a:ln xmlns:a="http://schemas.openxmlformats.org/drawingml/2006/main" w="9525">
            <a:solidFill>
              <a:srgbClr val="203B6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J(x) = (x−xₐ)ᵀ Sₐ⁻¹ (x−xₐ)  +  (y−H(x))ᵀ Sₑ⁻¹ (y−H(x))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F6A217-C26E-4C80-960B-625A274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86000"/>
            <a:ext cx="5810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BEAF75-8B35-49C5-B99A-2BD48C9A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860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6"/>
          </a:solidFill>
          <a:ln xmlns:a="http://schemas.openxmlformats.org/drawingml/2006/main" w="9525">
            <a:solidFill>
              <a:srgbClr val="2F6EB6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反演迭代流程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478F4F-B880-422C-9AE3-9D451EE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" y="2667000"/>
            <a:ext cx="56197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3B0975-09DE-48F3-9512-FDEF6D4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86000"/>
            <a:ext cx="5181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17E011-02B1-48AA-BB90-023871E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86000"/>
            <a:ext cx="518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B6"/>
          </a:solidFill>
          <a:ln xmlns:a="http://schemas.openxmlformats.org/drawingml/2006/main" w="9525">
            <a:solidFill>
              <a:srgbClr val="2F6EB6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关键参数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EC8451-8F56-42A9-B173-C5FC418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499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x：待估计状态向量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xₐ：先验 / 背景场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y：观测亮温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H(x)：ARTS / MonoRTM 前向模型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B37E08-3C47-4C53-B5D4-AF9D2A41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43375"/>
            <a:ext cx="5181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B4C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AB60A7-7DED-4018-A539-EFEA662E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43375"/>
            <a:ext cx="518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A2A"/>
          </a:solidFill>
          <a:ln xmlns:a="http://schemas.openxmlformats.org/drawingml/2006/main" w="9525">
            <a:solidFill>
              <a:srgbClr val="C23A2A"/>
            </a:solidFill>
            <a:prstDash val="solid"/>
          </a:ln>
        </p:spPr>
        <p:txBody>
          <a:bodyPr xmlns:a="http://schemas.openxmlformats.org/drawingml/2006/main" lIns="9525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▍ 已实现能力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CA19F6-EBE0-471A-AD16-82EEF4A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24375"/>
            <a:ext cx="499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LM / Gauss-Newton 求解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有限差分 Jacobian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Averaging kernel / DOFS</a:t>
            </a:r>
          </a:p>
          <a:p xmlns:a="http://schemas.openxmlformats.org/drawingml/2006/main">
            <a:pPr algn="l">
              <a:def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● 后验协方差与闭环验证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CFC2FC-5C32-4E3C-BF22-17356D3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CEB041-EA6A-4A87-A846-94F4473B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1 输入先验与观测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0BEED6-153E-44BA-8962-320C828A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xₐ, Sₐ, y, Sₑ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F906B4-7D78-4AA6-B9E8-A627A9CF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8A4215-DC85-46E9-AC7C-7F1FBAF2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2 前向模拟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457A45-EF6F-4A53-944B-4B5A646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H(xᵢ) 生成模拟亮温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D72591-3CE8-400E-B26D-1BBBD819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C7ADAC-E3C7-4AC5-9F3B-272877C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3 残差与目标函数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8DEEFE-80C0-426E-BBCA-8FC72D3A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y−H(xᵢ) → J(x)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878641-C2E6-4F43-A3DE-340CA20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F2DAF4-3534-43D8-BDD3-DE2CF916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4 Jacobian 与更新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769743-A799-41F7-B282-0C08556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K = ∂H/∂x，LM / GN 步进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E7C2A8-8B97-40CC-A84C-2C193D5F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145590-5BC2-4E36-B706-12C948D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5 收敛判断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C0DD96-303B-4CD4-93E9-4FB83812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Δx、ΔJ、迭代上限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144784-6B39-45C9-AAF6-C072B561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523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3335">
            <a:solidFill>
              <a:srgbClr val="1F4F8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505750-0B0A-4820-8194-4567BAA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3A63"/>
                </a:solidFill>
                <a:latin typeface="Microsoft YaHei"/>
                <a:ea typeface="Microsoft YaHei"/>
                <a:cs typeface="Microsoft YaHei"/>
              </a:rPr>
              <a:t>6 后验输出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F79002-DBB7-4975-8F70-4FD5380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324255"/>
                </a:solidFill>
                <a:latin typeface="Microsoft YaHei"/>
                <a:ea typeface="Microsoft YaHei"/>
                <a:cs typeface="Microsoft YaHei"/>
              </a:rPr>
              <a:t>x̂, Ŝ, AK, DOFS</a:t>
            </a:r>
          </a:p>
        </p:txBody>
      </p:sp>
      <p:cxnSp>
        <p:nvCxnSpPr>
          <p:cNvPr id="123" name=""/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381375" y="3219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57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381375" y="3771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60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3381375" y="4324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63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3381375" y="48768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66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3381375" y="5429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2525"/>
            </a:solidFill>
            <a:prstDash val="solid"/>
            <a:tailEnd type="arrow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6624E6-1E54-4A01-9106-8300A37E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6076950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5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6566F"/>
                </a:solidFill>
                <a:latin typeface="Microsoft YaHei"/>
                <a:ea typeface="Microsoft YaHei"/>
                <a:cs typeface="Microsoft YaHei"/>
              </a:rPr>
              <a:t>当前实现：ARTS 为默认 H(x)，MonoRTM 保留为基线；n=100 self-consistent 证明求解器链路可用。</a:t>
            </a:r>
          </a:p>
        </p:txBody>
      </p:sp>
    </p:spTree>
    <p:extLst>
      <p:ext uri="{BB962C8B-B14F-4D97-AF65-F5344CB8AC3E}">
        <p14:creationId xmlns:p14="http://schemas.microsoft.com/office/powerpoint/2010/main" val="9719910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FA8375-B2DD-4ED4-8E22-7DE021D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6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9445AD-0D7C-4F9C-BD65-1C3C63B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88952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D1C7FA-7382-4861-90EB-704D9C0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B06C44-327F-4868-8357-632FD67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00800"/>
            <a:ext cx="11128248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A0FBC3-6832-4DC0-9B46-A0CE1D5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556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地基微波辐射计大气温湿廓线反演  ·  西电空间院期末汇报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3A0878-3705-4C09-9450-9AFB853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55664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8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— / —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D8F0DDF-74ED-4F6D-805C-F03EAA3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C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A65125-E4B6-46BC-9D7D-3985427C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E0A3F9-131D-4358-8FFA-5EFC244B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0"/>
            <a:ext cx="1024128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BRNN 统计反演已达基准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4D0E2E-1462-44C5-83BF-5621D14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v4 实现 T=1.26K、RH=7.76%，六轮迭代明确了 Obs_BT 直接训练、廓线分组防泄露、Winsorize 订正等关键决策。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CAFBBCD7-7F48-4EB7-AE84-EF26A18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98648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256E298-A328-418F-A654-B22EC0E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98648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C86393-822B-46DC-AE62-58D008CA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2928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OEM 物理反演框架闭环完成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B20A87-A946-464C-AF02-AE24A3F3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4408"/>
            <a:ext cx="1024128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ARTS 切换为默认前向接口；MonoRTM n=100 self-consistent 基线 T=2.02K、DOFS=2.21、收敛 99%，并完成 AK/后验诊断。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1BC6D98-0585-4E7E-AD87-19984ED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05656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6F133B-C76F-4CC4-85D5-09A23467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05656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64DE6B5-8173-4ABF-8E9A-3F1ECDD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9936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成都真实数据链路打通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B7C6B8-6DC1-4450-856C-996BB0A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1416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00" b="0">
                <a:solidFill>
                  <a:srgbClr val="222B3A"/>
                </a:solidFill>
                <a:latin typeface="微软雅黑"/>
                <a:ea typeface="微软雅黑"/>
                <a:cs typeface="微软雅黑"/>
              </a:rPr>
              <a:t>21 通道实测亮温 + ERA5 精确配对在当前测试集上实现 T/RH 同优于气候态；物理 48 层经温江探空外部对照确立为新基线。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D2638C7-8B8D-4000-8BF0-45EE914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1109167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E6CB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50B1AF5-1223-4EAC-93C0-AE8E4BB3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5628"/>
            <a:ext cx="10698480" cy="530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下一阶段重心：从「 OEM</a:t>
            </a: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验证</a:t>
            </a: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」转向提升真实物理可信度与工程可扩展性 —— ARTS baseline、数据湖谱系闭环、Sₐ/状态向量优化、NN surrogate 加速与云天 OEM。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FEF8A5-96EF-4F57-9025-53291EC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100" b="0">
                <a:solidFill>
                  <a:srgbClr val="555F6D"/>
                </a:solidFill>
                <a:latin typeface="微软雅黑"/>
                <a:ea typeface="微软雅黑"/>
                <a:cs typeface="微软雅黑"/>
              </a:rPr>
              <a:t>感谢聆听  ·  欢迎指正</a:t>
            </a:r>
          </a:p>
        </p:txBody>
      </p:sp>
    </p:spTree>
    <p:extLst>
      <p:ext uri="{BB962C8B-B14F-4D97-AF65-F5344CB8AC3E}">
        <p14:creationId xmlns:p14="http://schemas.microsoft.com/office/powerpoint/2010/main" val="163123291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2026-08-05T02:32:00.8600000Z</dcterms:created>
  <dcterms:modified xsi:type="dcterms:W3CDTF">2026-08-05T02:32:00.8600000Z</dcterms:modified>
</coreProperties>
</file>