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3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4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2db25d781af4350" /><Relationship Type="http://schemas.openxmlformats.org/officeDocument/2006/relationships/extended-properties" Target="/docProps/app.xml" Id="R75fdaa5ebb054518" /><Relationship Type="http://schemas.openxmlformats.org/officeDocument/2006/relationships/officeDocument" Target="/ppt/presentation.xml" Id="R5a36bbcad21d4af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25bd1e2de044c76"/>
  </p:sldMasterIdLst>
  <p:notesMasterIdLst>
    <p:notesMasterId xmlns:r="http://schemas.openxmlformats.org/officeDocument/2006/relationships" r:id="R587ce0b6177b43de"/>
  </p:notesMasterIdLst>
  <p:sldIdLst>
    <p:sldId xmlns:r="http://schemas.openxmlformats.org/officeDocument/2006/relationships" id="256" r:id="R424fa7184d49472f"/>
    <p:sldId xmlns:r="http://schemas.openxmlformats.org/officeDocument/2006/relationships" id="257" r:id="R099dd1c53cdd4889"/>
    <p:sldId xmlns:r="http://schemas.openxmlformats.org/officeDocument/2006/relationships" id="258" r:id="Rdae43035af044fa0"/>
    <p:sldId xmlns:r="http://schemas.openxmlformats.org/officeDocument/2006/relationships" id="259" r:id="R2a4a96de412f485d"/>
    <p:sldId xmlns:r="http://schemas.openxmlformats.org/officeDocument/2006/relationships" id="260" r:id="Rf6bafece24b94d82"/>
    <p:sldId xmlns:r="http://schemas.openxmlformats.org/officeDocument/2006/relationships" id="261" r:id="Ree8832c8d8014b80"/>
    <p:sldId xmlns:r="http://schemas.openxmlformats.org/officeDocument/2006/relationships" id="262" r:id="R45654002dadc41eb"/>
    <p:sldId xmlns:r="http://schemas.openxmlformats.org/officeDocument/2006/relationships" id="263" r:id="R4c440157066e4e81"/>
    <p:sldId xmlns:r="http://schemas.openxmlformats.org/officeDocument/2006/relationships" id="264" r:id="R9738f5eedb6544b5"/>
    <p:sldId xmlns:r="http://schemas.openxmlformats.org/officeDocument/2006/relationships" id="265" r:id="R17dbd8f250e14b3c"/>
    <p:sldId xmlns:r="http://schemas.openxmlformats.org/officeDocument/2006/relationships" id="266" r:id="R5b8c55448ecd48ba"/>
    <p:sldId xmlns:r="http://schemas.openxmlformats.org/officeDocument/2006/relationships" id="267" r:id="Rd17f4d6a6bc341a0"/>
    <p:sldId xmlns:r="http://schemas.openxmlformats.org/officeDocument/2006/relationships" id="268" r:id="Ra5e1810f6b9347ad"/>
    <p:sldId xmlns:r="http://schemas.openxmlformats.org/officeDocument/2006/relationships" id="269" r:id="Rf483b71a56b14c88"/>
    <p:sldId xmlns:r="http://schemas.openxmlformats.org/officeDocument/2006/relationships" id="270" r:id="R41397936351b4ba5"/>
    <p:sldId xmlns:r="http://schemas.openxmlformats.org/officeDocument/2006/relationships" id="271" r:id="Rb10ce45f8ab44aa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d931c8377534fda" /><Relationship Type="http://schemas.openxmlformats.org/officeDocument/2006/relationships/slideMaster" Target="/ppt/slideMasters/slideMaster1.xml" Id="R325bd1e2de044c76" /><Relationship Type="http://schemas.openxmlformats.org/officeDocument/2006/relationships/notesMaster" Target="/ppt/notesMasters/notesMaster1.xml" Id="R587ce0b6177b43de" /><Relationship Type="http://schemas.openxmlformats.org/officeDocument/2006/relationships/presProps" Target="/ppt/presProps.xml" Id="Rbd52bcff5a87490e" /><Relationship Type="http://schemas.openxmlformats.org/officeDocument/2006/relationships/viewProps" Target="/ppt/viewProps.xml" Id="Rb688e3a8eb2342bd" /><Relationship Type="http://schemas.openxmlformats.org/officeDocument/2006/relationships/tableStyles" Target="/ppt/tableStyles.xml" Id="Rb0e6aa76c5ae4906" /><Relationship Type="http://schemas.openxmlformats.org/officeDocument/2006/relationships/slide" Target="/ppt/slides/slide1.xml" Id="R424fa7184d49472f" /><Relationship Type="http://schemas.openxmlformats.org/officeDocument/2006/relationships/slide" Target="/ppt/slides/slide2.xml" Id="R099dd1c53cdd4889" /><Relationship Type="http://schemas.openxmlformats.org/officeDocument/2006/relationships/slide" Target="/ppt/slides/slide3.xml" Id="Rdae43035af044fa0" /><Relationship Type="http://schemas.openxmlformats.org/officeDocument/2006/relationships/slide" Target="/ppt/slides/slide4.xml" Id="R2a4a96de412f485d" /><Relationship Type="http://schemas.openxmlformats.org/officeDocument/2006/relationships/slide" Target="/ppt/slides/slide5.xml" Id="Rf6bafece24b94d82" /><Relationship Type="http://schemas.openxmlformats.org/officeDocument/2006/relationships/slide" Target="/ppt/slides/slide6.xml" Id="Ree8832c8d8014b80" /><Relationship Type="http://schemas.openxmlformats.org/officeDocument/2006/relationships/slide" Target="/ppt/slides/slide7.xml" Id="R45654002dadc41eb" /><Relationship Type="http://schemas.openxmlformats.org/officeDocument/2006/relationships/slide" Target="/ppt/slides/slide8.xml" Id="R4c440157066e4e81" /><Relationship Type="http://schemas.openxmlformats.org/officeDocument/2006/relationships/slide" Target="/ppt/slides/slide9.xml" Id="R9738f5eedb6544b5" /><Relationship Type="http://schemas.openxmlformats.org/officeDocument/2006/relationships/slide" Target="/ppt/slides/slide10.xml" Id="R17dbd8f250e14b3c" /><Relationship Type="http://schemas.openxmlformats.org/officeDocument/2006/relationships/slide" Target="/ppt/slides/slide11.xml" Id="R5b8c55448ecd48ba" /><Relationship Type="http://schemas.openxmlformats.org/officeDocument/2006/relationships/slide" Target="/ppt/slides/slide12.xml" Id="Rd17f4d6a6bc341a0" /><Relationship Type="http://schemas.openxmlformats.org/officeDocument/2006/relationships/slide" Target="/ppt/slides/slide13.xml" Id="Ra5e1810f6b9347ad" /><Relationship Type="http://schemas.openxmlformats.org/officeDocument/2006/relationships/slide" Target="/ppt/slides/slide14.xml" Id="Rf483b71a56b14c88" /><Relationship Type="http://schemas.openxmlformats.org/officeDocument/2006/relationships/slide" Target="/ppt/slides/slide15.xml" Id="R41397936351b4ba5" /><Relationship Type="http://schemas.openxmlformats.org/officeDocument/2006/relationships/slide" Target="/ppt/slides/slide16.xml" Id="Rb10ce45f8ab44aa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d3460ec3efd444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eb4e1b4a529462a" /><Relationship Type="http://schemas.openxmlformats.org/officeDocument/2006/relationships/notesMaster" Target="/ppt/notesMasters/notesMaster1.xml" Id="R306eb3ccee6b4ef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b9c2e831834405c" /><Relationship Type="http://schemas.openxmlformats.org/officeDocument/2006/relationships/notesMaster" Target="/ppt/notesMasters/notesMaster1.xml" Id="R84debcd83f234f0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1b0311df7174139" /><Relationship Type="http://schemas.openxmlformats.org/officeDocument/2006/relationships/notesMaster" Target="/ppt/notesMasters/notesMaster1.xml" Id="R44dc778d8e534a8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9e3141ed399444b" /><Relationship Type="http://schemas.openxmlformats.org/officeDocument/2006/relationships/notesMaster" Target="/ppt/notesMasters/notesMaster1.xml" Id="Rc1dd1e0c3c2f4ba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6abb7f35b6c4916" /><Relationship Type="http://schemas.openxmlformats.org/officeDocument/2006/relationships/notesMaster" Target="/ppt/notesMasters/notesMaster1.xml" Id="Raf11b97f55a54eb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14e5678db0c4ae5" /><Relationship Type="http://schemas.openxmlformats.org/officeDocument/2006/relationships/notesMaster" Target="/ppt/notesMasters/notesMaster1.xml" Id="Rb48e5affee844e1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401bd96a4c34dc4" /><Relationship Type="http://schemas.openxmlformats.org/officeDocument/2006/relationships/notesMaster" Target="/ppt/notesMasters/notesMaster1.xml" Id="R622ba2786f16480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47d40cc424b4208" /><Relationship Type="http://schemas.openxmlformats.org/officeDocument/2006/relationships/notesMaster" Target="/ppt/notesMasters/notesMaster1.xml" Id="Rbfad6eff07eb4e8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a0c9a454cb340fb" /><Relationship Type="http://schemas.openxmlformats.org/officeDocument/2006/relationships/notesMaster" Target="/ppt/notesMasters/notesMaster1.xml" Id="R29c15b02a111481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a995903243d4429" /><Relationship Type="http://schemas.openxmlformats.org/officeDocument/2006/relationships/notesMaster" Target="/ppt/notesMasters/notesMaster1.xml" Id="R4500b99c215f4a8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6eb904611794e3a" /><Relationship Type="http://schemas.openxmlformats.org/officeDocument/2006/relationships/notesMaster" Target="/ppt/notesMasters/notesMaster1.xml" Id="R1b6a98e4b639485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95d2bc8308e4a6a" /><Relationship Type="http://schemas.openxmlformats.org/officeDocument/2006/relationships/notesMaster" Target="/ppt/notesMasters/notesMaster1.xml" Id="R090da1a45d614e7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45633b370a74ca1" /><Relationship Type="http://schemas.openxmlformats.org/officeDocument/2006/relationships/notesMaster" Target="/ppt/notesMasters/notesMaster1.xml" Id="Rc07d9bac3113403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6dd8929501443da" /><Relationship Type="http://schemas.openxmlformats.org/officeDocument/2006/relationships/notesMaster" Target="/ppt/notesMasters/notesMaster1.xml" Id="R28ace199119244c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7e1c4f70d36436c" /><Relationship Type="http://schemas.openxmlformats.org/officeDocument/2006/relationships/notesMaster" Target="/ppt/notesMasters/notesMaster1.xml" Id="Rb75faa04e4a7489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9e0ed74f38e453a" /><Relationship Type="http://schemas.openxmlformats.org/officeDocument/2006/relationships/notesMaster" Target="/ppt/notesMasters/notesMaster1.xml" Id="R96c7647ad75c4bb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e296844044478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3068389272419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aaea4a095c416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74d6dcea0e4e3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433da1e9fb411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ba04b7db3c4b8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7a65e5277d48a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64d0068fa54a9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97dcb7cbc04db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db97a75b8d4f6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22ffd0a88a4026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A0DDF75-E120-4C2A-AD1E-582AF153601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02F91CBC-AEC5-4BA1-963D-9286375254D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0A00750-F3B0-4418-8B99-B257124161C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1E2EBA7-5620-433B-A444-9D3544C5447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2FF70BE-49B4-4FE7-8264-DD19509350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296400" y="6356352"/>
            <a:ext cx="2743200" cy="3651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C6A8D42-AC18-49C0-A21D-AA5AA498CD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5E331C54-DBB4-4EDE-9765-10F2FA78D45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BE83125-F8AD-4CCC-9CCB-7ED4CFBF859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A438C0F-23D9-4E2E-85EC-F3E5E83F011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A673935-C11C-41A7-8841-5E6BD17149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371E1B0-7597-486D-B3D4-0F02C6522C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40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77ECF98C-4DAE-4CF0-B274-005F0AB085E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5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BB4DD353-4D54-4414-80F8-19EE8C0D20A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EEA5D10-7A82-40A1-8745-7A0D8B045FB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05C26F2-337C-4C55-B8CF-EAE416D282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566A994-8904-43B1-9303-F97C4069EA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212D8F99-2BFA-45E9-8E37-E99D0AF1BDB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CA49A19C-7BA3-4DD8-87DD-ECE66B8A502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489C8FD6-F23F-415F-837D-84728DBC44C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3975DBBD-48E7-485C-B7DC-B77D37334D7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56275B47-BD24-4B95-A95F-C5CF15821BB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B062FAD-D25E-48DD-B452-CE1EB32A19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7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2EEE280E-6EC9-4074-ADC7-36916953AEB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9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0172FFB5-2565-40D1-9DC0-DF803D7B9DF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9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C78C98F2-633D-412C-B803-7CFD71B4353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1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2EF6532-3123-4F6F-810F-AA2AD6212A00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1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D34E625F-B38F-4F43-8B2A-68C1FA8C34B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DEE6D95E-7CDB-4CB0-B30E-A85E07586F3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3E5BEE30-A7F9-4C8D-A523-F3BA0CC2B3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CC3BECB-C1C2-434A-B5C8-A5AB9628D1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1B422D6D-1514-4A35-A3D8-B2B2318CAF8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957D0ED2-BC71-48DE-9239-30E2FB2F8FB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7F347704-6819-4A19-9A15-9063656EADB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AB293C6-13B1-42F1-B00A-8C87532FDBE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164A6A0A-B5E5-48E5-80C7-BC43E93645A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D7722868-CF77-4865-9F87-3EE13070382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068D36E-9C04-44AA-86DB-19DC1EF9FC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9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70730F6-667B-485F-A6E9-FE18A130CB7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9" y="987427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7D2B9AEE-CBCC-4CB7-A1AD-B89F7ABCACC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9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B2A95FA4-D94F-4180-AA0D-5A1AAD428A6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43894CF8-089E-4DE6-AF74-09D237754D7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9BB8DBA-6CB6-497E-AE22-9638856849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3790D84-8467-4B58-9BA0-6B5960E305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9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92B21A3B-5966-46AA-96F0-5C782512EFA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9" y="987427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9892B62F-F295-4906-82F6-398142C4B20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9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FEA9FB07-605D-4A11-81AF-3E1CE492BBD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9B37E491-148D-4D69-B35C-C40A176CF3E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0656E452-9CAC-4638-883F-A34C55EEC8F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4CB8A26-8E64-4862-A999-E00E8B039F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26E2E6B6-A1C4-4207-BFBC-BAA3470FF0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EAACFFE-B56E-4104-B7A4-707A351435B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607219A-BC94-46FA-9825-40DB7FB373F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CB0335D-DBA7-434B-A767-359B46FDF0E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2ABAB280-C8CF-4088-B454-5D29FC2F79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C5E92C4D-4E5A-4DC7-9086-B3DD97741AF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60C8EF8-F1C3-45B7-8C70-404094BE101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5A7D404-C1BB-4099-B651-F762A1D40C1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F8C01D5-D199-4FE3-AAE0-0B29DBE55D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a1587b393054dc9" /><Relationship Type="http://schemas.openxmlformats.org/officeDocument/2006/relationships/slideLayout" Target="/ppt/slideLayouts/slideLayout1.xml" Id="Rbaac24c251924290" /><Relationship Type="http://schemas.openxmlformats.org/officeDocument/2006/relationships/slideLayout" Target="/ppt/slideLayouts/slideLayout2.xml" Id="R419a61e5abae4313" /><Relationship Type="http://schemas.openxmlformats.org/officeDocument/2006/relationships/slideLayout" Target="/ppt/slideLayouts/slideLayout3.xml" Id="Ra2ba916c3e3d40cb" /><Relationship Type="http://schemas.openxmlformats.org/officeDocument/2006/relationships/slideLayout" Target="/ppt/slideLayouts/slideLayout4.xml" Id="Re5da22188b63461d" /><Relationship Type="http://schemas.openxmlformats.org/officeDocument/2006/relationships/slideLayout" Target="/ppt/slideLayouts/slideLayout5.xml" Id="R2f7eccd1b92d47e9" /><Relationship Type="http://schemas.openxmlformats.org/officeDocument/2006/relationships/slideLayout" Target="/ppt/slideLayouts/slideLayout6.xml" Id="R9f18b25cb16a4749" /><Relationship Type="http://schemas.openxmlformats.org/officeDocument/2006/relationships/slideLayout" Target="/ppt/slideLayouts/slideLayout7.xml" Id="Reb87aa3b34204f92" /><Relationship Type="http://schemas.openxmlformats.org/officeDocument/2006/relationships/slideLayout" Target="/ppt/slideLayouts/slideLayout8.xml" Id="R1d68b679986a42a8" /><Relationship Type="http://schemas.openxmlformats.org/officeDocument/2006/relationships/slideLayout" Target="/ppt/slideLayouts/slideLayout9.xml" Id="R93ab68b55196452d" /><Relationship Type="http://schemas.openxmlformats.org/officeDocument/2006/relationships/slideLayout" Target="/ppt/slideLayouts/slideLayout10.xml" Id="R15387605feac4357" /><Relationship Type="http://schemas.openxmlformats.org/officeDocument/2006/relationships/slideLayout" Target="/ppt/slideLayouts/slideLayout11.xml" Id="R050fe9b240df479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D25D1DC-D37D-40CD-AFB6-57BCE56563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7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A765811D-AA6A-41BD-B922-A817A078F8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EDD58D5-285C-4DB4-9349-66978494C8E2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2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1A7C203-C933-4688-80B9-5D6BC80FBE3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2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B07D3F7-9269-4898-A535-02FAFB5783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2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ac24c251924290"/>
    <p:sldLayoutId xmlns:r="http://schemas.openxmlformats.org/officeDocument/2006/relationships" id="2147483650" r:id="R419a61e5abae4313"/>
    <p:sldLayoutId xmlns:r="http://schemas.openxmlformats.org/officeDocument/2006/relationships" id="2147483651" r:id="Ra2ba916c3e3d40cb"/>
    <p:sldLayoutId xmlns:r="http://schemas.openxmlformats.org/officeDocument/2006/relationships" id="2147483652" r:id="Re5da22188b63461d"/>
    <p:sldLayoutId xmlns:r="http://schemas.openxmlformats.org/officeDocument/2006/relationships" id="2147483653" r:id="R2f7eccd1b92d47e9"/>
    <p:sldLayoutId xmlns:r="http://schemas.openxmlformats.org/officeDocument/2006/relationships" id="2147483654" r:id="R9f18b25cb16a4749"/>
    <p:sldLayoutId xmlns:r="http://schemas.openxmlformats.org/officeDocument/2006/relationships" id="2147483655" r:id="Reb87aa3b34204f92"/>
    <p:sldLayoutId xmlns:r="http://schemas.openxmlformats.org/officeDocument/2006/relationships" id="2147483656" r:id="R1d68b679986a42a8"/>
    <p:sldLayoutId xmlns:r="http://schemas.openxmlformats.org/officeDocument/2006/relationships" id="2147483657" r:id="R93ab68b55196452d"/>
    <p:sldLayoutId xmlns:r="http://schemas.openxmlformats.org/officeDocument/2006/relationships" id="2147483658" r:id="R15387605feac4357"/>
    <p:sldLayoutId xmlns:r="http://schemas.openxmlformats.org/officeDocument/2006/relationships" id="2147483659" r:id="R050fe9b240df4797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e03876729e4a90" /><Relationship Type="http://schemas.openxmlformats.org/officeDocument/2006/relationships/image" Target="/ppt/media/image.png" Id="R90c2ad574247450d" /><Relationship Type="http://schemas.openxmlformats.org/officeDocument/2006/relationships/image" Target="/ppt/media/image2.png" Id="R7f8eb446bb004f5d" /><Relationship Type="http://schemas.openxmlformats.org/officeDocument/2006/relationships/image" Target="/ppt/media/image3.png" Id="R2c1a5adbbe784390" /><Relationship Type="http://schemas.openxmlformats.org/officeDocument/2006/relationships/notesSlide" Target="/ppt/notesSlides/notesSlide1.xml" Id="R7d46cbd55f294e8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d1f6f250054930" /><Relationship Type="http://schemas.openxmlformats.org/officeDocument/2006/relationships/image" Target="/ppt/media/image.png" Id="Rdcf1087426f84df9" /><Relationship Type="http://schemas.openxmlformats.org/officeDocument/2006/relationships/image" Target="/ppt/media/image2.png" Id="Refc62385ac6c4eab" /><Relationship Type="http://schemas.openxmlformats.org/officeDocument/2006/relationships/image" Target="/ppt/media/image3.png" Id="Raf325254493f4340" /><Relationship Type="http://schemas.openxmlformats.org/officeDocument/2006/relationships/notesSlide" Target="/ppt/notesSlides/notesSlide2.xml" Id="R50a488f0f7ea4e3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3b447955284109" /><Relationship Type="http://schemas.openxmlformats.org/officeDocument/2006/relationships/image" Target="/ppt/media/image.png" Id="Rb6ac6b7200474efa" /><Relationship Type="http://schemas.openxmlformats.org/officeDocument/2006/relationships/image" Target="/ppt/media/image2.png" Id="R0c048ad18e9e4107" /><Relationship Type="http://schemas.openxmlformats.org/officeDocument/2006/relationships/image" Target="/ppt/media/image3.png" Id="R7a6c3b3de91944ef" /><Relationship Type="http://schemas.openxmlformats.org/officeDocument/2006/relationships/notesSlide" Target="/ppt/notesSlides/notesSlide3.xml" Id="Rcd660b3b46b2405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6d51cbe0b74f2f" /><Relationship Type="http://schemas.openxmlformats.org/officeDocument/2006/relationships/image" Target="/ppt/media/image.png" Id="R612ef9c6241d4b8d" /><Relationship Type="http://schemas.openxmlformats.org/officeDocument/2006/relationships/image" Target="/ppt/media/image2.png" Id="R8eff0479227049d7" /><Relationship Type="http://schemas.openxmlformats.org/officeDocument/2006/relationships/image" Target="/ppt/media/image3.png" Id="Rafe85a8e43f4456c" /><Relationship Type="http://schemas.openxmlformats.org/officeDocument/2006/relationships/notesSlide" Target="/ppt/notesSlides/notesSlide4.xml" Id="Rd85af56d82a6494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f9069e51174e59" /><Relationship Type="http://schemas.openxmlformats.org/officeDocument/2006/relationships/image" Target="/ppt/media/image.png" Id="Rd69eaf619aaa4cf9" /><Relationship Type="http://schemas.openxmlformats.org/officeDocument/2006/relationships/image" Target="/ppt/media/image2.png" Id="R665a9c02e9314fd8" /><Relationship Type="http://schemas.openxmlformats.org/officeDocument/2006/relationships/image" Target="/ppt/media/image3.png" Id="R887f7d29522e4032" /><Relationship Type="http://schemas.openxmlformats.org/officeDocument/2006/relationships/notesSlide" Target="/ppt/notesSlides/notesSlide5.xml" Id="Rf6b7b853cfad430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00a56bee964c22" /><Relationship Type="http://schemas.openxmlformats.org/officeDocument/2006/relationships/image" Target="/ppt/media/image.png" Id="Re623ab0a92884e6e" /><Relationship Type="http://schemas.openxmlformats.org/officeDocument/2006/relationships/image" Target="/ppt/media/image2.png" Id="Raf0846759325498d" /><Relationship Type="http://schemas.openxmlformats.org/officeDocument/2006/relationships/image" Target="/ppt/media/image3.png" Id="Rc886d8755c5345c3" /><Relationship Type="http://schemas.openxmlformats.org/officeDocument/2006/relationships/notesSlide" Target="/ppt/notesSlides/notesSlide6.xml" Id="Rfa5117914148464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97190eabdf4e4f" /><Relationship Type="http://schemas.openxmlformats.org/officeDocument/2006/relationships/image" Target="/ppt/media/image.png" Id="R69242466c12947ce" /><Relationship Type="http://schemas.openxmlformats.org/officeDocument/2006/relationships/image" Target="/ppt/media/image2.png" Id="R5db27e57f89d42b7" /><Relationship Type="http://schemas.openxmlformats.org/officeDocument/2006/relationships/image" Target="/ppt/media/image3.png" Id="R416645df348842bc" /><Relationship Type="http://schemas.openxmlformats.org/officeDocument/2006/relationships/notesSlide" Target="/ppt/notesSlides/notesSlide7.xml" Id="Rdfe73d3c55904aa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9d4fa6aa6f42db" /><Relationship Type="http://schemas.openxmlformats.org/officeDocument/2006/relationships/image" Target="/ppt/media/image.png" Id="Rbff6b2ed88a143f9" /><Relationship Type="http://schemas.openxmlformats.org/officeDocument/2006/relationships/image" Target="/ppt/media/image2.png" Id="Re5455732dae94f71" /><Relationship Type="http://schemas.openxmlformats.org/officeDocument/2006/relationships/image" Target="/ppt/media/image3.png" Id="R7f55fc5ca1d3491b" /><Relationship Type="http://schemas.openxmlformats.org/officeDocument/2006/relationships/chart" Target="/ppt/slides/charts/chart1.xml" Id="R09b46f7947cc4c9f" /><Relationship Type="http://schemas.openxmlformats.org/officeDocument/2006/relationships/notesSlide" Target="/ppt/notesSlides/notesSlide8.xml" Id="Re531e8b99d364fc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9a7dc685e94ab4" /><Relationship Type="http://schemas.openxmlformats.org/officeDocument/2006/relationships/image" Target="/ppt/media/image.png" Id="Raceec95edf0744d4" /><Relationship Type="http://schemas.openxmlformats.org/officeDocument/2006/relationships/image" Target="/ppt/media/image2.png" Id="R327d5b4e1b484760" /><Relationship Type="http://schemas.openxmlformats.org/officeDocument/2006/relationships/image" Target="/ppt/media/image3.png" Id="R354e476e1694407d" /><Relationship Type="http://schemas.openxmlformats.org/officeDocument/2006/relationships/chart" Target="/ppt/slides/charts/chart2.xml" Id="R1ca5697f8f994466" /><Relationship Type="http://schemas.openxmlformats.org/officeDocument/2006/relationships/notesSlide" Target="/ppt/notesSlides/notesSlide9.xml" Id="Re39ae947dadf4ba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f64fceaf9f4d77" /><Relationship Type="http://schemas.openxmlformats.org/officeDocument/2006/relationships/image" Target="/ppt/media/image.png" Id="R2fa3eacb01cd4f1e" /><Relationship Type="http://schemas.openxmlformats.org/officeDocument/2006/relationships/image" Target="/ppt/media/image2.png" Id="R9e16deb4fdec41d2" /><Relationship Type="http://schemas.openxmlformats.org/officeDocument/2006/relationships/image" Target="/ppt/media/image3.png" Id="R294ed38971bd43c4" /><Relationship Type="http://schemas.openxmlformats.org/officeDocument/2006/relationships/chart" Target="/ppt/slides/charts/chart3.xml" Id="Rbaa351ffa066455d" /><Relationship Type="http://schemas.openxmlformats.org/officeDocument/2006/relationships/notesSlide" Target="/ppt/notesSlides/notesSlide10.xml" Id="Rc36d38a207a1445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367c7f55ca45fe" /><Relationship Type="http://schemas.openxmlformats.org/officeDocument/2006/relationships/image" Target="/ppt/media/image.png" Id="Rb101158d85964ca9" /><Relationship Type="http://schemas.openxmlformats.org/officeDocument/2006/relationships/image" Target="/ppt/media/image2.png" Id="Re38f79f40a244b65" /><Relationship Type="http://schemas.openxmlformats.org/officeDocument/2006/relationships/image" Target="/ppt/media/image3.png" Id="R6710c506b25e4f68" /><Relationship Type="http://schemas.openxmlformats.org/officeDocument/2006/relationships/notesSlide" Target="/ppt/notesSlides/notesSlide11.xml" Id="Rd61b0b21ab1c44e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a30c161be84070" /><Relationship Type="http://schemas.openxmlformats.org/officeDocument/2006/relationships/image" Target="/ppt/media/image.png" Id="R01d0233cf5d74657" /><Relationship Type="http://schemas.openxmlformats.org/officeDocument/2006/relationships/image" Target="/ppt/media/image2.png" Id="R3f345ec998154c24" /><Relationship Type="http://schemas.openxmlformats.org/officeDocument/2006/relationships/image" Target="/ppt/media/image3.png" Id="R0a557db16a3d410e" /><Relationship Type="http://schemas.openxmlformats.org/officeDocument/2006/relationships/chart" Target="/ppt/slides/charts/chart4.xml" Id="R6bd6793cfd1c404e" /><Relationship Type="http://schemas.openxmlformats.org/officeDocument/2006/relationships/notesSlide" Target="/ppt/notesSlides/notesSlide12.xml" Id="R8ec411e1b10d49d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a433e568434e4f" /><Relationship Type="http://schemas.openxmlformats.org/officeDocument/2006/relationships/image" Target="/ppt/media/image.png" Id="R5efd127160d94bb6" /><Relationship Type="http://schemas.openxmlformats.org/officeDocument/2006/relationships/image" Target="/ppt/media/image2.png" Id="R0268521386cb4b72" /><Relationship Type="http://schemas.openxmlformats.org/officeDocument/2006/relationships/image" Target="/ppt/media/image3.png" Id="Rf303f0ab584c44b8" /><Relationship Type="http://schemas.openxmlformats.org/officeDocument/2006/relationships/notesSlide" Target="/ppt/notesSlides/notesSlide13.xml" Id="R86657dfcde93479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d91187c1a64dbd" /><Relationship Type="http://schemas.openxmlformats.org/officeDocument/2006/relationships/image" Target="/ppt/media/image.png" Id="R93d8452169c74162" /><Relationship Type="http://schemas.openxmlformats.org/officeDocument/2006/relationships/image" Target="/ppt/media/image2.png" Id="R278c386ffc5a4961" /><Relationship Type="http://schemas.openxmlformats.org/officeDocument/2006/relationships/image" Target="/ppt/media/image3.png" Id="R8f9fd3fbcbee4882" /><Relationship Type="http://schemas.openxmlformats.org/officeDocument/2006/relationships/notesSlide" Target="/ppt/notesSlides/notesSlide14.xml" Id="Rfb22c5fc18ba47a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be3e34283142c8" /><Relationship Type="http://schemas.openxmlformats.org/officeDocument/2006/relationships/image" Target="/ppt/media/image.png" Id="R3d7f56c961aa4673" /><Relationship Type="http://schemas.openxmlformats.org/officeDocument/2006/relationships/image" Target="/ppt/media/image2.png" Id="R3e7d0212846f4bbc" /><Relationship Type="http://schemas.openxmlformats.org/officeDocument/2006/relationships/image" Target="/ppt/media/image3.png" Id="R2f80663de6774e3f" /><Relationship Type="http://schemas.openxmlformats.org/officeDocument/2006/relationships/notesSlide" Target="/ppt/notesSlides/notesSlide15.xml" Id="R8049d89e1529418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196ca9bd184225" /><Relationship Type="http://schemas.openxmlformats.org/officeDocument/2006/relationships/image" Target="/ppt/media/image.png" Id="Rcd94b0371ee24bed" /><Relationship Type="http://schemas.openxmlformats.org/officeDocument/2006/relationships/image" Target="/ppt/media/image2.png" Id="R56cdc7a4cacd4a7b" /><Relationship Type="http://schemas.openxmlformats.org/officeDocument/2006/relationships/image" Target="/ppt/media/image3.png" Id="R76c5eef33b79491d" /><Relationship Type="http://schemas.openxmlformats.org/officeDocument/2006/relationships/notesSlide" Target="/ppt/notesSlides/notesSlide16.xml" Id="R400a16623a294678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T RMSE(K)</c:v>
          </c:tx>
          <c:spPr>
            <a:solidFill xmlns:a="http://schemas.openxmlformats.org/drawingml/2006/main">
              <a:srgbClr val="C00000"/>
            </a:solidFill>
          </c:spPr>
          <c:cat>
            <c:strLit>
              <c:ptCount val="3"/>
              <c:pt idx="0">
                <c:v>旧模型直接迁移</c:v>
              </c:pt>
              <c:pt idx="1">
                <c:v>成都本地混合</c:v>
              </c:pt>
              <c:pt idx="2">
                <c:v>物理48层探空</c:v>
              </c:pt>
            </c:strLit>
          </c:cat>
          <c:val>
            <c:numLit>
              <c:formatCode>General</c:formatCode>
              <c:ptCount val="3"/>
              <c:pt idx="0">
                <c:v>29.376</c:v>
              </c:pt>
              <c:pt idx="1">
                <c:v>1.479</c:v>
              </c:pt>
              <c:pt idx="2">
                <c:v>1.532</c:v>
              </c:pt>
            </c:numLit>
          </c:val>
        </c:ser>
        <c:ser>
          <c:idx val="1"/>
          <c:order val="1"/>
          <c:tx>
            <c:v>RH RMSE(%)</c:v>
          </c:tx>
          <c:spPr>
            <a:solidFill xmlns:a="http://schemas.openxmlformats.org/drawingml/2006/main">
              <a:srgbClr val="1F4E79"/>
            </a:solidFill>
          </c:spPr>
          <c:cat>
            <c:strLit>
              <c:ptCount val="3"/>
              <c:pt idx="0">
                <c:v>旧模型直接迁移</c:v>
              </c:pt>
              <c:pt idx="1">
                <c:v>成都本地混合</c:v>
              </c:pt>
              <c:pt idx="2">
                <c:v>物理48层探空</c:v>
              </c:pt>
            </c:strLit>
          </c:cat>
          <c:val>
            <c:numLit>
              <c:formatCode>General</c:formatCode>
              <c:ptCount val="3"/>
              <c:pt idx="0">
                <c:v>42.496</c:v>
              </c:pt>
              <c:pt idx="1">
                <c:v>20.966</c:v>
              </c:pt>
              <c:pt idx="2">
                <c:v>23.754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0E0E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样本数</c:v>
          </c:tx>
          <c:spPr>
            <a:solidFill xmlns:a="http://schemas.openxmlformats.org/drawingml/2006/main">
              <a:srgbClr val="1F4E79"/>
            </a:solidFill>
          </c:spPr>
          <c:cat>
            <c:strLit>
              <c:ptCount val="4"/>
              <c:pt idx="0">
                <c:v>训练</c:v>
              </c:pt>
              <c:pt idx="1">
                <c:v>验证</c:v>
              </c:pt>
              <c:pt idx="2">
                <c:v>测试</c:v>
              </c:pt>
              <c:pt idx="3">
                <c:v>独立探空</c:v>
              </c:pt>
            </c:strLit>
          </c:cat>
          <c:val>
            <c:numLit>
              <c:formatCode>General</c:formatCode>
              <c:ptCount val="4"/>
              <c:pt idx="0">
                <c:v>69</c:v>
              </c:pt>
              <c:pt idx="1">
                <c:v>22</c:v>
              </c:pt>
              <c:pt idx="2">
                <c:v>48</c:v>
              </c:pt>
              <c:pt idx="3">
                <c:v>6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5E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T RMSE(K)</c:v>
          </c:tx>
          <c:spPr>
            <a:solidFill xmlns:a="http://schemas.openxmlformats.org/drawingml/2006/main">
              <a:srgbClr val="C00000"/>
            </a:solidFill>
          </c:spPr>
          <c:cat>
            <c:strLit>
              <c:ptCount val="5"/>
              <c:pt idx="0">
                <c:v>全21ch</c:v>
              </c:pt>
              <c:pt idx="1">
                <c:v>前14ch</c:v>
              </c:pt>
              <c:pt idx="2">
                <c:v>高频7ch</c:v>
              </c:pt>
              <c:pt idx="3">
                <c:v>183GHz五通道</c:v>
              </c:pt>
              <c:pt idx="4">
                <c:v>平均廓线</c:v>
              </c:pt>
            </c:strLit>
          </c:cat>
          <c:val>
            <c:numLit>
              <c:formatCode>General</c:formatCode>
              <c:ptCount val="5"/>
              <c:pt idx="0">
                <c:v>2.613</c:v>
              </c:pt>
              <c:pt idx="1">
                <c:v>2.379</c:v>
              </c:pt>
              <c:pt idx="2">
                <c:v>2.898</c:v>
              </c:pt>
              <c:pt idx="3">
                <c:v>2.61</c:v>
              </c:pt>
              <c:pt idx="4">
                <c:v>2.284</c:v>
              </c:pt>
            </c:numLit>
          </c:val>
        </c:ser>
        <c:ser>
          <c:idx val="1"/>
          <c:order val="1"/>
          <c:tx>
            <c:v>RH RMSE(%)</c:v>
          </c:tx>
          <c:spPr>
            <a:solidFill xmlns:a="http://schemas.openxmlformats.org/drawingml/2006/main">
              <a:srgbClr val="1F4E79"/>
            </a:solidFill>
          </c:spPr>
          <c:cat>
            <c:strLit>
              <c:ptCount val="5"/>
              <c:pt idx="0">
                <c:v>全21ch</c:v>
              </c:pt>
              <c:pt idx="1">
                <c:v>前14ch</c:v>
              </c:pt>
              <c:pt idx="2">
                <c:v>高频7ch</c:v>
              </c:pt>
              <c:pt idx="3">
                <c:v>183GHz五通道</c:v>
              </c:pt>
              <c:pt idx="4">
                <c:v>平均廓线</c:v>
              </c:pt>
            </c:strLit>
          </c:cat>
          <c:val>
            <c:numLit>
              <c:formatCode>General</c:formatCode>
              <c:ptCount val="5"/>
              <c:pt idx="0">
                <c:v>20.632</c:v>
              </c:pt>
              <c:pt idx="1">
                <c:v>21.085</c:v>
              </c:pt>
              <c:pt idx="2">
                <c:v>23.705</c:v>
              </c:pt>
              <c:pt idx="3">
                <c:v>24.149</c:v>
              </c:pt>
              <c:pt idx="4">
                <c:v>24.119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5E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T RMSE(K)</c:v>
          </c:tx>
          <c:spPr>
            <a:solidFill xmlns:a="http://schemas.openxmlformats.org/drawingml/2006/main">
              <a:srgbClr val="C00000"/>
            </a:solidFill>
          </c:spPr>
          <c:cat>
            <c:strLit>
              <c:ptCount val="4"/>
              <c:pt idx="0">
                <c:v>0-2km</c:v>
              </c:pt>
              <c:pt idx="1">
                <c:v>2-5km</c:v>
              </c:pt>
              <c:pt idx="2">
                <c:v>5-8km</c:v>
              </c:pt>
              <c:pt idx="3">
                <c:v>8-10km</c:v>
              </c:pt>
            </c:strLit>
          </c:cat>
          <c:val>
            <c:numLit>
              <c:formatCode>General</c:formatCode>
              <c:ptCount val="4"/>
              <c:pt idx="0">
                <c:v>1.848</c:v>
              </c:pt>
              <c:pt idx="1">
                <c:v>1.222</c:v>
              </c:pt>
              <c:pt idx="2">
                <c:v>1.535</c:v>
              </c:pt>
              <c:pt idx="3">
                <c:v>1.218</c:v>
              </c:pt>
            </c:numLit>
          </c:val>
        </c:ser>
        <c:ser>
          <c:idx val="1"/>
          <c:order val="1"/>
          <c:tx>
            <c:v>RH RMSE(%)</c:v>
          </c:tx>
          <c:spPr>
            <a:solidFill xmlns:a="http://schemas.openxmlformats.org/drawingml/2006/main">
              <a:srgbClr val="1F4E79"/>
            </a:solidFill>
          </c:spPr>
          <c:cat>
            <c:strLit>
              <c:ptCount val="4"/>
              <c:pt idx="0">
                <c:v>0-2km</c:v>
              </c:pt>
              <c:pt idx="1">
                <c:v>2-5km</c:v>
              </c:pt>
              <c:pt idx="2">
                <c:v>5-8km</c:v>
              </c:pt>
              <c:pt idx="3">
                <c:v>8-10km</c:v>
              </c:pt>
            </c:strLit>
          </c:cat>
          <c:val>
            <c:numLit>
              <c:formatCode>General</c:formatCode>
              <c:ptCount val="4"/>
              <c:pt idx="0">
                <c:v>11.624</c:v>
              </c:pt>
              <c:pt idx="1">
                <c:v>22.117</c:v>
              </c:pt>
              <c:pt idx="2">
                <c:v>32.553</c:v>
              </c:pt>
              <c:pt idx="3">
                <c:v>28.141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5E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8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c2ad574247450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22091" y="179242"/>
            <a:ext cx="744705" cy="744705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3E33757-4BF6-4D78-8BDA-21D545FEB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" y="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F0D6483E-9AFA-4CC3-9A75-57D4350AF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2286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EB71BF4-2B0C-49BA-9064-E0028D744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4572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57BDBAE-AEA1-4113-B44D-EDD475C76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2530" y="910702"/>
            <a:ext cx="645570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2B525159-632C-4A90-A3FC-DDCF403D9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" y="683951"/>
            <a:ext cx="633043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4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8eb446bb004f5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704018" y="211706"/>
            <a:ext cx="2327759" cy="675179"/>
          </a:xfrm>
          <a:prstGeom xmlns:a="http://schemas.openxmlformats.org/drawingml/2006/main" prst="rect">
            <a:avLst/>
          </a:prstGeom>
        </p:spPr>
      </p:pic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9DBB855B-CA06-4AD1-8BF7-0B3173A64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05909" y="143506"/>
            <a:ext cx="0" cy="729641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00000"/>
            </a:solidFill>
          </a:ln>
        </p:spPr>
        <p:style>
          <a:lnRef xmlns:a="http://schemas.openxmlformats.org/drawingml/2006/main" idx="3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4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1a5adbbe7843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289122" y="84514"/>
            <a:ext cx="703864" cy="781252"/>
          </a:xfrm>
          <a:prstGeom xmlns:a="http://schemas.openxmlformats.org/drawingml/2006/main" prst="rect">
            <a:avLst/>
          </a:prstGeom>
        </p:spPr>
      </p:pic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9FD33689-3D15-4F5F-9264-E0232DC4A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2986" y="176969"/>
            <a:ext cx="3090558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latin typeface="黑体"/>
                <a:ea typeface="黑体"/>
                <a:cs typeface="黑体"/>
              </a:rPr>
              <a:t>空间科学与技术学院</a:t>
            </a:r>
          </a:p>
          <a:p xmlns:a="http://schemas.openxmlformats.org/drawingml/2006/main">
            <a:r>
              <a:rPr sz="1200">
                <a:latin typeface="Times New Roman"/>
                <a:ea typeface="Times New Roman"/>
                <a:cs typeface="Times New Roman"/>
              </a:rPr>
              <a:t>School of Aerospace Science and Technology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96964EBD-140F-4B09-B41E-5EE0DB16D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300" y="1"/>
            <a:ext cx="4203700" cy="7367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242AE1F5-C393-4985-909C-6D8090EBC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297" y="731909"/>
            <a:ext cx="4203700" cy="2008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90000"/>
            </a:schemeClr>
          </a:solidFill>
          <a:ln xmlns:a="http://schemas.openxmlformats.org/drawingml/2006/main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8F980E32-49F0-4771-B25A-58F0DFF10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456" y="2295846"/>
            <a:ext cx="105859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chemeClr val="accent1">
                    <a:lumMod val="50000"/>
                  </a:schemeClr>
                </a:solidFill>
                <a:latin typeface="微软雅黑"/>
                <a:ea typeface="微软雅黑"/>
                <a:cs typeface="微软雅黑"/>
              </a:rPr>
              <a:t>主题</a:t>
            </a:r>
          </a:p>
        </p:txBody>
      </p:sp>
      <p:sp>
        <p:nvSpPr>
          <p:cNvPr id="23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894227F-B9E2-4DF1-BA96-B5AB129CE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172" y="4170878"/>
            <a:ext cx="3755254" cy="19552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2800" b="1">
                <a:latin typeface="微软雅黑"/>
                <a:ea typeface="微软雅黑"/>
                <a:cs typeface="微软雅黑"/>
              </a:rPr>
              <a:t>报 告 人：</a:t>
            </a:r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2800" b="1">
                <a:latin typeface="微软雅黑"/>
                <a:ea typeface="微软雅黑"/>
                <a:cs typeface="微软雅黑"/>
              </a:rPr>
              <a:t>导    师： </a:t>
            </a:r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2800" b="1">
                <a:latin typeface="微软雅黑"/>
                <a:ea typeface="微软雅黑"/>
                <a:cs typeface="微软雅黑"/>
              </a:rPr>
              <a:t>年    级： </a:t>
            </a:r>
          </a:p>
        </p:txBody>
      </p:sp>
      <p:sp>
        <p:nvSpPr>
          <p:cNvPr id="24" name="直接连接符 23">
            <a:extLst xmlns:a="http://schemas.openxmlformats.org/drawingml/2006/main">
              <a:ext uri="{FF2B5EF4-FFF2-40B4-BE49-F238E27FC236}">
                <a16:creationId xmlns:a16="http://schemas.microsoft.com/office/drawing/2014/main" id="{E8184379-3E93-4CE9-BF30-0E345845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42" y="3429000"/>
            <a:ext cx="4821247" cy="0"/>
          </a:xfrm>
          <a:prstGeom xmlns:a="http://schemas.openxmlformats.org/drawingml/2006/main" prst="line">
            <a:avLst/>
          </a:prstGeom>
          <a:ln xmlns:a="http://schemas.openxmlformats.org/drawingml/2006/main" w="190500">
            <a:solidFill>
              <a:srgbClr val="C000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5" name="直接连接符 24">
            <a:extLst xmlns:a="http://schemas.openxmlformats.org/drawingml/2006/main">
              <a:ext uri="{FF2B5EF4-FFF2-40B4-BE49-F238E27FC236}">
                <a16:creationId xmlns:a16="http://schemas.microsoft.com/office/drawing/2014/main" id="{82FD64AB-BD20-4600-866E-DB4094223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6889" y="3429002"/>
            <a:ext cx="5513313" cy="1754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000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CBAE1F27-F503-457A-B9EC-998E7C7B0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4511" y="99553"/>
            <a:ext cx="306651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汇报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188A26-00FE-4C15-BA85-2F21CA6B8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19200"/>
            <a:ext cx="11239500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2F7E49-5A1F-4CFC-90CC-98E8A5A43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1009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365C"/>
                </a:solidFill>
              </a:defRPr>
            </a:pPr>
            <a:r>
              <a:rPr sz="2550" b="1">
                <a:solidFill>
                  <a:srgbClr val="16365C"/>
                </a:solidFill>
              </a:rPr>
              <a:t>神经网络与OEM融合的微波辐射计廓线反演研究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D7A7B5-15B1-4453-BF6F-8E14CB25F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95600"/>
            <a:ext cx="44767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3D2B47F-D8D8-426C-AA60-3D400B6FE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1F1F"/>
                </a:solidFill>
              </a:defRPr>
            </a:pPr>
            <a:r>
              <a:rPr sz="1575" b="0">
                <a:solidFill>
                  <a:srgbClr val="1F1F1F"/>
                </a:solidFill>
              </a:rPr>
              <a:t>成都站21通道实测亮温迁移测试、效果诊断与下一步方案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372AC1A-75A4-48FF-ABF6-B56F1252E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666"/>
                </a:solidFill>
              </a:defRPr>
            </a:pPr>
            <a:r>
              <a:rPr sz="1350" b="0">
                <a:solidFill>
                  <a:srgbClr val="666666"/>
                </a:solidFill>
              </a:rPr>
              <a:t>阶段汇报 | 2026年7月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A79B554-C389-4D77-8A45-69AFE0DC6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95750"/>
            <a:ext cx="323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1F1F"/>
                </a:solidFill>
              </a:defRPr>
            </a:pPr>
            <a:r>
              <a:rPr sz="1500" b="1">
                <a:solidFill>
                  <a:srgbClr val="1F1F1F"/>
                </a:solidFill>
              </a:rPr>
              <a:t>汇报人：</a:t>
            </a:r>
          </a:p>
          <a:p xmlns:a="http://schemas.openxmlformats.org/drawingml/2006/main">
            <a:pPr algn="l">
              <a:defRPr sz="1500" b="1">
                <a:solidFill>
                  <a:srgbClr val="1F1F1F"/>
                </a:solidFill>
              </a:defRPr>
            </a:pPr>
            <a:r>
              <a:rPr sz="1500" b="1">
                <a:solidFill>
                  <a:srgbClr val="1F1F1F"/>
                </a:solidFill>
              </a:rPr>
              <a:t>导师：</a:t>
            </a:r>
          </a:p>
          <a:p xmlns:a="http://schemas.openxmlformats.org/drawingml/2006/main">
            <a:pPr algn="l">
              <a:defRPr sz="1500" b="1">
                <a:solidFill>
                  <a:srgbClr val="1F1F1F"/>
                </a:solidFill>
              </a:defRPr>
            </a:pPr>
            <a:r>
              <a:rPr sz="1500" b="1">
                <a:solidFill>
                  <a:srgbClr val="1F1F1F"/>
                </a:solidFill>
              </a:rPr>
              <a:t>年级：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D2E82B-6B79-4EA9-A605-BCE212F0A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0"/>
            <a:ext cx="42100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D407834-1227-4DFF-ACEA-905487CC9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733425"/>
            <a:ext cx="42100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33BF989-CD6F-42C8-B8EC-912F6C260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14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阶段汇报</a:t>
            </a:r>
          </a:p>
        </p:txBody>
      </p:sp>
    </p:spTree>
    <p:extLst>
      <p:ext uri="{BB962C8B-B14F-4D97-AF65-F5344CB8AC3E}">
        <p14:creationId xmlns:p14="http://schemas.microsoft.com/office/powerpoint/2010/main" val="7547310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2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f1087426f84df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22091" y="179242"/>
            <a:ext cx="744705" cy="744705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0D5CBF1-A727-43B3-BC37-80F571C0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" y="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2BD7EB07-193E-41CA-8815-EC48F366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2286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ECB902C0-DBEA-4A16-9F5D-13D810DBC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4572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277ED30-EEDF-493A-9D3C-BF64BD039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2530" y="910702"/>
            <a:ext cx="645570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57200CAB-58D2-4C6D-A244-986848EC9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" y="683951"/>
            <a:ext cx="633043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8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c62385ac6c4ea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704018" y="211706"/>
            <a:ext cx="2327759" cy="675179"/>
          </a:xfrm>
          <a:prstGeom xmlns:a="http://schemas.openxmlformats.org/drawingml/2006/main" prst="rect">
            <a:avLst/>
          </a:prstGeom>
        </p:spPr>
      </p:pic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0FD4FB81-2635-4395-8921-96CA4F9DE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05909" y="143506"/>
            <a:ext cx="0" cy="729641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00000"/>
            </a:solidFill>
          </a:ln>
        </p:spPr>
        <p:style>
          <a:lnRef xmlns:a="http://schemas.openxmlformats.org/drawingml/2006/main" idx="3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60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325254493f43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289122" y="84514"/>
            <a:ext cx="703864" cy="781252"/>
          </a:xfrm>
          <a:prstGeom xmlns:a="http://schemas.openxmlformats.org/drawingml/2006/main" prst="rect">
            <a:avLst/>
          </a:prstGeom>
        </p:spPr>
      </p:pic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F72B4AD5-DD35-4DDB-BCA8-B3EFECDC5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2986" y="176969"/>
            <a:ext cx="3090558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latin typeface="黑体"/>
                <a:ea typeface="黑体"/>
                <a:cs typeface="黑体"/>
              </a:rPr>
              <a:t>空间科学与技术学院</a:t>
            </a:r>
          </a:p>
          <a:p xmlns:a="http://schemas.openxmlformats.org/drawingml/2006/main">
            <a:r>
              <a:rPr sz="1200">
                <a:latin typeface="Times New Roman"/>
                <a:ea typeface="Times New Roman"/>
                <a:cs typeface="Times New Roman"/>
              </a:rPr>
              <a:t>School of Aerospace Science and Technology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D24CD6EC-8394-4898-86D9-77BC8A201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300" y="1"/>
            <a:ext cx="4203700" cy="7367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A0BC4CD9-4B0F-4DD9-9AFA-303971B11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297" y="731909"/>
            <a:ext cx="4203700" cy="2008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90000"/>
            </a:schemeClr>
          </a:solidFill>
          <a:ln xmlns:a="http://schemas.openxmlformats.org/drawingml/2006/main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CF26C33E-4A70-4DFD-A05E-4AEDF12BD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6888" y="96701"/>
            <a:ext cx="306651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汇 报 目 录</a:t>
            </a:r>
          </a:p>
        </p:txBody>
      </p:sp>
      <p:sp>
        <p:nvSpPr>
          <p:cNvPr id="25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337F8EF5-EE92-4B32-81BD-EF745000B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410" y="1641079"/>
            <a:ext cx="899795" cy="903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54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内</a:t>
            </a:r>
          </a:p>
        </p:txBody>
      </p:sp>
      <p:sp>
        <p:nvSpPr>
          <p:cNvPr id="26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FCD99921-665F-4B66-AE49-7284BD36D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83" y="2169399"/>
            <a:ext cx="1560830" cy="903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4400" b="1">
                <a:solidFill>
                  <a:schemeClr val="accent5">
                    <a:lumMod val="75000"/>
                  </a:schemeClr>
                </a:solidFill>
                <a:latin typeface="微软雅黑"/>
                <a:ea typeface="微软雅黑"/>
                <a:cs typeface="微软雅黑"/>
              </a:rPr>
              <a:t>容</a:t>
            </a:r>
          </a:p>
        </p:txBody>
      </p:sp>
      <p:sp>
        <p:nvSpPr>
          <p:cNvPr id="27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B9201529-8A0D-4093-A507-0BC789F27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-606342" y="4048364"/>
            <a:ext cx="3760470" cy="903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4400" b="1">
                <a:solidFill>
                  <a:srgbClr val="D9D9D9"/>
                </a:solidFill>
                <a:latin typeface="Times New Roman"/>
                <a:ea typeface="Times New Roman"/>
                <a:cs typeface="Times New Roman"/>
              </a:rPr>
              <a:t>CONTENTS</a:t>
            </a:r>
          </a:p>
        </p:txBody>
      </p:sp>
      <p:sp>
        <p:nvSpPr>
          <p:cNvPr id="28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68EEC8CE-D680-4D75-9357-8435B86FF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7435" y="1221552"/>
            <a:ext cx="6894395" cy="7368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97D"/>
          </a:solidFill>
          <a:ln xmlns:a="http://schemas.openxmlformats.org/drawingml/2006/main" w="9525">
            <a:noFill/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一、</a:t>
            </a:r>
            <a:r>
              <a:rPr sz="2800" b="1"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            </a:t>
            </a:r>
            <a:r>
              <a:rPr sz="2800" b="1"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研 究 背 景 及 意 义</a:t>
            </a:r>
          </a:p>
        </p:txBody>
      </p:sp>
      <p:sp>
        <p:nvSpPr>
          <p:cNvPr id="30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8697E0A8-C548-4AE4-B466-41CF4569B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9978" y="2358943"/>
            <a:ext cx="6891855" cy="73680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75000"/>
            </a:schemeClr>
          </a:solidFill>
          <a:ln xmlns:a="http://schemas.openxmlformats.org/drawingml/2006/main" w="9525">
            <a:noFill/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二、            国 内 外 研 究 </a:t>
            </a:r>
            <a:r>
              <a:rPr sz="2800" b="1"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现 状</a:t>
            </a:r>
          </a:p>
        </p:txBody>
      </p:sp>
      <p:sp>
        <p:nvSpPr>
          <p:cNvPr id="31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38D7E14F-EA60-422E-8742-808E9A62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7435" y="3496334"/>
            <a:ext cx="6891853" cy="73680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75000"/>
            </a:schemeClr>
          </a:solidFill>
          <a:ln xmlns:a="http://schemas.openxmlformats.org/drawingml/2006/main" w="9525">
            <a:noFill/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三、            关键问题及研究内容</a:t>
            </a:r>
          </a:p>
        </p:txBody>
      </p:sp>
      <p:sp>
        <p:nvSpPr>
          <p:cNvPr id="32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9CACDADB-3EAB-4400-8987-5CE042FF4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7433" y="4633725"/>
            <a:ext cx="6891852" cy="73680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75000"/>
            </a:schemeClr>
          </a:solidFill>
          <a:ln xmlns:a="http://schemas.openxmlformats.org/drawingml/2006/main" w="9525">
            <a:noFill/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四、                拟 研 究 思 路</a:t>
            </a:r>
          </a:p>
        </p:txBody>
      </p:sp>
      <p:sp>
        <p:nvSpPr>
          <p:cNvPr id="24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8BCEB5DE-CDF2-4072-AF2E-B3F124B1E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7433" y="5771116"/>
            <a:ext cx="6891855" cy="73680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75000"/>
            </a:schemeClr>
          </a:solidFill>
          <a:ln xmlns:a="http://schemas.openxmlformats.org/drawingml/2006/main" w="9525">
            <a:noFill/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五、        研 究 计 划 及 论 文 大 纲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4041958-5BB5-4D0C-81DA-E2883ADDB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047750"/>
            <a:ext cx="8096250" cy="542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EB98DF6-3F7C-4220-85FD-8B1934B46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0"/>
            <a:ext cx="42100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D7428FB-3797-47AB-9223-A59CEFC58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733425"/>
            <a:ext cx="42100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14FF142-B827-4D26-8313-BC27546E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14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汇报目录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9D0BBD0-F673-40C0-8CAC-5807736A4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1428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C00000"/>
                </a:solidFill>
              </a:defRPr>
            </a:pPr>
            <a:r>
              <a:rPr sz="2325" b="1">
                <a:solidFill>
                  <a:srgbClr val="C00000"/>
                </a:solidFill>
              </a:rPr>
              <a:t>内容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705E9ED-8A28-440E-B9A1-A927E2280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0"/>
            <a:ext cx="171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BFBFBF"/>
                </a:solidFill>
              </a:defRPr>
            </a:pPr>
            <a:r>
              <a:rPr sz="1650" b="0">
                <a:solidFill>
                  <a:srgbClr val="BFBFBF"/>
                </a:solidFill>
              </a:rPr>
              <a:t>CONTENTS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B62720E-BD1F-4822-8D3B-0C64D9CDF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219200"/>
            <a:ext cx="628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BEA8AF7-BD64-4F4D-BD28-56D826993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333500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一、    研究背景及国内外现状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F2FE13C-DB38-4DE6-A241-77F45E3F5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219325"/>
            <a:ext cx="628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E15723D-576B-4585-AC43-157BE697C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33625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二、    研究要解决的问题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C25D828-4C54-4288-AEC0-BA4C3DB04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19450"/>
            <a:ext cx="628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5489A06-FB1F-4CB9-A8BC-B570AB27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333750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三、    成都迁移与当前结果分析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A2A984D-F164-4BA9-AEB8-4B28B41E3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219575"/>
            <a:ext cx="628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5C56B76-0F9F-4395-84E7-04E75D883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333875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四、    结果不合适的原因诊断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05E4573-6875-4621-94EE-5564CD7A5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219700"/>
            <a:ext cx="628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12879FE-7450-4014-A85E-7824F5199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334000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五、    后续改进方向与实施计划</a:t>
            </a:r>
          </a:p>
        </p:txBody>
      </p:sp>
    </p:spTree>
    <p:extLst>
      <p:ext uri="{BB962C8B-B14F-4D97-AF65-F5344CB8AC3E}">
        <p14:creationId xmlns:p14="http://schemas.microsoft.com/office/powerpoint/2010/main" val="50098661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2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ac6b7200474ef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22091" y="179242"/>
            <a:ext cx="744705" cy="744705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C787D6C-BC45-4032-ABFD-03E70ED47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" y="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28BA50E2-2CCC-4D97-8B8E-9EF15B15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2286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08119F14-FABB-4DC7-B74C-B4593E71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4572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1AAE87C-4AEC-4CE1-9423-623C0716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2530" y="910702"/>
            <a:ext cx="645570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D350B9C-2DA0-4307-B5B8-9F825212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" y="683951"/>
            <a:ext cx="633043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8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048ad18e9e41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704018" y="211706"/>
            <a:ext cx="2327759" cy="675179"/>
          </a:xfrm>
          <a:prstGeom xmlns:a="http://schemas.openxmlformats.org/drawingml/2006/main" prst="rect">
            <a:avLst/>
          </a:prstGeom>
        </p:spPr>
      </p:pic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081E26C6-F2B8-4F59-AAFE-4BC8D11D7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05909" y="143506"/>
            <a:ext cx="0" cy="729641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00000"/>
            </a:solidFill>
          </a:ln>
        </p:spPr>
        <p:style>
          <a:lnRef xmlns:a="http://schemas.openxmlformats.org/drawingml/2006/main" idx="3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70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6c3b3de91944e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289122" y="84514"/>
            <a:ext cx="703864" cy="781252"/>
          </a:xfrm>
          <a:prstGeom xmlns:a="http://schemas.openxmlformats.org/drawingml/2006/main" prst="rect">
            <a:avLst/>
          </a:prstGeom>
        </p:spPr>
      </p:pic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3E00FF0A-6266-4C1C-BE59-6813E81CD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2986" y="176969"/>
            <a:ext cx="3090558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latin typeface="黑体"/>
                <a:ea typeface="黑体"/>
                <a:cs typeface="黑体"/>
              </a:rPr>
              <a:t>空间科学与技术学院</a:t>
            </a:r>
          </a:p>
          <a:p xmlns:a="http://schemas.openxmlformats.org/drawingml/2006/main">
            <a:r>
              <a:rPr sz="1200">
                <a:latin typeface="Times New Roman"/>
                <a:ea typeface="Times New Roman"/>
                <a:cs typeface="Times New Roman"/>
              </a:rPr>
              <a:t>School of Aerospace Science and Technology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E82592A6-7995-4942-95DC-8E23405E8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300" y="1"/>
            <a:ext cx="4203700" cy="7367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48C25488-9535-4E82-9D35-19DC845B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297" y="731909"/>
            <a:ext cx="4203700" cy="2008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90000"/>
            </a:schemeClr>
          </a:solidFill>
          <a:ln xmlns:a="http://schemas.openxmlformats.org/drawingml/2006/main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A1391E92-C434-4A79-A113-DCBD866B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592" y="96290"/>
            <a:ext cx="3635109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研究内容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B7C4407-E3BA-4335-9238-6C907D2E8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0"/>
            <a:ext cx="42100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A40669B-883F-483B-B3E5-FA24856A2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733425"/>
            <a:ext cx="42100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EB3BFA1-896E-4C8D-8611-74B5AF40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14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研究现状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46CB2A6-BC14-4AAE-95A0-2FA8DF32A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365C"/>
                </a:solidFill>
              </a:defRPr>
            </a:pPr>
            <a:r>
              <a:rPr sz="2250" b="1">
                <a:solidFill>
                  <a:srgbClr val="16365C"/>
                </a:solidFill>
              </a:rPr>
              <a:t>国内外研究正在从经验统计反演转向“物理前向 + 数据驱动”的融合框架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693D147-218D-467A-8610-8868AAEAA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41E3EAC-68D3-4A09-9633-245716970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666"/>
                </a:solidFill>
              </a:defRPr>
            </a:pPr>
            <a:r>
              <a:rPr sz="1200" b="0">
                <a:solidFill>
                  <a:srgbClr val="666666"/>
                </a:solidFill>
              </a:rPr>
              <a:t>国外强调OEM/1DVAR、前向模型和不确定度闭环；国内近年更多使用多年站点资料训练机器学习模型，并开始关注偏差订正和资料同化。内容取向必须服务成都站本地化。 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0091733-F761-499B-9460-F7E87A905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2095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F48A34A-A32F-4D77-931E-124432BB4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E0490B5-139A-49EF-8318-8FE8AFB7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52675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E79"/>
                </a:solidFill>
              </a:defRPr>
            </a:pPr>
            <a:r>
              <a:rPr sz="1350" b="1">
                <a:solidFill>
                  <a:srgbClr val="1F4E79"/>
                </a:solidFill>
              </a:rPr>
              <a:t>经典统计反演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94F546B-4781-442C-9794-F4D4B8E1E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95575"/>
            <a:ext cx="17526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F1F1F"/>
                </a:solidFill>
              </a:defRPr>
            </a:pPr>
            <a:r>
              <a:rPr sz="1163" b="0">
                <a:solidFill>
                  <a:srgbClr val="1F1F1F"/>
                </a:solidFill>
              </a:rPr>
              <a:t>线性回归、厂商神经网络</a:t>
            </a:r>
          </a:p>
          <a:p xmlns:a="http://schemas.openxmlformats.org/drawingml/2006/main">
            <a:pPr algn="l">
              <a:defRPr sz="1163" b="0">
                <a:solidFill>
                  <a:srgbClr val="1F1F1F"/>
                </a:solidFill>
              </a:defRPr>
            </a:pPr>
            <a:r>
              <a:rPr sz="1163" b="0">
                <a:solidFill>
                  <a:srgbClr val="1F1F1F"/>
                </a:solidFill>
              </a:rPr>
              <a:t>依赖历史样本和本地气候统计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6D819E7-F3F9-4666-B724-711560033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38375"/>
            <a:ext cx="2095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DE8FF55-7C4B-44D2-9CE1-C34AB45E1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38375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57AC0B0-8C9D-457B-9BA8-551BA35B7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52675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E79"/>
                </a:solidFill>
              </a:defRPr>
            </a:pPr>
            <a:r>
              <a:rPr sz="1350" b="1">
                <a:solidFill>
                  <a:srgbClr val="1F4E79"/>
                </a:solidFill>
              </a:rPr>
              <a:t>OEM / 1DVAR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17956BA-A482-4144-BFB6-D14C2B6DA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95575"/>
            <a:ext cx="17526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F1F1F"/>
                </a:solidFill>
              </a:defRPr>
            </a:pPr>
            <a:r>
              <a:rPr sz="1163" b="0">
                <a:solidFill>
                  <a:srgbClr val="1F1F1F"/>
                </a:solidFill>
              </a:rPr>
              <a:t>Rodgers框架 + RTM</a:t>
            </a:r>
          </a:p>
          <a:p xmlns:a="http://schemas.openxmlformats.org/drawingml/2006/main">
            <a:pPr algn="l">
              <a:defRPr sz="1163" b="0">
                <a:solidFill>
                  <a:srgbClr val="1F1F1F"/>
                </a:solidFill>
              </a:defRPr>
            </a:pPr>
            <a:r>
              <a:rPr sz="1163" b="0">
                <a:solidFill>
                  <a:srgbClr val="1F1F1F"/>
                </a:solidFill>
              </a:rPr>
              <a:t>显式使用S_a / S_e</a:t>
            </a:r>
          </a:p>
          <a:p xmlns:a="http://schemas.openxmlformats.org/drawingml/2006/main">
            <a:pPr algn="l">
              <a:defRPr sz="1163" b="0">
                <a:solidFill>
                  <a:srgbClr val="1F1F1F"/>
                </a:solidFill>
              </a:defRPr>
            </a:pPr>
            <a:r>
              <a:rPr sz="1163" b="0">
                <a:solidFill>
                  <a:srgbClr val="1F1F1F"/>
                </a:solidFill>
              </a:rPr>
              <a:t>和敏感度矩阵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E59982B-1F0B-46B5-A241-95115939A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238375"/>
            <a:ext cx="2095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1EAF61C-7FE4-4B9F-BD7B-7E42E9D70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238375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4CCD5C6-9CCE-40CC-8364-C465DA21A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52675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E79"/>
                </a:solidFill>
              </a:defRPr>
            </a:pPr>
            <a:r>
              <a:rPr sz="1350" b="1">
                <a:solidFill>
                  <a:srgbClr val="1F4E79"/>
                </a:solidFill>
              </a:rPr>
              <a:t>机器学习反演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9EEE692-F68D-4488-9980-A413CFB11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95575"/>
            <a:ext cx="17526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F1F1F"/>
                </a:solidFill>
              </a:defRPr>
            </a:pPr>
            <a:r>
              <a:rPr sz="1163" b="0">
                <a:solidFill>
                  <a:srgbClr val="1F1F1F"/>
                </a:solidFill>
              </a:rPr>
              <a:t>DL / RF / XGBoost / BRNN</a:t>
            </a:r>
          </a:p>
          <a:p xmlns:a="http://schemas.openxmlformats.org/drawingml/2006/main">
            <a:pPr algn="l">
              <a:defRPr sz="1163" b="0">
                <a:solidFill>
                  <a:srgbClr val="1F1F1F"/>
                </a:solidFill>
              </a:defRPr>
            </a:pPr>
            <a:r>
              <a:rPr sz="1163" b="0">
                <a:solidFill>
                  <a:srgbClr val="1F1F1F"/>
                </a:solidFill>
              </a:rPr>
              <a:t>要求多年亮温-探空/再分析配对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7ADFA0A-63E3-4F24-83DF-E657091AA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38375"/>
            <a:ext cx="2095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4CF7137-5F62-49DB-9D4E-831852DA9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38375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FEEC3B3-89AB-4715-AD7E-C1B6242FB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52675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00000"/>
                </a:solidFill>
              </a:defRPr>
            </a:pPr>
            <a:r>
              <a:rPr sz="1350" b="1">
                <a:solidFill>
                  <a:srgbClr val="C00000"/>
                </a:solidFill>
              </a:rPr>
              <a:t>融合趋势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A19A9F4-78EE-48A9-9510-89318F958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95575"/>
            <a:ext cx="17526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F1F1F"/>
                </a:solidFill>
              </a:defRPr>
            </a:pPr>
            <a:r>
              <a:rPr sz="1163" b="0">
                <a:solidFill>
                  <a:srgbClr val="1F1F1F"/>
                </a:solidFill>
              </a:rPr>
              <a:t>NN提供先验，OEM做物理修正</a:t>
            </a:r>
          </a:p>
          <a:p xmlns:a="http://schemas.openxmlformats.org/drawingml/2006/main">
            <a:pPr algn="l">
              <a:defRPr sz="1163" b="0">
                <a:solidFill>
                  <a:srgbClr val="1F1F1F"/>
                </a:solidFill>
              </a:defRPr>
            </a:pPr>
            <a:r>
              <a:rPr sz="1163" b="0">
                <a:solidFill>
                  <a:srgbClr val="1F1F1F"/>
                </a:solidFill>
              </a:rPr>
              <a:t>高频通道需可信RTM校验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690E60E-9AFB-46E9-B416-41C744C8F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00375"/>
            <a:ext cx="3619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F4E79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8E2F86A-5A84-41A6-84D5-339D7A595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00375"/>
            <a:ext cx="3619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F4E79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ABF3F6D-0224-4563-A933-5F4D0C0C4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000375"/>
            <a:ext cx="3619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85AA6EB-DFA3-4A53-B38F-800448953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1F1F"/>
                </a:solidFill>
              </a:defRPr>
            </a:pPr>
            <a:r>
              <a:rPr sz="1350" b="0">
                <a:solidFill>
                  <a:srgbClr val="1F1F1F"/>
                </a:solidFill>
              </a:rPr>
              <a:t>国内现状：广州4年资料ML对比、武汉9年资料ANN偏差订正、北方GMR/RTM模拟和资料同化均说明：样本量、QC、站点偏差订正是工程落地关键。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A9866BA-ED1A-4066-BC3D-D8BF5877A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00625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1F1F"/>
                </a:solidFill>
              </a:defRPr>
            </a:pPr>
            <a:r>
              <a:rPr sz="1350" b="0">
                <a:solidFill>
                  <a:srgbClr val="1F1F1F"/>
                </a:solidFill>
              </a:rPr>
              <a:t>国外现状：HATPRO长期业务评估、复杂地形检验、雨天低层温度扫描角增强、PAMTRA/MonoRTM/RTTOV-gb等前向模型形成物理约束基础。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6A2BA6A-0066-4DDF-B7D4-171E1C32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7777"/>
                </a:solidFill>
              </a:defRPr>
            </a:pPr>
            <a:r>
              <a:rPr sz="788" b="0">
                <a:solidFill>
                  <a:srgbClr val="777777"/>
                </a:solidFill>
              </a:rPr>
              <a:t>来源：Rodgers 2000；Löhnert &amp; Maier 2012；Massaro et al. 2015；Remote Sens. 2023/2025；GMD 2020/2025；AMT 2024/2026。第14页列出链接。 </a:t>
            </a:r>
          </a:p>
        </p:txBody>
      </p:sp>
    </p:spTree>
    <p:extLst>
      <p:ext uri="{BB962C8B-B14F-4D97-AF65-F5344CB8AC3E}">
        <p14:creationId xmlns:p14="http://schemas.microsoft.com/office/powerpoint/2010/main" val="77622895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4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2ef9c6241d4b8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22091" y="179242"/>
            <a:ext cx="744705" cy="744705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C787D6C-BC45-4032-ABFD-03E70ED47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" y="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28BA50E2-2CCC-4D97-8B8E-9EF15B15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2286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08119F14-FABB-4DC7-B74C-B4593E71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4572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1AAE87C-4AEC-4CE1-9423-623C0716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2530" y="910702"/>
            <a:ext cx="645570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D350B9C-2DA0-4307-B5B8-9F825212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" y="683951"/>
            <a:ext cx="633043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0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ff0479227049d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704018" y="211706"/>
            <a:ext cx="2327759" cy="675179"/>
          </a:xfrm>
          <a:prstGeom xmlns:a="http://schemas.openxmlformats.org/drawingml/2006/main" prst="rect">
            <a:avLst/>
          </a:prstGeom>
        </p:spPr>
      </p:pic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081E26C6-F2B8-4F59-AAFE-4BC8D11D7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05909" y="143506"/>
            <a:ext cx="0" cy="729641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00000"/>
            </a:solidFill>
          </a:ln>
        </p:spPr>
        <p:style>
          <a:lnRef xmlns:a="http://schemas.openxmlformats.org/drawingml/2006/main" idx="3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62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e85a8e43f445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289122" y="84514"/>
            <a:ext cx="703864" cy="781252"/>
          </a:xfrm>
          <a:prstGeom xmlns:a="http://schemas.openxmlformats.org/drawingml/2006/main" prst="rect">
            <a:avLst/>
          </a:prstGeom>
        </p:spPr>
      </p:pic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3E00FF0A-6266-4C1C-BE59-6813E81CD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2986" y="176969"/>
            <a:ext cx="3090558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latin typeface="黑体"/>
                <a:ea typeface="黑体"/>
                <a:cs typeface="黑体"/>
              </a:rPr>
              <a:t>空间科学与技术学院</a:t>
            </a:r>
          </a:p>
          <a:p xmlns:a="http://schemas.openxmlformats.org/drawingml/2006/main">
            <a:r>
              <a:rPr sz="1200">
                <a:latin typeface="Times New Roman"/>
                <a:ea typeface="Times New Roman"/>
                <a:cs typeface="Times New Roman"/>
              </a:rPr>
              <a:t>School of Aerospace Science and Technology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E82592A6-7995-4942-95DC-8E23405E8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300" y="1"/>
            <a:ext cx="4203700" cy="7367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48C25488-9535-4E82-9D35-19DC845B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297" y="731909"/>
            <a:ext cx="4203700" cy="2008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90000"/>
            </a:schemeClr>
          </a:solidFill>
          <a:ln xmlns:a="http://schemas.openxmlformats.org/drawingml/2006/main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A1391E92-C434-4A79-A113-DCBD866B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592" y="96290"/>
            <a:ext cx="3635109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研究内容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A500CD6-AA0C-4ED5-B0A8-768461545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0"/>
            <a:ext cx="42100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FE58F20-F7E8-4F76-B463-124895442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733425"/>
            <a:ext cx="42100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1C91ABB-A930-4F91-9B89-6F16F89AB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14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研究内容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D0236AC-6F87-4506-983D-FDD214D3F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365C"/>
                </a:solidFill>
              </a:defRPr>
            </a:pPr>
            <a:r>
              <a:rPr sz="2250" b="1">
                <a:solidFill>
                  <a:srgbClr val="16365C"/>
                </a:solidFill>
              </a:rPr>
              <a:t>本研究要解决的是：让成都站反演从“能跑”变成“可解释、可迁移、可物理约束”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0C1911F-3E77-40C3-8A65-C8887C577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467CA1C-3EF8-4990-B647-69F3AD82C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666"/>
                </a:solidFill>
              </a:defRPr>
            </a:pPr>
            <a:r>
              <a:rPr sz="1200" b="0">
                <a:solidFill>
                  <a:srgbClr val="666666"/>
                </a:solidFill>
              </a:rPr>
              <a:t>目标不是简单追求一次测试RMSE最低，而是建立能被探空验证、能进入OEM、能解释通道贡献的反演链路。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3287277-0961-4B3B-A2B0-4B93EEA62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38375"/>
            <a:ext cx="30003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70D9D4C-5055-40FF-9C7C-A8CFC0150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38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8C0D44E-5D93-4DC6-8E63-E935B5C36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52675"/>
            <a:ext cx="2657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00000"/>
                </a:solidFill>
              </a:defRPr>
            </a:pPr>
            <a:r>
              <a:rPr sz="1350" b="1">
                <a:solidFill>
                  <a:srgbClr val="C00000"/>
                </a:solidFill>
              </a:rPr>
              <a:t>问题1：站点迁移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6A76C30-B93A-454E-9D7E-D05252E4A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95575"/>
            <a:ext cx="2657475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F1F1F"/>
                </a:solidFill>
              </a:defRPr>
            </a:pPr>
            <a:r>
              <a:rPr sz="1163" b="0">
                <a:solidFill>
                  <a:srgbClr val="1F1F1F"/>
                </a:solidFill>
              </a:rPr>
              <a:t>旧站点/天津模型能否直接用到成都？如果不行，失败来自通道、气候还是标签？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886FB98-9CA8-401E-832F-4473334A4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38375"/>
            <a:ext cx="30003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1CF6ED8-5942-44F1-ADD0-21F190A8A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38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DB5C13C-902A-477D-ACB6-D1BCC3E10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52675"/>
            <a:ext cx="2657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E79"/>
                </a:solidFill>
              </a:defRPr>
            </a:pPr>
            <a:r>
              <a:rPr sz="1350" b="1">
                <a:solidFill>
                  <a:srgbClr val="1F4E79"/>
                </a:solidFill>
              </a:rPr>
              <a:t>问题2：BRNN与OEM如何结合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2435B76-1BCF-4794-9E0E-AA700779E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695575"/>
            <a:ext cx="2657475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F1F1F"/>
                </a:solidFill>
              </a:defRPr>
            </a:pPr>
            <a:r>
              <a:rPr sz="1163" b="0">
                <a:solidFill>
                  <a:srgbClr val="1F1F1F"/>
                </a:solidFill>
              </a:rPr>
              <a:t>BRNN适合作为先验/first guess，还是直接输出最终廓线？OEM需要哪些误差协方差？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49515C7-C214-4AD0-8F57-2F3C00E51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38375"/>
            <a:ext cx="30003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F9CEF56-B72A-49F4-B367-DF8B76444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38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0A7D26C-7367-47AC-A2A7-06AB13723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352675"/>
            <a:ext cx="2657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6A6A6"/>
                </a:solidFill>
              </a:defRPr>
            </a:pPr>
            <a:r>
              <a:rPr sz="1350" b="1">
                <a:solidFill>
                  <a:srgbClr val="A6A6A6"/>
                </a:solidFill>
              </a:rPr>
              <a:t>问题3：21通道如何利用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783B356-8BBF-4A4B-9023-AA14C5E7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95575"/>
            <a:ext cx="2657475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F1F1F"/>
                </a:solidFill>
              </a:defRPr>
            </a:pPr>
            <a:r>
              <a:rPr sz="1163" b="0">
                <a:solidFill>
                  <a:srgbClr val="1F1F1F"/>
                </a:solidFill>
              </a:rPr>
              <a:t>前14通道可接MonoRTM，高频89/183/229 GHz是否能稳定提升中高层湿度？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62BB6E1-2CA1-486B-8E4E-8F3A36772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942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365C"/>
                </a:solidFill>
              </a:defRPr>
            </a:pPr>
            <a:r>
              <a:rPr sz="1575" b="1">
                <a:solidFill>
                  <a:srgbClr val="16365C"/>
                </a:solidFill>
              </a:rPr>
              <a:t>当前策略：先用成都本地数据训练稳定统计先验，再以前14通道接入MonoRTM/OEM；高频通道作为待验证增量信息，不提前放入物理反演闭环。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E9E0E37-01A5-46B1-8EB7-851A04CF0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7777"/>
                </a:solidFill>
              </a:defRPr>
            </a:pPr>
            <a:r>
              <a:rPr sz="788" b="0">
                <a:solidFill>
                  <a:srgbClr val="777777"/>
                </a:solidFill>
              </a:rPr>
              <a:t>项目依据：config.py、reports/进度记录/OEM阶段进度.md、成都ERA5精确配对训练与物理48层优化报告。 </a:t>
            </a:r>
          </a:p>
        </p:txBody>
      </p:sp>
    </p:spTree>
    <p:extLst>
      <p:ext uri="{BB962C8B-B14F-4D97-AF65-F5344CB8AC3E}">
        <p14:creationId xmlns:p14="http://schemas.microsoft.com/office/powerpoint/2010/main" val="77622895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4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9eaf619aaa4cf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22091" y="179242"/>
            <a:ext cx="744705" cy="744705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C787D6C-BC45-4032-ABFD-03E70ED47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" y="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28BA50E2-2CCC-4D97-8B8E-9EF15B15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2286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08119F14-FABB-4DC7-B74C-B4593E71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4572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1AAE87C-4AEC-4CE1-9423-623C0716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2530" y="910702"/>
            <a:ext cx="645570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D350B9C-2DA0-4307-B5B8-9F825212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" y="683951"/>
            <a:ext cx="633043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70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5a9c02e9314fd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704018" y="211706"/>
            <a:ext cx="2327759" cy="675179"/>
          </a:xfrm>
          <a:prstGeom xmlns:a="http://schemas.openxmlformats.org/drawingml/2006/main" prst="rect">
            <a:avLst/>
          </a:prstGeom>
        </p:spPr>
      </p:pic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081E26C6-F2B8-4F59-AAFE-4BC8D11D7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05909" y="143506"/>
            <a:ext cx="0" cy="729641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00000"/>
            </a:solidFill>
          </a:ln>
        </p:spPr>
        <p:style>
          <a:lnRef xmlns:a="http://schemas.openxmlformats.org/drawingml/2006/main" idx="3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72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7f7d29522e40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289122" y="84514"/>
            <a:ext cx="703864" cy="781252"/>
          </a:xfrm>
          <a:prstGeom xmlns:a="http://schemas.openxmlformats.org/drawingml/2006/main" prst="rect">
            <a:avLst/>
          </a:prstGeom>
        </p:spPr>
      </p:pic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3E00FF0A-6266-4C1C-BE59-6813E81CD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2986" y="176969"/>
            <a:ext cx="3090558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latin typeface="黑体"/>
                <a:ea typeface="黑体"/>
                <a:cs typeface="黑体"/>
              </a:rPr>
              <a:t>空间科学与技术学院</a:t>
            </a:r>
          </a:p>
          <a:p xmlns:a="http://schemas.openxmlformats.org/drawingml/2006/main">
            <a:r>
              <a:rPr sz="1200">
                <a:latin typeface="Times New Roman"/>
                <a:ea typeface="Times New Roman"/>
                <a:cs typeface="Times New Roman"/>
              </a:rPr>
              <a:t>School of Aerospace Science and Technology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E82592A6-7995-4942-95DC-8E23405E8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300" y="1"/>
            <a:ext cx="4203700" cy="7367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48C25488-9535-4E82-9D35-19DC845B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297" y="731909"/>
            <a:ext cx="4203700" cy="2008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90000"/>
            </a:schemeClr>
          </a:solidFill>
          <a:ln xmlns:a="http://schemas.openxmlformats.org/drawingml/2006/main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A1391E92-C434-4A79-A113-DCBD866B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592" y="96290"/>
            <a:ext cx="3635109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研究内容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FE19394-07E8-48E1-87D6-F1BD4E0C1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0"/>
            <a:ext cx="42100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0B571C9-C96F-4A9C-ADE8-64B79B7A0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733425"/>
            <a:ext cx="42100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231480A-6EE3-4AC0-99B8-9D58FEDD1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14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方法路线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9BACAC3-892F-42EC-B67C-707429C89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365C"/>
                </a:solidFill>
              </a:defRPr>
            </a:pPr>
            <a:r>
              <a:rPr sz="2250" b="1">
                <a:solidFill>
                  <a:srgbClr val="16365C"/>
                </a:solidFill>
              </a:rPr>
              <a:t>推荐路线是“成都本地BRNN/Ridge先验 + 前14通道OEM修正 + 高频通道逐步验证”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9AC3E3C-A078-42DD-8D91-374DA74B4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CE7E573-3521-4D80-B645-01D1FBAA3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666"/>
                </a:solidFill>
              </a:defRPr>
            </a:pPr>
            <a:r>
              <a:rPr sz="1200" b="0">
                <a:solidFill>
                  <a:srgbClr val="666666"/>
                </a:solidFill>
              </a:rPr>
              <a:t>BRNN不是直接替代OEM，而是提供更好的x_a；OEM再用前向模型和观测亮温残差进行物理校正。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068B9EA-CDEB-4D7C-ADBC-519F3199F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13811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4E7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09B655B-1957-4349-92A4-1B432E3CE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1190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365C"/>
                </a:solidFill>
              </a:defRPr>
            </a:pPr>
            <a:r>
              <a:rPr sz="1275" b="1">
                <a:solidFill>
                  <a:srgbClr val="16365C"/>
                </a:solidFill>
              </a:rPr>
              <a:t>实测亮温</a:t>
            </a:r>
          </a:p>
          <a:p xmlns:a="http://schemas.openxmlformats.org/drawingml/2006/main">
            <a:pPr algn="ctr">
              <a:defRPr sz="1275" b="1">
                <a:solidFill>
                  <a:srgbClr val="16365C"/>
                </a:solidFill>
              </a:defRPr>
            </a:pPr>
            <a:r>
              <a:rPr sz="1275" b="1">
                <a:solidFill>
                  <a:srgbClr val="16365C"/>
                </a:solidFill>
              </a:rPr>
              <a:t>21通道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950E1CF-FCDF-441E-85F8-7EB6FEF39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476500"/>
            <a:ext cx="13811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4E7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5BB321F-552B-41CE-B085-41E4D81B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667000"/>
            <a:ext cx="1190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365C"/>
                </a:solidFill>
              </a:defRPr>
            </a:pPr>
            <a:r>
              <a:rPr sz="1275" b="1">
                <a:solidFill>
                  <a:srgbClr val="16365C"/>
                </a:solidFill>
              </a:rPr>
              <a:t>ERA5/探空</a:t>
            </a:r>
          </a:p>
          <a:p xmlns:a="http://schemas.openxmlformats.org/drawingml/2006/main">
            <a:pPr algn="ctr">
              <a:defRPr sz="1275" b="1">
                <a:solidFill>
                  <a:srgbClr val="16365C"/>
                </a:solidFill>
              </a:defRPr>
            </a:pPr>
            <a:r>
              <a:rPr sz="1275" b="1">
                <a:solidFill>
                  <a:srgbClr val="16365C"/>
                </a:solidFill>
              </a:rPr>
              <a:t>配对标签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232CCB8-984A-4260-AA32-0B2CCD4D7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76500"/>
            <a:ext cx="13811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F4E79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1E50EEF-5117-4A34-B174-479AB1F0C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67000"/>
            <a:ext cx="1190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365C"/>
                </a:solidFill>
              </a:defRPr>
            </a:pPr>
            <a:r>
              <a:rPr sz="1275" b="1">
                <a:solidFill>
                  <a:srgbClr val="16365C"/>
                </a:solidFill>
              </a:rPr>
              <a:t>Ridge/BRNN</a:t>
            </a:r>
          </a:p>
          <a:p xmlns:a="http://schemas.openxmlformats.org/drawingml/2006/main">
            <a:pPr algn="ctr">
              <a:defRPr sz="1275" b="1">
                <a:solidFill>
                  <a:srgbClr val="16365C"/>
                </a:solidFill>
              </a:defRPr>
            </a:pPr>
            <a:r>
              <a:rPr sz="1275" b="1">
                <a:solidFill>
                  <a:srgbClr val="16365C"/>
                </a:solidFill>
              </a:rPr>
              <a:t>成都先验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621B8D4-0109-4528-8427-41835A524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76500"/>
            <a:ext cx="13811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4E79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9986503-73BE-4327-9BD5-C7268266D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67000"/>
            <a:ext cx="1190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365C"/>
                </a:solidFill>
              </a:defRPr>
            </a:pPr>
            <a:r>
              <a:rPr sz="1275" b="1">
                <a:solidFill>
                  <a:srgbClr val="16365C"/>
                </a:solidFill>
              </a:rPr>
              <a:t>MonoRTM</a:t>
            </a:r>
          </a:p>
          <a:p xmlns:a="http://schemas.openxmlformats.org/drawingml/2006/main">
            <a:pPr algn="ctr">
              <a:defRPr sz="1275" b="1">
                <a:solidFill>
                  <a:srgbClr val="16365C"/>
                </a:solidFill>
              </a:defRPr>
            </a:pPr>
            <a:r>
              <a:rPr sz="1275" b="1">
                <a:solidFill>
                  <a:srgbClr val="16365C"/>
                </a:solidFill>
              </a:rPr>
              <a:t>前14通道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18C094C-F334-489B-B386-235FBFC06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76500"/>
            <a:ext cx="13811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A"/>
          </a:solidFill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50663C6-11D3-4663-957F-6E5F3A43D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67000"/>
            <a:ext cx="1190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C00000"/>
                </a:solidFill>
              </a:defRPr>
            </a:pPr>
            <a:r>
              <a:rPr sz="1275" b="1">
                <a:solidFill>
                  <a:srgbClr val="C00000"/>
                </a:solidFill>
              </a:rPr>
              <a:t>OEM</a:t>
            </a:r>
          </a:p>
          <a:p xmlns:a="http://schemas.openxmlformats.org/drawingml/2006/main">
            <a:pPr algn="ctr">
              <a:defRPr sz="1275" b="1">
                <a:solidFill>
                  <a:srgbClr val="C00000"/>
                </a:solidFill>
              </a:defRPr>
            </a:pPr>
            <a:r>
              <a:rPr sz="1275" b="1">
                <a:solidFill>
                  <a:srgbClr val="C00000"/>
                </a:solidFill>
              </a:rPr>
              <a:t>物理修正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C27E267-8681-4A35-90F2-E9CA4C161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905125"/>
            <a:ext cx="50482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F4E79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6FC60D1-FB52-4C0A-A78E-E7AB23232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905125"/>
            <a:ext cx="50482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F4E79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FAAB316-2243-45CB-A6CC-C9DA388B4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905125"/>
            <a:ext cx="69532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F4E79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6075414-E261-4038-851A-A6E633662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905125"/>
            <a:ext cx="69532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ACFEDEB-107C-427B-A121-CB8B8277A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6671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4E79"/>
                </a:solidFill>
              </a:defRPr>
            </a:pPr>
            <a:r>
              <a:rPr sz="1125" b="0">
                <a:solidFill>
                  <a:srgbClr val="1F4E79"/>
                </a:solidFill>
              </a:rPr>
              <a:t>S_a：由成都ERA5/探空误差统计估计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4E5FFA8-6976-46E0-AEDF-E0A0E2E4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6671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00000"/>
                </a:solidFill>
              </a:defRPr>
            </a:pPr>
            <a:r>
              <a:rPr sz="1125" b="0">
                <a:solidFill>
                  <a:srgbClr val="C00000"/>
                </a:solidFill>
              </a:rPr>
              <a:t>S_e / OMB：由观测-模拟亮温偏差估计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E148889-EAA0-4355-BAC9-191F075F2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4572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5C27713-9320-4C4E-97B9-91989507F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4C2AF61-3017-47DA-BB86-0218FA8CB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91050"/>
            <a:ext cx="422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E79"/>
                </a:solidFill>
              </a:defRPr>
            </a:pPr>
            <a:r>
              <a:rPr sz="1350" b="1">
                <a:solidFill>
                  <a:srgbClr val="1F4E79"/>
                </a:solidFill>
              </a:rPr>
              <a:t>当前已完成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4180208-2B0B-4666-99E4-BB5DBDE02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33950"/>
            <a:ext cx="4229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F1F1F"/>
                </a:solidFill>
              </a:defRPr>
            </a:pPr>
            <a:r>
              <a:rPr sz="1163" b="0">
                <a:solidFill>
                  <a:srgbClr val="1F1F1F"/>
                </a:solidFill>
              </a:rPr>
              <a:t>成都21通道配置、ERA5精确配对、本地训练、物理48层处理、独立探空评估。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C5004E4-BDE1-44D5-9B2E-C0681610B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76750"/>
            <a:ext cx="4572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2548108-6C56-432F-B0A7-C5CA985E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767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0429755-63B2-4552-8CB5-BF8ED7282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91050"/>
            <a:ext cx="422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00000"/>
                </a:solidFill>
              </a:defRPr>
            </a:pPr>
            <a:r>
              <a:rPr sz="1350" b="1">
                <a:solidFill>
                  <a:srgbClr val="C00000"/>
                </a:solidFill>
              </a:rPr>
              <a:t>下一步关键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F7FFE05-53A1-463D-8735-2E79B1D11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33950"/>
            <a:ext cx="4229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F1F1F"/>
                </a:solidFill>
              </a:defRPr>
            </a:pPr>
            <a:r>
              <a:rPr sz="1163" b="0">
                <a:solidFill>
                  <a:srgbClr val="1F1F1F"/>
                </a:solidFill>
              </a:rPr>
              <a:t>补surface变量与QC，先跑前14通道真实观测OEM，再验证89/183/229 GHz。</a:t>
            </a:r>
          </a:p>
        </p:txBody>
      </p:sp>
    </p:spTree>
    <p:extLst>
      <p:ext uri="{BB962C8B-B14F-4D97-AF65-F5344CB8AC3E}">
        <p14:creationId xmlns:p14="http://schemas.microsoft.com/office/powerpoint/2010/main" val="77622895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1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23ab0a92884e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22091" y="179242"/>
            <a:ext cx="744705" cy="744705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C787D6C-BC45-4032-ABFD-03E70ED47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" y="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28BA50E2-2CCC-4D97-8B8E-9EF15B15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2286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08119F14-FABB-4DC7-B74C-B4593E71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4572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1AAE87C-4AEC-4CE1-9423-623C0716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2530" y="910702"/>
            <a:ext cx="645570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D350B9C-2DA0-4307-B5B8-9F825212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" y="683951"/>
            <a:ext cx="633043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87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0846759325498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704018" y="211706"/>
            <a:ext cx="2327759" cy="675179"/>
          </a:xfrm>
          <a:prstGeom xmlns:a="http://schemas.openxmlformats.org/drawingml/2006/main" prst="rect">
            <a:avLst/>
          </a:prstGeom>
        </p:spPr>
      </p:pic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081E26C6-F2B8-4F59-AAFE-4BC8D11D7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05909" y="143506"/>
            <a:ext cx="0" cy="729641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00000"/>
            </a:solidFill>
          </a:ln>
        </p:spPr>
        <p:style>
          <a:lnRef xmlns:a="http://schemas.openxmlformats.org/drawingml/2006/main" idx="3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89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86d8755c5345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289122" y="84514"/>
            <a:ext cx="703864" cy="781252"/>
          </a:xfrm>
          <a:prstGeom xmlns:a="http://schemas.openxmlformats.org/drawingml/2006/main" prst="rect">
            <a:avLst/>
          </a:prstGeom>
        </p:spPr>
      </p:pic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3E00FF0A-6266-4C1C-BE59-6813E81CD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2986" y="176969"/>
            <a:ext cx="3090558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latin typeface="黑体"/>
                <a:ea typeface="黑体"/>
                <a:cs typeface="黑体"/>
              </a:rPr>
              <a:t>空间科学与技术学院</a:t>
            </a:r>
          </a:p>
          <a:p xmlns:a="http://schemas.openxmlformats.org/drawingml/2006/main">
            <a:r>
              <a:rPr sz="1200">
                <a:latin typeface="Times New Roman"/>
                <a:ea typeface="Times New Roman"/>
                <a:cs typeface="Times New Roman"/>
              </a:rPr>
              <a:t>School of Aerospace Science and Technology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E82592A6-7995-4942-95DC-8E23405E8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300" y="1"/>
            <a:ext cx="4203700" cy="7367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48C25488-9535-4E82-9D35-19DC845B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297" y="731909"/>
            <a:ext cx="4203700" cy="2008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90000"/>
            </a:schemeClr>
          </a:solidFill>
          <a:ln xmlns:a="http://schemas.openxmlformats.org/drawingml/2006/main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A1391E92-C434-4A79-A113-DCBD866B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592" y="96290"/>
            <a:ext cx="3635109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研究内容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AAD78BE-8F91-48D5-B892-155D719B8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0"/>
            <a:ext cx="42100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A04E414-2ABE-46AA-AB01-20D0B220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733425"/>
            <a:ext cx="42100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541DA75-F047-4096-8A7A-FAF21F403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14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数据资产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D180281-CE29-43B3-939C-9F623C0CB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365C"/>
                </a:solidFill>
              </a:defRPr>
            </a:pPr>
            <a:r>
              <a:rPr sz="2250" b="1">
                <a:solidFill>
                  <a:srgbClr val="16365C"/>
                </a:solidFill>
              </a:rPr>
              <a:t>成都站数据链路已经打通，但样本规模仍不足以支撑强泛化神经网络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173DB28-540C-4F95-B791-4D4676A05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E92F551-F5C6-4B5B-A37B-78FAF05EA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666"/>
                </a:solidFill>
              </a:defRPr>
            </a:pPr>
            <a:r>
              <a:rPr sz="1200" b="0">
                <a:solidFill>
                  <a:srgbClr val="666666"/>
                </a:solidFill>
              </a:rPr>
              <a:t>当前训练样本只有69条，能做阶段验证，但不能作为最终部署精度证明。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3C50193-AA0C-4F12-871E-7AA8303E6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619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47F9DAC-3D33-40D7-A1F6-4BD095421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666"/>
                </a:solidFill>
              </a:defRPr>
            </a:pPr>
            <a:r>
              <a:rPr sz="1125" b="0">
                <a:solidFill>
                  <a:srgbClr val="666666"/>
                </a:solidFill>
              </a:rPr>
              <a:t>实测亮温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CC1A7E9-AA09-47B0-839D-3A0F442CB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38400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4E79"/>
                </a:solidFill>
              </a:defRPr>
            </a:pPr>
            <a:r>
              <a:rPr sz="2025" b="1">
                <a:solidFill>
                  <a:srgbClr val="1F4E79"/>
                </a:solidFill>
              </a:rPr>
              <a:t>163条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AE9D266-A5D3-4141-93E5-5645A0BCE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3845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66666"/>
                </a:solidFill>
              </a:defRPr>
            </a:pPr>
            <a:r>
              <a:rPr sz="1013" b="0">
                <a:solidFill>
                  <a:srgbClr val="666666"/>
                </a:solidFill>
              </a:rPr>
              <a:t>2026-05-13至05-30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0305138-5438-4945-AF21-3C012178F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095500"/>
            <a:ext cx="1619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E960167-7A04-449A-93E3-10D9C8DBA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1907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666"/>
                </a:solidFill>
              </a:defRPr>
            </a:pPr>
            <a:r>
              <a:rPr sz="1125" b="0">
                <a:solidFill>
                  <a:srgbClr val="666666"/>
                </a:solidFill>
              </a:rPr>
              <a:t>ERA5同小时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43A7D10-F3A1-4413-A269-39A9A3143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438400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4E79"/>
                </a:solidFill>
              </a:defRPr>
            </a:pPr>
            <a:r>
              <a:rPr sz="2025" b="1">
                <a:solidFill>
                  <a:srgbClr val="1F4E79"/>
                </a:solidFill>
              </a:rPr>
              <a:t>139条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F0D6181-121D-4EF6-B90D-C79EDC305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83845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66666"/>
                </a:solidFill>
              </a:defRPr>
            </a:pPr>
            <a:r>
              <a:rPr sz="1013" b="0">
                <a:solidFill>
                  <a:srgbClr val="666666"/>
                </a:solidFill>
              </a:rPr>
              <a:t>严格UTC小时匹配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68EEF70-FE18-47F4-A7B4-0A1D6AC8C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1619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1AEC2FB-3DCD-43CA-AFC2-866C52B7D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907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666"/>
                </a:solidFill>
              </a:defRPr>
            </a:pPr>
            <a:r>
              <a:rPr sz="1125" b="0">
                <a:solidFill>
                  <a:srgbClr val="666666"/>
                </a:solidFill>
              </a:rPr>
              <a:t>训练样本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6564305-A67C-417D-A391-029C8A415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38400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C00000"/>
                </a:solidFill>
              </a:defRPr>
            </a:pPr>
            <a:r>
              <a:rPr sz="2025" b="1">
                <a:solidFill>
                  <a:srgbClr val="C00000"/>
                </a:solidFill>
              </a:rPr>
              <a:t>69条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FD9976E-337F-48A5-89C5-9FAACED74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3845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66666"/>
                </a:solidFill>
              </a:defRPr>
            </a:pPr>
            <a:r>
              <a:rPr sz="1013" b="0">
                <a:solidFill>
                  <a:srgbClr val="666666"/>
                </a:solidFill>
              </a:rPr>
              <a:t>11天，日期划分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C230031-65EF-40B9-944C-D2D1D2002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95500"/>
            <a:ext cx="1619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F90AA55-B0E9-48AE-A900-41647E75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666"/>
                </a:solidFill>
              </a:defRPr>
            </a:pPr>
            <a:r>
              <a:rPr sz="1125" b="0">
                <a:solidFill>
                  <a:srgbClr val="666666"/>
                </a:solidFill>
              </a:rPr>
              <a:t>独立探空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B2FDE13-87C8-49CE-B997-0947C6136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38400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C77C02"/>
                </a:solidFill>
              </a:defRPr>
            </a:pPr>
            <a:r>
              <a:rPr sz="2025" b="1">
                <a:solidFill>
                  <a:srgbClr val="C77C02"/>
                </a:solidFill>
              </a:rPr>
              <a:t>6份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5256C8B-D584-4AB9-912C-D1A46D7D3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3845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66666"/>
                </a:solidFill>
              </a:defRPr>
            </a:pPr>
            <a:r>
              <a:rPr sz="1013" b="0">
                <a:solidFill>
                  <a:srgbClr val="666666"/>
                </a:solidFill>
              </a:rPr>
              <a:t>亮温差1-2小时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6DC8A85-8655-44CA-817A-309AE58F0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95500"/>
            <a:ext cx="1619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34B2907-70FE-478D-946E-2BA3496BF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907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666"/>
                </a:solidFill>
              </a:defRPr>
            </a:pPr>
            <a:r>
              <a:rPr sz="1125" b="0">
                <a:solidFill>
                  <a:srgbClr val="666666"/>
                </a:solidFill>
              </a:rPr>
              <a:t>通道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F5D1BCD-149A-40A9-9316-C61279730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38400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E7D32"/>
                </a:solidFill>
              </a:defRPr>
            </a:pPr>
            <a:r>
              <a:rPr sz="2025" b="1">
                <a:solidFill>
                  <a:srgbClr val="2E7D32"/>
                </a:solidFill>
              </a:rPr>
              <a:t>21个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0CB6514-006E-4D5A-8EF5-36575894B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3845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66666"/>
                </a:solidFill>
              </a:defRPr>
            </a:pPr>
            <a:r>
              <a:rPr sz="1013" b="0">
                <a:solidFill>
                  <a:srgbClr val="666666"/>
                </a:solidFill>
              </a:rPr>
              <a:t>前14个兼容HATPRO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2181ED6-1A9D-47B6-A384-51E6EAF21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365C"/>
                </a:solidFill>
              </a:defRPr>
            </a:pPr>
            <a:r>
              <a:rPr sz="1575" b="1">
                <a:solidFill>
                  <a:srgbClr val="16365C"/>
                </a:solidFill>
              </a:rPr>
              <a:t>通道分组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6A876F4-4C02-4E72-9F60-14620583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29100"/>
            <a:ext cx="2190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4E79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830D1B1-B532-4CB6-9073-328044D01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338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4E79"/>
                </a:solidFill>
              </a:defRPr>
            </a:pPr>
            <a:r>
              <a:rPr sz="1200" b="1">
                <a:solidFill>
                  <a:srgbClr val="1F4E79"/>
                </a:solidFill>
              </a:rPr>
              <a:t>K-band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8122FD3-0DA5-4F89-BFED-0B3673079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291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F1F1F"/>
                </a:solidFill>
              </a:defRPr>
            </a:pPr>
            <a:r>
              <a:rPr sz="938" b="0">
                <a:solidFill>
                  <a:srgbClr val="1F1F1F"/>
                </a:solidFill>
              </a:rPr>
              <a:t>22.24-31.40 GHz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09FCB3E-F88F-4401-896E-745B9C34C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7680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55555"/>
                </a:solidFill>
              </a:defRPr>
            </a:pPr>
            <a:r>
              <a:rPr sz="938" b="0">
                <a:solidFill>
                  <a:srgbClr val="555555"/>
                </a:solidFill>
              </a:rPr>
              <a:t>水汽 / 液态水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3731504-4FBF-4BF9-A59A-47EAEA17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4229100"/>
            <a:ext cx="2190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96A9581-0290-48F7-91DC-F77AC6F5E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43338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00000"/>
                </a:solidFill>
              </a:defRPr>
            </a:pPr>
            <a:r>
              <a:rPr sz="1200" b="1">
                <a:solidFill>
                  <a:srgbClr val="C00000"/>
                </a:solidFill>
              </a:rPr>
              <a:t>V-band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5D86331-1F58-4A81-9172-7CBC7E6D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6291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F1F1F"/>
                </a:solidFill>
              </a:defRPr>
            </a:pPr>
            <a:r>
              <a:rPr sz="938" b="0">
                <a:solidFill>
                  <a:srgbClr val="1F1F1F"/>
                </a:solidFill>
              </a:rPr>
              <a:t>51.26-58.00 GHz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139F3FA-C805-428B-8365-231840BB8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87680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55555"/>
                </a:solidFill>
              </a:defRPr>
            </a:pPr>
            <a:r>
              <a:rPr sz="938" b="0">
                <a:solidFill>
                  <a:srgbClr val="555555"/>
                </a:solidFill>
              </a:rPr>
              <a:t>温度廓线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F8055DF-2478-41CD-91B8-58FA834C5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229100"/>
            <a:ext cx="128587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6A6A6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C69D56E-2C2A-488A-95F6-28B5635F6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333875"/>
            <a:ext cx="1095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A6A6A6"/>
                </a:solidFill>
              </a:defRPr>
            </a:pPr>
            <a:r>
              <a:rPr sz="1200" b="1">
                <a:solidFill>
                  <a:srgbClr val="A6A6A6"/>
                </a:solidFill>
              </a:rPr>
              <a:t>89 GHz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AE372E8-64DE-4053-B5A5-B8EDAF4A4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629150"/>
            <a:ext cx="1133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F1F1F"/>
                </a:solidFill>
              </a:defRPr>
            </a:pPr>
            <a:r>
              <a:rPr sz="938" b="0">
                <a:solidFill>
                  <a:srgbClr val="1F1F1F"/>
                </a:solidFill>
              </a:rPr>
              <a:t>窗口通道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2ECA9D1-9242-40C9-8A5E-87BD52614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876800"/>
            <a:ext cx="1133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55555"/>
                </a:solidFill>
              </a:defRPr>
            </a:pPr>
            <a:r>
              <a:rPr sz="938" b="0">
                <a:solidFill>
                  <a:srgbClr val="555555"/>
                </a:solidFill>
              </a:rPr>
              <a:t>云液水 / 水汽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7E0D2E7-EBA3-4F3C-AF87-7DDE8BF79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229100"/>
            <a:ext cx="2000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7D32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8D4F97E-71EF-43B5-82C7-93399C991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333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E7D32"/>
                </a:solidFill>
              </a:defRPr>
            </a:pPr>
            <a:r>
              <a:rPr sz="1200" b="1">
                <a:solidFill>
                  <a:srgbClr val="2E7D32"/>
                </a:solidFill>
              </a:rPr>
              <a:t>183 GHz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05B5A79-CA6A-431F-904C-C49EABBA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629150"/>
            <a:ext cx="1847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F1F1F"/>
                </a:solidFill>
              </a:defRPr>
            </a:pPr>
            <a:r>
              <a:rPr sz="938" b="0">
                <a:solidFill>
                  <a:srgbClr val="1F1F1F"/>
                </a:solidFill>
              </a:rPr>
              <a:t>184.31-190.31 GHz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0391ED9-72A1-40D6-BA4E-744D10608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876800"/>
            <a:ext cx="1847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55555"/>
                </a:solidFill>
              </a:defRPr>
            </a:pPr>
            <a:r>
              <a:rPr sz="938" b="0">
                <a:solidFill>
                  <a:srgbClr val="555555"/>
                </a:solidFill>
              </a:rPr>
              <a:t>中高层湿度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6FCE84D-20CE-4C4F-A195-26E447F7E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229100"/>
            <a:ext cx="128587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77C02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40A9C19-2604-484D-B3E6-45C8CC736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333875"/>
            <a:ext cx="1095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77C02"/>
                </a:solidFill>
              </a:defRPr>
            </a:pPr>
            <a:r>
              <a:rPr sz="1200" b="1">
                <a:solidFill>
                  <a:srgbClr val="C77C02"/>
                </a:solidFill>
              </a:rPr>
              <a:t>229 GHz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F6895A2-D53B-4CBE-8244-6532AD066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4629150"/>
            <a:ext cx="1133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F1F1F"/>
                </a:solidFill>
              </a:defRPr>
            </a:pPr>
            <a:r>
              <a:rPr sz="938" b="0">
                <a:solidFill>
                  <a:srgbClr val="1F1F1F"/>
                </a:solidFill>
              </a:rPr>
              <a:t>高频窗口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B8B9C42-C717-451F-83F5-40816E55E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4876800"/>
            <a:ext cx="1133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55555"/>
                </a:solidFill>
              </a:defRPr>
            </a:pPr>
            <a:r>
              <a:rPr sz="938" b="0">
                <a:solidFill>
                  <a:srgbClr val="555555"/>
                </a:solidFill>
              </a:rPr>
              <a:t>水汽 / 云</a:t>
            </a:r>
          </a:p>
        </p:txBody>
      </p:sp>
    </p:spTree>
    <p:extLst>
      <p:ext uri="{BB962C8B-B14F-4D97-AF65-F5344CB8AC3E}">
        <p14:creationId xmlns:p14="http://schemas.microsoft.com/office/powerpoint/2010/main" val="77622895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8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242466c12947c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22091" y="179242"/>
            <a:ext cx="744705" cy="744705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C787D6C-BC45-4032-ABFD-03E70ED47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" y="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28BA50E2-2CCC-4D97-8B8E-9EF15B15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2286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08119F14-FABB-4DC7-B74C-B4593E71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4572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1AAE87C-4AEC-4CE1-9423-623C0716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2530" y="910702"/>
            <a:ext cx="645570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D350B9C-2DA0-4307-B5B8-9F825212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" y="683951"/>
            <a:ext cx="633043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94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b27e57f89d42b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704018" y="211706"/>
            <a:ext cx="2327759" cy="675179"/>
          </a:xfrm>
          <a:prstGeom xmlns:a="http://schemas.openxmlformats.org/drawingml/2006/main" prst="rect">
            <a:avLst/>
          </a:prstGeom>
        </p:spPr>
      </p:pic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081E26C6-F2B8-4F59-AAFE-4BC8D11D7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05909" y="143506"/>
            <a:ext cx="0" cy="729641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00000"/>
            </a:solidFill>
          </a:ln>
        </p:spPr>
        <p:style>
          <a:lnRef xmlns:a="http://schemas.openxmlformats.org/drawingml/2006/main" idx="3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9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6645df348842b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289122" y="84514"/>
            <a:ext cx="703864" cy="781252"/>
          </a:xfrm>
          <a:prstGeom xmlns:a="http://schemas.openxmlformats.org/drawingml/2006/main" prst="rect">
            <a:avLst/>
          </a:prstGeom>
        </p:spPr>
      </p:pic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3E00FF0A-6266-4C1C-BE59-6813E81CD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2986" y="176969"/>
            <a:ext cx="3090558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latin typeface="黑体"/>
                <a:ea typeface="黑体"/>
                <a:cs typeface="黑体"/>
              </a:rPr>
              <a:t>空间科学与技术学院</a:t>
            </a:r>
          </a:p>
          <a:p xmlns:a="http://schemas.openxmlformats.org/drawingml/2006/main">
            <a:r>
              <a:rPr sz="1200">
                <a:latin typeface="Times New Roman"/>
                <a:ea typeface="Times New Roman"/>
                <a:cs typeface="Times New Roman"/>
              </a:rPr>
              <a:t>School of Aerospace Science and Technology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E82592A6-7995-4942-95DC-8E23405E8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300" y="1"/>
            <a:ext cx="4203700" cy="7367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48C25488-9535-4E82-9D35-19DC845B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297" y="731909"/>
            <a:ext cx="4203700" cy="2008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90000"/>
            </a:schemeClr>
          </a:solidFill>
          <a:ln xmlns:a="http://schemas.openxmlformats.org/drawingml/2006/main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A1391E92-C434-4A79-A113-DCBD866B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592" y="96290"/>
            <a:ext cx="3635109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研究内容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D9AC867-78BF-419D-9AC4-9D8EF9877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0"/>
            <a:ext cx="42100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8FF6053-0D7B-43A9-8A18-297838B0B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733425"/>
            <a:ext cx="42100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B99B2BC-C349-455F-94C9-3E5702C9B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14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方法尝试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89BC4BE-3BB8-473F-829E-853C1E09B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365C"/>
                </a:solidFill>
              </a:defRPr>
            </a:pPr>
            <a:r>
              <a:rPr sz="2250" b="1">
                <a:solidFill>
                  <a:srgbClr val="16365C"/>
                </a:solidFill>
              </a:rPr>
              <a:t>OEM链路已经验证可行，但BRNN+OEM必须先解决通道自洽和误差协方差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0A77130-AD68-46D2-AAEC-6AAE5EB4B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942600E-E7A5-4EE1-8790-5802C647C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666"/>
                </a:solidFill>
              </a:defRPr>
            </a:pPr>
            <a:r>
              <a:rPr sz="1200" b="0">
                <a:solidFill>
                  <a:srgbClr val="666666"/>
                </a:solidFill>
              </a:rPr>
              <a:t>非自洽前向模型会让OEM把温度拉坏，因此不能直接把旧BRNN输出和任意前向模型拼接。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37301A0-F3F3-4CF2-AC30-3C7DB1298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5B53D76-8868-4230-9FE3-81D0C1A5C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33600"/>
            <a:ext cx="2705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</a:defRPr>
            </a:pPr>
            <a:r>
              <a:rPr sz="938" b="1">
                <a:solidFill>
                  <a:srgbClr val="FFFFFF"/>
                </a:solidFill>
              </a:rPr>
              <a:t>实验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DE77543-66C5-47A2-834D-1184CFDDF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7645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F09AAD9-FC1C-49C8-B1F0-7AAC51F87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133600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</a:defRPr>
            </a:pPr>
            <a:r>
              <a:rPr sz="938" b="1">
                <a:solidFill>
                  <a:srgbClr val="FFFFFF"/>
                </a:solidFill>
              </a:rPr>
              <a:t>T变化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08A00AE-0D2B-47FB-8053-7935EEC35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07645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D198FEA-EF6A-45BA-B131-701527714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133600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</a:defRPr>
            </a:pPr>
            <a:r>
              <a:rPr sz="938" b="1">
                <a:solidFill>
                  <a:srgbClr val="FFFFFF"/>
                </a:solidFill>
              </a:rPr>
              <a:t>RH变化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FF48C37-412C-4706-A985-644E80428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7645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063A6E2-E31B-47E8-9DA9-67B1A64A2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133600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</a:defRPr>
            </a:pPr>
            <a:r>
              <a:rPr sz="938" b="1">
                <a:solidFill>
                  <a:srgbClr val="FFFFFF"/>
                </a:solidFill>
              </a:rPr>
              <a:t>BT residual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1C4A3B1-D68D-4E3F-A3E2-6CF39B4F3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764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EAB460A-8B99-43FA-AFB3-61C3E91FF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</a:defRPr>
            </a:pPr>
            <a:r>
              <a:rPr sz="938" b="1">
                <a:solidFill>
                  <a:srgbClr val="FFFFFF"/>
                </a:solidFill>
              </a:rPr>
              <a:t>结论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253C50B-9E3A-4A3C-9B8F-D69698228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B7FADEC-A209-455F-B974-0333CD0E1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2705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F1F1F"/>
                </a:solidFill>
              </a:defRPr>
            </a:pPr>
            <a:r>
              <a:rPr sz="938" b="0">
                <a:solidFill>
                  <a:srgbClr val="1F1F1F"/>
                </a:solidFill>
              </a:rPr>
              <a:t>Self-consistent simple RTM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E91BD47-81B9-4EB7-A0FF-1C0C69867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7650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A9F1B0F-1882-4C30-AF34-40E097F39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533650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F1F1F"/>
                </a:solidFill>
              </a:defRPr>
            </a:pPr>
            <a:r>
              <a:rPr sz="938" b="0">
                <a:solidFill>
                  <a:srgbClr val="1F1F1F"/>
                </a:solidFill>
              </a:rPr>
              <a:t>2.38→2.06K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3004AC0-EF80-415B-80B3-69F88C703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47650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69B6EF3-8574-477D-B1F1-3211C626C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533650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F1F1F"/>
                </a:solidFill>
              </a:defRPr>
            </a:pPr>
            <a:r>
              <a:rPr sz="938" b="0">
                <a:solidFill>
                  <a:srgbClr val="1F1F1F"/>
                </a:solidFill>
              </a:rPr>
              <a:t>7.59→6.73%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F0C0290-97B2-4493-9302-D885EDD95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17BA881-96A3-4AE8-A69C-4E4878ECA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33650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F1F1F"/>
                </a:solidFill>
              </a:defRPr>
            </a:pPr>
            <a:r>
              <a:rPr sz="938" b="0">
                <a:solidFill>
                  <a:srgbClr val="1F1F1F"/>
                </a:solidFill>
              </a:rPr>
              <a:t>1.50→0.54K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0BA194D-FD64-4E12-9A7F-0888290A3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765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DBBBB38-10DE-4F0A-8F71-6E73BC247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3365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F1F1F"/>
                </a:solidFill>
              </a:defRPr>
            </a:pPr>
            <a:r>
              <a:rPr sz="938" b="0">
                <a:solidFill>
                  <a:srgbClr val="1F1F1F"/>
                </a:solidFill>
              </a:rPr>
              <a:t>算法闭环有效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04B9DC3-5259-4072-8B5B-D6EE11DE0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670519D-0491-423A-93CF-AD4935947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33700"/>
            <a:ext cx="2705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F1F1F"/>
                </a:solidFill>
              </a:defRPr>
            </a:pPr>
            <a:r>
              <a:rPr sz="938" b="0">
                <a:solidFill>
                  <a:srgbClr val="1F1F1F"/>
                </a:solidFill>
              </a:rPr>
              <a:t>Self-consistent MonoRTM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5A2C113-959D-4D54-A903-FB517FB71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7655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4925D1E-5EC0-434E-BA03-7590BE708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33700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F1F1F"/>
                </a:solidFill>
              </a:defRPr>
            </a:pPr>
            <a:r>
              <a:rPr sz="938" b="0">
                <a:solidFill>
                  <a:srgbClr val="1F1F1F"/>
                </a:solidFill>
              </a:rPr>
              <a:t>2.41→2.00K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CB1D98E-9A16-4577-8615-325C2EFC3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87655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2126227-5374-401A-8850-90EC2ABEE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933700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F1F1F"/>
                </a:solidFill>
              </a:defRPr>
            </a:pPr>
            <a:r>
              <a:rPr sz="938" b="0">
                <a:solidFill>
                  <a:srgbClr val="1F1F1F"/>
                </a:solidFill>
              </a:rPr>
              <a:t>8.97→7.84%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2A022D5-D0FE-4E21-93D3-BDA588042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7655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C717A71-ED06-4249-B05A-B82317A20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933700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F1F1F"/>
                </a:solidFill>
              </a:defRPr>
            </a:pPr>
            <a:r>
              <a:rPr sz="938" b="0">
                <a:solidFill>
                  <a:srgbClr val="1F1F1F"/>
                </a:solidFill>
              </a:rPr>
              <a:t>6.41→0.75K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C474F96-3BC9-4639-9CCB-82314E6D7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765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C3162D9-DAF6-40E5-B010-5714CA923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93370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F1F1F"/>
                </a:solidFill>
              </a:defRPr>
            </a:pPr>
            <a:r>
              <a:rPr sz="938" b="0">
                <a:solidFill>
                  <a:srgbClr val="1F1F1F"/>
                </a:solidFill>
              </a:rPr>
              <a:t>物理链路有效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3B310D5-D6B0-408C-8EEC-A976FD01B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7660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4D40082-3A5D-46EF-BD4F-CB23CEC94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2705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F1F1F"/>
                </a:solidFill>
              </a:defRPr>
            </a:pPr>
            <a:r>
              <a:rPr sz="938" b="0">
                <a:solidFill>
                  <a:srgbClr val="1F1F1F"/>
                </a:solidFill>
              </a:rPr>
              <a:t>Non-self-consistent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11FEF88-2C35-4493-BCF2-FC8A0C500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7660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3995020-528C-4201-938F-5AB5915DB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33750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F1F1F"/>
                </a:solidFill>
              </a:defRPr>
            </a:pPr>
            <a:r>
              <a:rPr sz="938" b="0">
                <a:solidFill>
                  <a:srgbClr val="1F1F1F"/>
                </a:solidFill>
              </a:rPr>
              <a:t>2.38→27.00K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00A20BF-02C2-4E12-B4DD-E992C8289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27660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063DE58-34B2-4258-BCCA-4BE4E10B9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333750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F1F1F"/>
                </a:solidFill>
              </a:defRPr>
            </a:pPr>
            <a:r>
              <a:rPr sz="938" b="0">
                <a:solidFill>
                  <a:srgbClr val="1F1F1F"/>
                </a:solidFill>
              </a:rPr>
              <a:t>略改善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52D5B7C-5D45-48AF-93D7-516BD2BB8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7660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3607069-2467-49BD-BD0E-BC9450CB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33750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F1F1F"/>
                </a:solidFill>
              </a:defRPr>
            </a:pPr>
            <a:r>
              <a:rPr sz="938" b="0">
                <a:solidFill>
                  <a:srgbClr val="1F1F1F"/>
                </a:solidFill>
              </a:rPr>
              <a:t>22.92→20.15K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268857C-848D-4B3D-8693-9EC4308D7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766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8F9C80C-1E8D-44BA-843C-9FCFF34D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3375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F1F1F"/>
                </a:solidFill>
              </a:defRPr>
            </a:pPr>
            <a:r>
              <a:rPr sz="938" b="0">
                <a:solidFill>
                  <a:srgbClr val="1F1F1F"/>
                </a:solidFill>
              </a:rPr>
              <a:t>前向不匹配会崩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55C0F49-4D52-4AF5-B968-580E62956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0"/>
            <a:ext cx="4191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BA832C0-EF88-4F37-8C46-CB05EC8C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E62BC6A-3BBE-4D0C-A996-F2450FA26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19550"/>
            <a:ext cx="3848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E79"/>
                </a:solidFill>
              </a:defRPr>
            </a:pPr>
            <a:r>
              <a:rPr sz="1350" b="1">
                <a:solidFill>
                  <a:srgbClr val="1F4E79"/>
                </a:solidFill>
              </a:rPr>
              <a:t>BRNN在融合框架中的角色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D1987A3-1F12-452A-BDF2-B3F2755B2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62450"/>
            <a:ext cx="3848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F1F1F"/>
                </a:solidFill>
              </a:defRPr>
            </a:pPr>
            <a:r>
              <a:rPr sz="1163" b="0">
                <a:solidFill>
                  <a:srgbClr val="1F1F1F"/>
                </a:solidFill>
              </a:rPr>
              <a:t>不建议直接作为最终真值输出；更适合给OEM提供成都本地x_a，并由S_a描述先验可信度。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F52582F-8F97-4758-80C9-B79D821D1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905250"/>
            <a:ext cx="4191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A"/>
          </a:solidFill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699C2DA-A707-47A7-AC92-D47C906B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90525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84E1961-D977-4BD3-A9FB-9746E06FC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19550"/>
            <a:ext cx="3848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00000"/>
                </a:solidFill>
              </a:defRPr>
            </a:pPr>
            <a:r>
              <a:rPr sz="1350" b="1">
                <a:solidFill>
                  <a:srgbClr val="C00000"/>
                </a:solidFill>
              </a:rPr>
              <a:t>OEM在融合框架中的角色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6D57998-F447-4051-9E55-5F8953C9A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362450"/>
            <a:ext cx="3848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F1F1F"/>
                </a:solidFill>
              </a:defRPr>
            </a:pPr>
            <a:r>
              <a:rPr sz="1163" b="0">
                <a:solidFill>
                  <a:srgbClr val="1F1F1F"/>
                </a:solidFill>
              </a:rPr>
              <a:t>不是万能修正器；必须先估计通道偏差、S_e和Jacobian，否则会把亮温残差解释成错误廓线。</a:t>
            </a:r>
          </a:p>
        </p:txBody>
      </p:sp>
    </p:spTree>
    <p:extLst>
      <p:ext uri="{BB962C8B-B14F-4D97-AF65-F5344CB8AC3E}">
        <p14:creationId xmlns:p14="http://schemas.microsoft.com/office/powerpoint/2010/main" val="77622895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4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f6b2ed88a143f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22091" y="179242"/>
            <a:ext cx="744705" cy="744705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C787D6C-BC45-4032-ABFD-03E70ED47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" y="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28BA50E2-2CCC-4D97-8B8E-9EF15B15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2286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08119F14-FABB-4DC7-B74C-B4593E71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4572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1AAE87C-4AEC-4CE1-9423-623C0716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2530" y="910702"/>
            <a:ext cx="645570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D350B9C-2DA0-4307-B5B8-9F825212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" y="683951"/>
            <a:ext cx="633043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80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455732dae94f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704018" y="211706"/>
            <a:ext cx="2327759" cy="675179"/>
          </a:xfrm>
          <a:prstGeom xmlns:a="http://schemas.openxmlformats.org/drawingml/2006/main" prst="rect">
            <a:avLst/>
          </a:prstGeom>
        </p:spPr>
      </p:pic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081E26C6-F2B8-4F59-AAFE-4BC8D11D7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05909" y="143506"/>
            <a:ext cx="0" cy="729641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00000"/>
            </a:solidFill>
          </a:ln>
        </p:spPr>
        <p:style>
          <a:lnRef xmlns:a="http://schemas.openxmlformats.org/drawingml/2006/main" idx="3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82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55fc5ca1d3491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289122" y="84514"/>
            <a:ext cx="703864" cy="781252"/>
          </a:xfrm>
          <a:prstGeom xmlns:a="http://schemas.openxmlformats.org/drawingml/2006/main" prst="rect">
            <a:avLst/>
          </a:prstGeom>
        </p:spPr>
      </p:pic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3E00FF0A-6266-4C1C-BE59-6813E81CD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2986" y="176969"/>
            <a:ext cx="3090558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latin typeface="黑体"/>
                <a:ea typeface="黑体"/>
                <a:cs typeface="黑体"/>
              </a:rPr>
              <a:t>空间科学与技术学院</a:t>
            </a:r>
          </a:p>
          <a:p xmlns:a="http://schemas.openxmlformats.org/drawingml/2006/main">
            <a:r>
              <a:rPr sz="1200">
                <a:latin typeface="Times New Roman"/>
                <a:ea typeface="Times New Roman"/>
                <a:cs typeface="Times New Roman"/>
              </a:rPr>
              <a:t>School of Aerospace Science and Technology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E82592A6-7995-4942-95DC-8E23405E8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300" y="1"/>
            <a:ext cx="4203700" cy="7367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48C25488-9535-4E82-9D35-19DC845B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297" y="731909"/>
            <a:ext cx="4203700" cy="2008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90000"/>
            </a:schemeClr>
          </a:solidFill>
          <a:ln xmlns:a="http://schemas.openxmlformats.org/drawingml/2006/main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A1391E92-C434-4A79-A113-DCBD866B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592" y="96290"/>
            <a:ext cx="3635109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研究内容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5731657-D3F7-4D28-86CC-EE7BC98C3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0"/>
            <a:ext cx="42100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09EA0AF-2F9D-4858-BA66-3579963B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733425"/>
            <a:ext cx="42100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92CC9D9-41B1-4882-8FBA-7E3BF22F7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14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结果分析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BC6F468-171C-460C-9638-A866CB831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365C"/>
                </a:solidFill>
              </a:defRPr>
            </a:pPr>
            <a:r>
              <a:rPr sz="2250" b="1">
                <a:solidFill>
                  <a:srgbClr val="16365C"/>
                </a:solidFill>
              </a:rPr>
              <a:t>旧站点反演算法直接迁移到成都失败，本地重训后才形成可用基线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F4CCCE2-6AFB-44EF-B0E6-9177F14A0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575E1EC-0919-4AB2-BC2C-634AE1F6B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666"/>
                </a:solidFill>
              </a:defRPr>
            </a:pPr>
            <a:r>
              <a:rPr sz="1200" b="0">
                <a:solidFill>
                  <a:srgbClr val="666666"/>
                </a:solidFill>
              </a:rPr>
              <a:t>这说明模型主要学到了站点-仪器-标签体系的联合分布，而不是可无条件跨站使用的通用反演函数。</a:t>
            </a:r>
          </a:p>
        </p:txBody>
      </p:sp>
      <p:graphicFrame>
        <p:nvGraphicFramePr>
          <p:cNvPr id="93" name="Chart"/>
          <p:cNvGraphicFramePr/>
          <p:nvPr/>
        </p:nvGraphicFramePr>
        <p:xfrm>
          <a:off xmlns:a="http://schemas.openxmlformats.org/drawingml/2006/main" x="762000" y="2190750"/>
          <a:ext xmlns:a="http://schemas.openxmlformats.org/drawingml/2006/main" cx="47625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9b46f7947cc4c9f"/>
          </a:graphicData>
        </a:graphic>
      </p:graphicFrame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6CFC2F3-C637-4429-8131-09414D929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47900"/>
            <a:ext cx="171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DEDD622-D5B6-4D62-BD47-D78655DFA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30505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阶段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01039AB-56F5-492B-B22C-33EE36B46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47900"/>
            <a:ext cx="10953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F0AE5E7-3302-41C0-B754-EE4B3A4D8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305050"/>
            <a:ext cx="9429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T RMSE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BDE0B4E-4A0B-4601-9264-A9FE03C11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247900"/>
            <a:ext cx="10953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499755E-1E92-467B-9B7A-1E08D86A1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305050"/>
            <a:ext cx="9429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RH RMSE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18AF3AE-864E-4B24-B489-E6B0FCB0E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247900"/>
            <a:ext cx="1952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CE278C2-01C3-455A-8702-67E56AEF7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305050"/>
            <a:ext cx="18002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判断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5433395-3258-4A27-A3FE-086C2F7B1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686050"/>
            <a:ext cx="171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DA0746A-D27E-4198-956A-A376EC3F8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74320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1F1F"/>
                </a:solidFill>
              </a:defRPr>
            </a:pPr>
            <a:r>
              <a:rPr sz="975" b="0">
                <a:solidFill>
                  <a:srgbClr val="1F1F1F"/>
                </a:solidFill>
              </a:rPr>
              <a:t>旧checkpoint迁移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0B22B41-C413-4478-B9D9-47C9C14EE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86050"/>
            <a:ext cx="10953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B3D0739-88DD-473B-8801-5A3489A3A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743200"/>
            <a:ext cx="9429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1F1F"/>
                </a:solidFill>
              </a:defRPr>
            </a:pPr>
            <a:r>
              <a:rPr sz="975" b="0">
                <a:solidFill>
                  <a:srgbClr val="1F1F1F"/>
                </a:solidFill>
              </a:rPr>
              <a:t>29.376K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7FD99C4-1ACD-4B07-81BA-36953549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686050"/>
            <a:ext cx="10953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C33DCFF-C128-41BE-9F2B-B933D79C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743200"/>
            <a:ext cx="9429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1F1F"/>
                </a:solidFill>
              </a:defRPr>
            </a:pPr>
            <a:r>
              <a:rPr sz="975" b="0">
                <a:solidFill>
                  <a:srgbClr val="1F1F1F"/>
                </a:solidFill>
              </a:rPr>
              <a:t>42.496%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F19FB7B-025A-4432-A255-AC3207349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86050"/>
            <a:ext cx="1952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884BB52-16C0-4F25-AC7E-B289B7F6D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743200"/>
            <a:ext cx="18002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1F1F"/>
                </a:solidFill>
              </a:defRPr>
            </a:pPr>
            <a:r>
              <a:rPr sz="975" b="0">
                <a:solidFill>
                  <a:srgbClr val="1F1F1F"/>
                </a:solidFill>
              </a:rPr>
              <a:t>不可用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9B418AE-C980-4996-8D92-9939F6948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124200"/>
            <a:ext cx="171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7084799-876E-425D-8E34-F7BCCDE0D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18135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1F1F"/>
                </a:solidFill>
              </a:defRPr>
            </a:pPr>
            <a:r>
              <a:rPr sz="975" b="0">
                <a:solidFill>
                  <a:srgbClr val="1F1F1F"/>
                </a:solidFill>
              </a:rPr>
              <a:t>成都ERA5混合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FC2122C-2D92-4C63-B669-0BF8124EA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24200"/>
            <a:ext cx="10953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278927D-3BEF-44EE-821B-A9675931D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181350"/>
            <a:ext cx="9429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1F1F"/>
                </a:solidFill>
              </a:defRPr>
            </a:pPr>
            <a:r>
              <a:rPr sz="975" b="0">
                <a:solidFill>
                  <a:srgbClr val="1F1F1F"/>
                </a:solidFill>
              </a:rPr>
              <a:t>1.479K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4E63794-CB28-477D-B63D-9C00DF33C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10953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E239A84-A2EE-4D3B-9520-DF828EB6A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181350"/>
            <a:ext cx="9429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1F1F"/>
                </a:solidFill>
              </a:defRPr>
            </a:pPr>
            <a:r>
              <a:rPr sz="975" b="0">
                <a:solidFill>
                  <a:srgbClr val="1F1F1F"/>
                </a:solidFill>
              </a:rPr>
              <a:t>20.966%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8FF0C7E-94B4-4C81-884A-6D29BC0F7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24200"/>
            <a:ext cx="1952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3E410CB-3394-406B-A8BA-C2432AB63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181350"/>
            <a:ext cx="18002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1F1F"/>
                </a:solidFill>
              </a:defRPr>
            </a:pPr>
            <a:r>
              <a:rPr sz="975" b="0">
                <a:solidFill>
                  <a:srgbClr val="1F1F1F"/>
                </a:solidFill>
              </a:rPr>
              <a:t>阶段基线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33FDEFF-1687-447D-930F-B8DA85C3F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562350"/>
            <a:ext cx="171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8F3F2E4-FBEA-4A22-8F35-C0049DBFC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61950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1F1F"/>
                </a:solidFill>
              </a:defRPr>
            </a:pPr>
            <a:r>
              <a:rPr sz="975" b="0">
                <a:solidFill>
                  <a:srgbClr val="1F1F1F"/>
                </a:solidFill>
              </a:rPr>
              <a:t>物理48层探空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0B24B48-2A61-4D19-A48F-80754362A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62350"/>
            <a:ext cx="10953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ACEDDD2-4148-47C1-829E-9A01BC83E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619500"/>
            <a:ext cx="9429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1F1F"/>
                </a:solidFill>
              </a:defRPr>
            </a:pPr>
            <a:r>
              <a:rPr sz="975" b="0">
                <a:solidFill>
                  <a:srgbClr val="1F1F1F"/>
                </a:solidFill>
              </a:rPr>
              <a:t>1.532K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528A58C-3CC0-4C22-8B83-C70FADDBC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62350"/>
            <a:ext cx="10953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39CDA5C-EA52-4F0D-BA2E-F28AEF990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619500"/>
            <a:ext cx="9429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1F1F"/>
                </a:solidFill>
              </a:defRPr>
            </a:pPr>
            <a:r>
              <a:rPr sz="975" b="0">
                <a:solidFill>
                  <a:srgbClr val="1F1F1F"/>
                </a:solidFill>
              </a:rPr>
              <a:t>23.754%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D739741-763E-4CCA-81D3-E383770C3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562350"/>
            <a:ext cx="1952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61E68F5-DBBB-4DFA-867B-762EE41FC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619500"/>
            <a:ext cx="18002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1F1F"/>
                </a:solidFill>
              </a:defRPr>
            </a:pPr>
            <a:r>
              <a:rPr sz="975" b="0">
                <a:solidFill>
                  <a:srgbClr val="1F1F1F"/>
                </a:solidFill>
              </a:rPr>
              <a:t>OEM主网格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C3DDE7E-B558-46C9-B6D6-E2DC020DC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0"/>
            <a:ext cx="962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365C"/>
                </a:solidFill>
              </a:defRPr>
            </a:pPr>
            <a:r>
              <a:rPr sz="1425" b="1">
                <a:solidFill>
                  <a:srgbClr val="16365C"/>
                </a:solidFill>
              </a:rPr>
              <a:t>核心解释：跨站泛化失败不是单一模型问题，而是通道、亮温定标、地面海拔、气候水汽结构、垂直层定义和训练标签共同变化。</a:t>
            </a:r>
          </a:p>
        </p:txBody>
      </p:sp>
    </p:spTree>
    <p:extLst>
      <p:ext uri="{BB962C8B-B14F-4D97-AF65-F5344CB8AC3E}">
        <p14:creationId xmlns:p14="http://schemas.microsoft.com/office/powerpoint/2010/main" val="77622895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3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eec95edf0744d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22091" y="179242"/>
            <a:ext cx="744705" cy="744705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C787D6C-BC45-4032-ABFD-03E70ED47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" y="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28BA50E2-2CCC-4D97-8B8E-9EF15B15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2286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08119F14-FABB-4DC7-B74C-B4593E71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4572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1AAE87C-4AEC-4CE1-9423-623C0716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2530" y="910702"/>
            <a:ext cx="645570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D350B9C-2DA0-4307-B5B8-9F825212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" y="683951"/>
            <a:ext cx="633043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9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7d5b4e1b4847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704018" y="211706"/>
            <a:ext cx="2327759" cy="675179"/>
          </a:xfrm>
          <a:prstGeom xmlns:a="http://schemas.openxmlformats.org/drawingml/2006/main" prst="rect">
            <a:avLst/>
          </a:prstGeom>
        </p:spPr>
      </p:pic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081E26C6-F2B8-4F59-AAFE-4BC8D11D7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05909" y="143506"/>
            <a:ext cx="0" cy="729641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00000"/>
            </a:solidFill>
          </a:ln>
        </p:spPr>
        <p:style>
          <a:lnRef xmlns:a="http://schemas.openxmlformats.org/drawingml/2006/main" idx="3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61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4e476e1694407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289122" y="84514"/>
            <a:ext cx="703864" cy="781252"/>
          </a:xfrm>
          <a:prstGeom xmlns:a="http://schemas.openxmlformats.org/drawingml/2006/main" prst="rect">
            <a:avLst/>
          </a:prstGeom>
        </p:spPr>
      </p:pic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3E00FF0A-6266-4C1C-BE59-6813E81CD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2986" y="176969"/>
            <a:ext cx="3090558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latin typeface="黑体"/>
                <a:ea typeface="黑体"/>
                <a:cs typeface="黑体"/>
              </a:rPr>
              <a:t>空间科学与技术学院</a:t>
            </a:r>
          </a:p>
          <a:p xmlns:a="http://schemas.openxmlformats.org/drawingml/2006/main">
            <a:r>
              <a:rPr sz="1200">
                <a:latin typeface="Times New Roman"/>
                <a:ea typeface="Times New Roman"/>
                <a:cs typeface="Times New Roman"/>
              </a:rPr>
              <a:t>School of Aerospace Science and Technology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E82592A6-7995-4942-95DC-8E23405E8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300" y="1"/>
            <a:ext cx="4203700" cy="7367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48C25488-9535-4E82-9D35-19DC845B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297" y="731909"/>
            <a:ext cx="4203700" cy="2008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90000"/>
            </a:schemeClr>
          </a:solidFill>
          <a:ln xmlns:a="http://schemas.openxmlformats.org/drawingml/2006/main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A1391E92-C434-4A79-A113-DCBD866B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592" y="96290"/>
            <a:ext cx="3635109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研究内容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28D1399-B7B6-4BC7-9B60-81095C21F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0"/>
            <a:ext cx="42100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EF9854A-9791-43D4-B174-15BE0B61C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733425"/>
            <a:ext cx="42100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537CF11-78EE-4E23-93B7-068D8A31B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14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原因诊断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2BA24E2-C907-4326-B0F2-8B9E98FDB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365C"/>
                </a:solidFill>
              </a:defRPr>
            </a:pPr>
            <a:r>
              <a:rPr sz="2250" b="1">
                <a:solidFill>
                  <a:srgbClr val="16365C"/>
                </a:solidFill>
              </a:rPr>
              <a:t>当前结果“不合适”的第一原因是样本不足，第二原因是BRNN跨站泛化失效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9711E97-D82B-44D2-8B32-F21E67187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5EB0CD9-8440-42C1-9853-C91AC0265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666"/>
                </a:solidFill>
              </a:defRPr>
            </a:pPr>
            <a:r>
              <a:rPr sz="1200" b="0">
                <a:solidFill>
                  <a:srgbClr val="666666"/>
                </a:solidFill>
              </a:rPr>
              <a:t>69条训练样本可以验证流程，但不足以训练稳定的深层非线性映射。</a:t>
            </a:r>
          </a:p>
        </p:txBody>
      </p:sp>
      <p:graphicFrame>
        <p:nvGraphicFramePr>
          <p:cNvPr id="72" name="Chart"/>
          <p:cNvGraphicFramePr/>
          <p:nvPr/>
        </p:nvGraphicFramePr>
        <p:xfrm>
          <a:off xmlns:a="http://schemas.openxmlformats.org/drawingml/2006/main" x="762000" y="2143125"/>
          <a:ext xmlns:a="http://schemas.openxmlformats.org/drawingml/2006/main" cx="4191000" cy="2714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ca5697f8f994466"/>
          </a:graphicData>
        </a:graphic>
      </p:graphicFrame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F362986-C463-4F6A-A1F3-51A47E379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095500"/>
            <a:ext cx="4381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B12998E-A3EE-4F56-AC04-D63911911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095500"/>
            <a:ext cx="762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4F0A238-D035-44AF-AABF-76911FE70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209800"/>
            <a:ext cx="403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E79"/>
                </a:solidFill>
              </a:defRPr>
            </a:pPr>
            <a:r>
              <a:rPr sz="1350" b="1">
                <a:solidFill>
                  <a:srgbClr val="1F4E79"/>
                </a:solidFill>
              </a:rPr>
              <a:t>训练样本要求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60903EB-063A-48AA-BB03-EBFA5CDF2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552700"/>
            <a:ext cx="4038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F1F1F"/>
                </a:solidFill>
              </a:defRPr>
            </a:pPr>
            <a:r>
              <a:rPr sz="1163" b="0">
                <a:solidFill>
                  <a:srgbClr val="1F1F1F"/>
                </a:solidFill>
              </a:rPr>
              <a:t>BRNN需要覆盖季节、天气型、湿度层结、云/雨和仪器状态；当前16天资料无法覆盖这些变化。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97D8736-0C57-453B-A0FA-E2B2816A6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333750"/>
            <a:ext cx="4381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705B676-3AA8-4055-A306-39666057A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333750"/>
            <a:ext cx="762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7313450-6226-4F32-9FA2-26D5EB16C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448050"/>
            <a:ext cx="403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00000"/>
                </a:solidFill>
              </a:defRPr>
            </a:pPr>
            <a:r>
              <a:rPr sz="1350" b="1">
                <a:solidFill>
                  <a:srgbClr val="C00000"/>
                </a:solidFill>
              </a:rPr>
              <a:t>泛化失败表现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21BE367-6FB0-4BF0-AB5F-DABA4139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790950"/>
            <a:ext cx="4038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F1F1F"/>
                </a:solidFill>
              </a:defRPr>
            </a:pPr>
            <a:r>
              <a:rPr sz="1163" b="0">
                <a:solidFill>
                  <a:srgbClr val="1F1F1F"/>
                </a:solidFill>
              </a:rPr>
              <a:t>旧模型迁移成都T RMSE达到29.376K，说明输入分布已经离开原训练域。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159FE49-94ED-4460-AEC3-992B174AD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572000"/>
            <a:ext cx="4381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DA1EE99-55AA-4749-8B3C-0C8D1992F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572000"/>
            <a:ext cx="762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E4C8B5B-77E6-4BA0-812E-8ED820BC0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686300"/>
            <a:ext cx="403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6A6A6"/>
                </a:solidFill>
              </a:defRPr>
            </a:pPr>
            <a:r>
              <a:rPr sz="1350" b="1">
                <a:solidFill>
                  <a:srgbClr val="A6A6A6"/>
                </a:solidFill>
              </a:rPr>
              <a:t>标签不确定性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4F54D42-989F-43A9-907C-434A98CE1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029200"/>
            <a:ext cx="4038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F1F1F"/>
                </a:solidFill>
              </a:defRPr>
            </a:pPr>
            <a:r>
              <a:rPr sz="1163" b="0">
                <a:solidFill>
                  <a:srgbClr val="1F1F1F"/>
                </a:solidFill>
              </a:rPr>
              <a:t>ERA5不是绝对真值；探空与亮温差1-2小时，对湿度尤其敏感。</a:t>
            </a:r>
          </a:p>
        </p:txBody>
      </p:sp>
    </p:spTree>
    <p:extLst>
      <p:ext uri="{BB962C8B-B14F-4D97-AF65-F5344CB8AC3E}">
        <p14:creationId xmlns:p14="http://schemas.microsoft.com/office/powerpoint/2010/main" val="77622895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2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a3eacb01cd4f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22091" y="179242"/>
            <a:ext cx="744705" cy="744705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C787D6C-BC45-4032-ABFD-03E70ED47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" y="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28BA50E2-2CCC-4D97-8B8E-9EF15B15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2286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08119F14-FABB-4DC7-B74C-B4593E71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4572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1AAE87C-4AEC-4CE1-9423-623C0716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2530" y="910702"/>
            <a:ext cx="645570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D350B9C-2DA0-4307-B5B8-9F825212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" y="683951"/>
            <a:ext cx="633043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8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16deb4fdec41d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704018" y="211706"/>
            <a:ext cx="2327759" cy="675179"/>
          </a:xfrm>
          <a:prstGeom xmlns:a="http://schemas.openxmlformats.org/drawingml/2006/main" prst="rect">
            <a:avLst/>
          </a:prstGeom>
        </p:spPr>
      </p:pic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081E26C6-F2B8-4F59-AAFE-4BC8D11D7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05909" y="143506"/>
            <a:ext cx="0" cy="729641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00000"/>
            </a:solidFill>
          </a:ln>
        </p:spPr>
        <p:style>
          <a:lnRef xmlns:a="http://schemas.openxmlformats.org/drawingml/2006/main" idx="3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50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4ed38971bd43c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289122" y="84514"/>
            <a:ext cx="703864" cy="781252"/>
          </a:xfrm>
          <a:prstGeom xmlns:a="http://schemas.openxmlformats.org/drawingml/2006/main" prst="rect">
            <a:avLst/>
          </a:prstGeom>
        </p:spPr>
      </p:pic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3E00FF0A-6266-4C1C-BE59-6813E81CD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2986" y="176969"/>
            <a:ext cx="3090558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latin typeface="黑体"/>
                <a:ea typeface="黑体"/>
                <a:cs typeface="黑体"/>
              </a:rPr>
              <a:t>空间科学与技术学院</a:t>
            </a:r>
          </a:p>
          <a:p xmlns:a="http://schemas.openxmlformats.org/drawingml/2006/main">
            <a:r>
              <a:rPr sz="1200">
                <a:latin typeface="Times New Roman"/>
                <a:ea typeface="Times New Roman"/>
                <a:cs typeface="Times New Roman"/>
              </a:rPr>
              <a:t>School of Aerospace Science and Technology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E82592A6-7995-4942-95DC-8E23405E8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300" y="1"/>
            <a:ext cx="4203700" cy="7367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48C25488-9535-4E82-9D35-19DC845B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297" y="731909"/>
            <a:ext cx="4203700" cy="2008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90000"/>
            </a:schemeClr>
          </a:solidFill>
          <a:ln xmlns:a="http://schemas.openxmlformats.org/drawingml/2006/main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A1391E92-C434-4A79-A113-DCBD866B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592" y="96290"/>
            <a:ext cx="3635109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研究内容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B6F58C-2E20-48AF-B739-A7C1DB07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0"/>
            <a:ext cx="42100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B94CD78-71F5-401D-923F-F2C0F2669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733425"/>
            <a:ext cx="42100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20F5BDF-28DF-4DDF-8ED0-C1EA08F1D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14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通道利用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D446D98-6E74-40E7-888A-50D0EE4D8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365C"/>
                </a:solidFill>
              </a:defRPr>
            </a:pPr>
            <a:r>
              <a:rPr sz="2250" b="1">
                <a:solidFill>
                  <a:srgbClr val="16365C"/>
                </a:solidFill>
              </a:rPr>
              <a:t>21通道没有完全转化为有效信息，高频通道目前还不能直接证明稳定增益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7A14DF8-3AF6-46A0-A0F5-4321352CB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5C81E72-109A-4355-B223-3CFCF1875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666"/>
                </a:solidFill>
              </a:defRPr>
            </a:pPr>
            <a:r>
              <a:rPr sz="1200" b="0">
                <a:solidFill>
                  <a:srgbClr val="666666"/>
                </a:solidFill>
              </a:rPr>
              <a:t>高频通道有物理潜力，但样本、QC和前向模型没有到位时，网络很容易学不到可靠贡献。</a:t>
            </a:r>
          </a:p>
        </p:txBody>
      </p:sp>
      <p:graphicFrame>
        <p:nvGraphicFramePr>
          <p:cNvPr id="61" name="Chart"/>
          <p:cNvGraphicFramePr/>
          <p:nvPr/>
        </p:nvGraphicFramePr>
        <p:xfrm>
          <a:off xmlns:a="http://schemas.openxmlformats.org/drawingml/2006/main" x="685800" y="2095500"/>
          <a:ext xmlns:a="http://schemas.openxmlformats.org/drawingml/2006/main" cx="4953000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aa351ffa066455d"/>
          </a:graphicData>
        </a:graphic>
      </p:graphicFrame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FF201E0-AAFF-4069-B28F-A5EC96EFE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365C"/>
                </a:solidFill>
              </a:defRPr>
            </a:pPr>
            <a:r>
              <a:rPr sz="1425" b="1">
                <a:solidFill>
                  <a:srgbClr val="16365C"/>
                </a:solidFill>
              </a:rPr>
              <a:t>判断：前14通道可先进入MonoRTM/OEM；89/183/229 GHz需要独立的前向模拟、OMB偏差和误差协方差验证。</a:t>
            </a:r>
          </a:p>
        </p:txBody>
      </p:sp>
    </p:spTree>
    <p:extLst>
      <p:ext uri="{BB962C8B-B14F-4D97-AF65-F5344CB8AC3E}">
        <p14:creationId xmlns:p14="http://schemas.microsoft.com/office/powerpoint/2010/main" val="77622895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6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01158d85964c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22091" y="179242"/>
            <a:ext cx="744705" cy="744705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C787D6C-BC45-4032-ABFD-03E70ED47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" y="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28BA50E2-2CCC-4D97-8B8E-9EF15B15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2286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08119F14-FABB-4DC7-B74C-B4593E71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4572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1AAE87C-4AEC-4CE1-9423-623C0716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2530" y="910702"/>
            <a:ext cx="645570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D350B9C-2DA0-4307-B5B8-9F825212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" y="683951"/>
            <a:ext cx="633043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82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8f79f40a244b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704018" y="211706"/>
            <a:ext cx="2327759" cy="675179"/>
          </a:xfrm>
          <a:prstGeom xmlns:a="http://schemas.openxmlformats.org/drawingml/2006/main" prst="rect">
            <a:avLst/>
          </a:prstGeom>
        </p:spPr>
      </p:pic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081E26C6-F2B8-4F59-AAFE-4BC8D11D7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05909" y="143506"/>
            <a:ext cx="0" cy="729641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00000"/>
            </a:solidFill>
          </a:ln>
        </p:spPr>
        <p:style>
          <a:lnRef xmlns:a="http://schemas.openxmlformats.org/drawingml/2006/main" idx="3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84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10c506b25e4f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289122" y="84514"/>
            <a:ext cx="703864" cy="781252"/>
          </a:xfrm>
          <a:prstGeom xmlns:a="http://schemas.openxmlformats.org/drawingml/2006/main" prst="rect">
            <a:avLst/>
          </a:prstGeom>
        </p:spPr>
      </p:pic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3E00FF0A-6266-4C1C-BE59-6813E81CD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2986" y="176969"/>
            <a:ext cx="3090558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latin typeface="黑体"/>
                <a:ea typeface="黑体"/>
                <a:cs typeface="黑体"/>
              </a:rPr>
              <a:t>空间科学与技术学院</a:t>
            </a:r>
          </a:p>
          <a:p xmlns:a="http://schemas.openxmlformats.org/drawingml/2006/main">
            <a:r>
              <a:rPr sz="1200">
                <a:latin typeface="Times New Roman"/>
                <a:ea typeface="Times New Roman"/>
                <a:cs typeface="Times New Roman"/>
              </a:rPr>
              <a:t>School of Aerospace Science and Technology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E82592A6-7995-4942-95DC-8E23405E8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300" y="1"/>
            <a:ext cx="4203700" cy="7367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48C25488-9535-4E82-9D35-19DC845B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297" y="731909"/>
            <a:ext cx="4203700" cy="2008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90000"/>
            </a:schemeClr>
          </a:solidFill>
          <a:ln xmlns:a="http://schemas.openxmlformats.org/drawingml/2006/main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A1391E92-C434-4A79-A113-DCBD866B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592" y="96290"/>
            <a:ext cx="3635109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研究内容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726ECE1-A740-4F6E-8DD3-C63F1EF33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0"/>
            <a:ext cx="42100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90D962A-87B3-43BF-B329-648B248E9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733425"/>
            <a:ext cx="42100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7DDDCB4-E6C8-4236-8ED3-60A6D3728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14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数据处理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2BE19E3-EA8C-4ACF-86A7-F59D4AC3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365C"/>
                </a:solidFill>
              </a:defRPr>
            </a:pPr>
            <a:r>
              <a:rPr sz="2250" b="1">
                <a:solidFill>
                  <a:srgbClr val="16365C"/>
                </a:solidFill>
              </a:rPr>
              <a:t>物理48层优化提升了处理一致性，也让后续OEM状态向量更合理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24C4379-48F0-4EA5-8DA3-2BC4E9760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D8F8B2E-193D-4873-9B56-579343EAC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666"/>
                </a:solidFill>
              </a:defRPr>
            </a:pPr>
            <a:r>
              <a:rPr sz="1200" b="0">
                <a:solidFill>
                  <a:srgbClr val="666666"/>
                </a:solidFill>
              </a:rPr>
              <a:t>真正的层平均替代简单高度点插值，同时删除地下ERA5气压层并用T/log(q)/log(P)处理湿度。 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F2CAB84-C0F1-4B7C-A39C-10A12B50E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9550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8ADA47A-4676-4B1E-8A75-8671BC0E4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152650"/>
            <a:ext cx="1943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模型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10E4861-101F-431E-838C-F20C23185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95500"/>
            <a:ext cx="1190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E23EAF9-3077-4EE1-AB13-70B19AA60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52650"/>
            <a:ext cx="10382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T RMSE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CE8C99A-E6F6-4F46-B4E1-0849318BD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095500"/>
            <a:ext cx="1190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CD31DB3-6964-47D6-8E62-236B979E6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152650"/>
            <a:ext cx="10382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RH RMSE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43B7CB5-37C7-4FD4-88A7-600D0E12B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09550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6507F81-8BC0-4A2A-8ADB-FF2903D14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152650"/>
            <a:ext cx="1276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RH Bias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DDA9032-36D2-4B06-85FF-3B22A9C19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955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C226713-0E28-49EF-AA7B-3D3839D91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552700"/>
            <a:ext cx="1943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1F1F"/>
                </a:solidFill>
              </a:defRPr>
            </a:pPr>
            <a:r>
              <a:rPr sz="975" b="0">
                <a:solidFill>
                  <a:srgbClr val="1F1F1F"/>
                </a:solidFill>
              </a:rPr>
              <a:t>原93层映射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E267E84-1AD2-4475-A412-1074B7191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95550"/>
            <a:ext cx="1190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AB186BB-AA0D-41C1-914B-0209D4382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552700"/>
            <a:ext cx="10382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1F1F"/>
                </a:solidFill>
              </a:defRPr>
            </a:pPr>
            <a:r>
              <a:rPr sz="975" b="0">
                <a:solidFill>
                  <a:srgbClr val="1F1F1F"/>
                </a:solidFill>
              </a:rPr>
              <a:t>1.730K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32E041F-295E-4CFB-987B-A9F4E43FF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495550"/>
            <a:ext cx="1190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AC9CE67-9096-4043-B098-37BA8F169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552700"/>
            <a:ext cx="10382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1F1F"/>
                </a:solidFill>
              </a:defRPr>
            </a:pPr>
            <a:r>
              <a:rPr sz="975" b="0">
                <a:solidFill>
                  <a:srgbClr val="1F1F1F"/>
                </a:solidFill>
              </a:rPr>
              <a:t>23.685%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D8E46B9-4ACC-4F28-9DFB-9EDCD7CF1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4955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6B7D327-0B09-4E8A-A903-AFEB778E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552700"/>
            <a:ext cx="1276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1F1F"/>
                </a:solidFill>
              </a:defRPr>
            </a:pPr>
            <a:r>
              <a:rPr sz="975" b="0">
                <a:solidFill>
                  <a:srgbClr val="1F1F1F"/>
                </a:solidFill>
              </a:rPr>
              <a:t>-8.075%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8574DF5-5AF5-4882-A2D3-B0DCB2D2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9560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069C4BB-B74C-4295-9A18-5DB21D572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952750"/>
            <a:ext cx="1943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1F1F"/>
                </a:solidFill>
              </a:defRPr>
            </a:pPr>
            <a:r>
              <a:rPr sz="975" b="0">
                <a:solidFill>
                  <a:srgbClr val="1F1F1F"/>
                </a:solidFill>
              </a:rPr>
              <a:t>旧48点映射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03A62C5-90E6-43C6-A24C-56437111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95600"/>
            <a:ext cx="1190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D347BDA-8501-4189-81D5-AFBE93CFC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952750"/>
            <a:ext cx="10382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1F1F"/>
                </a:solidFill>
              </a:defRPr>
            </a:pPr>
            <a:r>
              <a:rPr sz="975" b="0">
                <a:solidFill>
                  <a:srgbClr val="1F1F1F"/>
                </a:solidFill>
              </a:rPr>
              <a:t>1.561K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6D6DFBB-8504-4FF3-B87B-A11CB19C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895600"/>
            <a:ext cx="1190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CE8655F-B631-4D11-84B8-E7E271F73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952750"/>
            <a:ext cx="10382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1F1F"/>
                </a:solidFill>
              </a:defRPr>
            </a:pPr>
            <a:r>
              <a:rPr sz="975" b="0">
                <a:solidFill>
                  <a:srgbClr val="1F1F1F"/>
                </a:solidFill>
              </a:rPr>
              <a:t>25.260%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F739740-4574-4A5A-94A4-90858A8DB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89560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EF979C4-3149-4547-A88E-9412B0862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952750"/>
            <a:ext cx="1276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1F1F"/>
                </a:solidFill>
              </a:defRPr>
            </a:pPr>
            <a:r>
              <a:rPr sz="975" b="0">
                <a:solidFill>
                  <a:srgbClr val="1F1F1F"/>
                </a:solidFill>
              </a:rPr>
              <a:t>-9.867%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976AB92-2159-432C-971D-9BF0C102F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956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18914F6-3BBC-4507-B91D-E147A69A7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352800"/>
            <a:ext cx="1943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1F1F"/>
                </a:solidFill>
              </a:defRPr>
            </a:pPr>
            <a:r>
              <a:rPr sz="975" b="0">
                <a:solidFill>
                  <a:srgbClr val="1F1F1F"/>
                </a:solidFill>
              </a:rPr>
              <a:t>优化物理48层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4D227CD-1C90-4A95-A403-3B38011A3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95650"/>
            <a:ext cx="1190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D360854-7369-4129-A68E-A6012664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352800"/>
            <a:ext cx="10382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1F1F"/>
                </a:solidFill>
              </a:defRPr>
            </a:pPr>
            <a:r>
              <a:rPr sz="975" b="0">
                <a:solidFill>
                  <a:srgbClr val="1F1F1F"/>
                </a:solidFill>
              </a:rPr>
              <a:t>1.532K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2E56DD6-C58E-4CE0-8BA2-A792DCFB9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295650"/>
            <a:ext cx="1190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50A7302-0979-4604-A02A-B9F269D02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352800"/>
            <a:ext cx="10382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1F1F"/>
                </a:solidFill>
              </a:defRPr>
            </a:pPr>
            <a:r>
              <a:rPr sz="975" b="0">
                <a:solidFill>
                  <a:srgbClr val="1F1F1F"/>
                </a:solidFill>
              </a:rPr>
              <a:t>23.754%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2540B11-3B45-4538-8A9E-82E8E4686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956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09225F2-110D-4EFD-9748-055653022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352800"/>
            <a:ext cx="1276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1F1F"/>
                </a:solidFill>
              </a:defRPr>
            </a:pPr>
            <a:r>
              <a:rPr sz="975" b="0">
                <a:solidFill>
                  <a:srgbClr val="1F1F1F"/>
                </a:solidFill>
              </a:rPr>
              <a:t>-7.502%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09D9E38-D02C-483B-89B4-6C1E69DA2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00500"/>
            <a:ext cx="4667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1229C9D-717A-41BE-9FA4-BCF4C4283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0050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5D923F8-D96F-457D-8DCE-36D86E030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114800"/>
            <a:ext cx="432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E79"/>
                </a:solidFill>
              </a:defRPr>
            </a:pPr>
            <a:r>
              <a:rPr sz="1350" b="1">
                <a:solidFill>
                  <a:srgbClr val="1F4E79"/>
                </a:solidFill>
              </a:rPr>
              <a:t>为什么仍采用物理48层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8646DE0-A226-4BE5-A853-DBD079F55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432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F1F1F"/>
                </a:solidFill>
              </a:defRPr>
            </a:pPr>
            <a:r>
              <a:rPr sz="1163" b="0">
                <a:solidFill>
                  <a:srgbClr val="1F1F1F"/>
                </a:solidFill>
              </a:rPr>
              <a:t>RH RMSE与原93层差异无统计意义，但T更好、RH Bias更小、层定义与OEM兼容，因此作为下一阶段主基线。</a:t>
            </a:r>
          </a:p>
        </p:txBody>
      </p:sp>
    </p:spTree>
    <p:extLst>
      <p:ext uri="{BB962C8B-B14F-4D97-AF65-F5344CB8AC3E}">
        <p14:creationId xmlns:p14="http://schemas.microsoft.com/office/powerpoint/2010/main" val="77622895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2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d0233cf5d746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22091" y="179242"/>
            <a:ext cx="744705" cy="744705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C787D6C-BC45-4032-ABFD-03E70ED47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" y="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28BA50E2-2CCC-4D97-8B8E-9EF15B15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2286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08119F14-FABB-4DC7-B74C-B4593E71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4572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1AAE87C-4AEC-4CE1-9423-623C0716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2530" y="910702"/>
            <a:ext cx="645570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D350B9C-2DA0-4307-B5B8-9F825212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" y="683951"/>
            <a:ext cx="633043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8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345ec998154c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704018" y="211706"/>
            <a:ext cx="2327759" cy="675179"/>
          </a:xfrm>
          <a:prstGeom xmlns:a="http://schemas.openxmlformats.org/drawingml/2006/main" prst="rect">
            <a:avLst/>
          </a:prstGeom>
        </p:spPr>
      </p:pic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081E26C6-F2B8-4F59-AAFE-4BC8D11D7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05909" y="143506"/>
            <a:ext cx="0" cy="729641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00000"/>
            </a:solidFill>
          </a:ln>
        </p:spPr>
        <p:style>
          <a:lnRef xmlns:a="http://schemas.openxmlformats.org/drawingml/2006/main" idx="3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50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557db16a3d410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289122" y="84514"/>
            <a:ext cx="703864" cy="781252"/>
          </a:xfrm>
          <a:prstGeom xmlns:a="http://schemas.openxmlformats.org/drawingml/2006/main" prst="rect">
            <a:avLst/>
          </a:prstGeom>
        </p:spPr>
      </p:pic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3E00FF0A-6266-4C1C-BE59-6813E81CD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2986" y="176969"/>
            <a:ext cx="3090558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latin typeface="黑体"/>
                <a:ea typeface="黑体"/>
                <a:cs typeface="黑体"/>
              </a:rPr>
              <a:t>空间科学与技术学院</a:t>
            </a:r>
          </a:p>
          <a:p xmlns:a="http://schemas.openxmlformats.org/drawingml/2006/main">
            <a:r>
              <a:rPr sz="1200">
                <a:latin typeface="Times New Roman"/>
                <a:ea typeface="Times New Roman"/>
                <a:cs typeface="Times New Roman"/>
              </a:rPr>
              <a:t>School of Aerospace Science and Technology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E82592A6-7995-4942-95DC-8E23405E8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300" y="1"/>
            <a:ext cx="4203700" cy="7367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48C25488-9535-4E82-9D35-19DC845B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297" y="731909"/>
            <a:ext cx="4203700" cy="2008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90000"/>
            </a:schemeClr>
          </a:solidFill>
          <a:ln xmlns:a="http://schemas.openxmlformats.org/drawingml/2006/main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A1391E92-C434-4A79-A113-DCBD866B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592" y="96290"/>
            <a:ext cx="3635109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研究内容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39B0F51-8070-4EAA-AC0E-312B9BA2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0"/>
            <a:ext cx="42100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8A84D85-37A6-466E-9E33-F13EF7D44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733425"/>
            <a:ext cx="42100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9D9F3AB-C716-4FC1-8956-796112842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14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误差瓶颈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10C337C-3FF5-49B6-87A1-4A2535188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365C"/>
                </a:solidFill>
              </a:defRPr>
            </a:pPr>
            <a:r>
              <a:rPr sz="2250" b="1">
                <a:solidFill>
                  <a:srgbClr val="16365C"/>
                </a:solidFill>
              </a:rPr>
              <a:t>主要短板集中在5-8 km湿度：不是层数问题，而是中高层水汽信息不足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FFD0104-7279-4404-99F2-B1C44EDC2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8187AEF-A331-4CA9-85B2-D09DD241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666"/>
                </a:solidFill>
              </a:defRPr>
            </a:pPr>
            <a:r>
              <a:rPr sz="1200" b="0">
                <a:solidFill>
                  <a:srgbClr val="666666"/>
                </a:solidFill>
              </a:rPr>
              <a:t>独立温江探空只有6份，但高度分布已经暴露出明确瓶颈。 </a:t>
            </a:r>
          </a:p>
        </p:txBody>
      </p:sp>
      <p:graphicFrame>
        <p:nvGraphicFramePr>
          <p:cNvPr id="61" name="Chart"/>
          <p:cNvGraphicFramePr/>
          <p:nvPr/>
        </p:nvGraphicFramePr>
        <p:xfrm>
          <a:off xmlns:a="http://schemas.openxmlformats.org/drawingml/2006/main" x="685800" y="2143125"/>
          <a:ext xmlns:a="http://schemas.openxmlformats.org/drawingml/2006/main" cx="4429125" cy="2905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bd6793cfd1c404e"/>
          </a:graphicData>
        </a:graphic>
      </p:graphicFrame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484BC12-ABA5-4C0F-8FAE-9C854004A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72125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365C"/>
                </a:solidFill>
              </a:defRPr>
            </a:pPr>
            <a:r>
              <a:rPr sz="1425" b="1">
                <a:solidFill>
                  <a:srgbClr val="16365C"/>
                </a:solidFill>
              </a:rPr>
              <a:t>解释：5-8 km湿度受183 GHz信息、云雨QC、ERA5标签误差和探空时间差共同影响；仅改插值方法不能根治。</a:t>
            </a:r>
          </a:p>
        </p:txBody>
      </p:sp>
    </p:spTree>
    <p:extLst>
      <p:ext uri="{BB962C8B-B14F-4D97-AF65-F5344CB8AC3E}">
        <p14:creationId xmlns:p14="http://schemas.microsoft.com/office/powerpoint/2010/main" val="77622895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2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fd127160d94bb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22091" y="179242"/>
            <a:ext cx="744705" cy="744705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C787D6C-BC45-4032-ABFD-03E70ED47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" y="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28BA50E2-2CCC-4D97-8B8E-9EF15B15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2286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08119F14-FABB-4DC7-B74C-B4593E71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4572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1AAE87C-4AEC-4CE1-9423-623C0716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2530" y="910702"/>
            <a:ext cx="645570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D350B9C-2DA0-4307-B5B8-9F825212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" y="683951"/>
            <a:ext cx="633043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78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68521386cb4b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704018" y="211706"/>
            <a:ext cx="2327759" cy="675179"/>
          </a:xfrm>
          <a:prstGeom xmlns:a="http://schemas.openxmlformats.org/drawingml/2006/main" prst="rect">
            <a:avLst/>
          </a:prstGeom>
        </p:spPr>
      </p:pic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081E26C6-F2B8-4F59-AAFE-4BC8D11D7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05909" y="143506"/>
            <a:ext cx="0" cy="729641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00000"/>
            </a:solidFill>
          </a:ln>
        </p:spPr>
        <p:style>
          <a:lnRef xmlns:a="http://schemas.openxmlformats.org/drawingml/2006/main" idx="3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80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03f0ab584c44b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289122" y="84514"/>
            <a:ext cx="703864" cy="781252"/>
          </a:xfrm>
          <a:prstGeom xmlns:a="http://schemas.openxmlformats.org/drawingml/2006/main" prst="rect">
            <a:avLst/>
          </a:prstGeom>
        </p:spPr>
      </p:pic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3E00FF0A-6266-4C1C-BE59-6813E81CD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2986" y="176969"/>
            <a:ext cx="3090558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latin typeface="黑体"/>
                <a:ea typeface="黑体"/>
                <a:cs typeface="黑体"/>
              </a:rPr>
              <a:t>空间科学与技术学院</a:t>
            </a:r>
          </a:p>
          <a:p xmlns:a="http://schemas.openxmlformats.org/drawingml/2006/main">
            <a:r>
              <a:rPr sz="1200">
                <a:latin typeface="Times New Roman"/>
                <a:ea typeface="Times New Roman"/>
                <a:cs typeface="Times New Roman"/>
              </a:rPr>
              <a:t>School of Aerospace Science and Technology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E82592A6-7995-4942-95DC-8E23405E8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300" y="1"/>
            <a:ext cx="4203700" cy="7367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48C25488-9535-4E82-9D35-19DC845B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297" y="731909"/>
            <a:ext cx="4203700" cy="2008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90000"/>
            </a:schemeClr>
          </a:solidFill>
          <a:ln xmlns:a="http://schemas.openxmlformats.org/drawingml/2006/main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A1391E92-C434-4A79-A113-DCBD866B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592" y="96290"/>
            <a:ext cx="3635109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研究内容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0CC5588-7776-45B8-9B59-E35AE129E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0"/>
            <a:ext cx="42100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C43D132-751F-49D5-8156-CA40B7223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733425"/>
            <a:ext cx="42100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CD98CC2-CA1D-41CA-BEBD-0A61D1342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14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改进方向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C388F35-93B6-4722-AD8B-8446C78DB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365C"/>
                </a:solidFill>
              </a:defRPr>
            </a:pPr>
            <a:r>
              <a:rPr sz="2250" b="1">
                <a:solidFill>
                  <a:srgbClr val="16365C"/>
                </a:solidFill>
              </a:rPr>
              <a:t>后续改进要按“数据可靠性 → 先验稳定性 → OEM物理闭环 → 高频通道增益”推进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3A0B2B3-6282-4CA5-B75F-6ABA131FA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7AC8C2A-D712-4AC3-A2C6-4780DEED1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666"/>
                </a:solidFill>
              </a:defRPr>
            </a:pPr>
            <a:r>
              <a:rPr sz="1200" b="0">
                <a:solidFill>
                  <a:srgbClr val="666666"/>
                </a:solidFill>
              </a:rPr>
              <a:t>先补地基，再上复杂模型；否则模型结构越复杂，误差解释越困难。 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CBC3C9E-2915-48B7-B0F9-1CD5A1CD9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38375"/>
            <a:ext cx="16668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7B02619-F83E-4FBE-B367-C63EE7D0A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3622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00000"/>
                </a:solidFill>
              </a:defRPr>
            </a:pPr>
            <a:r>
              <a:rPr sz="1500" b="1">
                <a:solidFill>
                  <a:srgbClr val="C00000"/>
                </a:solidFill>
              </a:rPr>
              <a:t>P0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5746E22-22F5-4781-B28A-80E4CC343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7813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365C"/>
                </a:solidFill>
              </a:defRPr>
            </a:pPr>
            <a:r>
              <a:rPr sz="1500" b="1">
                <a:solidFill>
                  <a:srgbClr val="16365C"/>
                </a:solidFill>
              </a:rPr>
              <a:t>扩大样本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43DCFCD-7A6B-4FAB-8401-279597466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190875"/>
            <a:ext cx="1381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F1F1F"/>
                </a:solidFill>
              </a:defRPr>
            </a:pPr>
            <a:r>
              <a:rPr sz="1088" b="0">
                <a:solidFill>
                  <a:srgbClr val="1F1F1F"/>
                </a:solidFill>
              </a:rPr>
              <a:t>3-6个月连续亮温+ERA5</a:t>
            </a:r>
          </a:p>
          <a:p xmlns:a="http://schemas.openxmlformats.org/drawingml/2006/main">
            <a:pPr algn="l">
              <a:defRPr sz="1088" b="0">
                <a:solidFill>
                  <a:srgbClr val="1F1F1F"/>
                </a:solidFill>
              </a:defRPr>
            </a:pPr>
            <a:r>
              <a:rPr sz="1088" b="0">
                <a:solidFill>
                  <a:srgbClr val="1F1F1F"/>
                </a:solidFill>
              </a:rPr>
              <a:t>覆盖季节和天气型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CA79684-3C0A-4B11-98C9-12CF6613F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114675"/>
            <a:ext cx="304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A6A6A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26ADEF4-4AE3-4B72-A859-B84A376BF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238375"/>
            <a:ext cx="16668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F48DEEC-D2FE-4B70-A4DC-904BB73BD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3622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00000"/>
                </a:solidFill>
              </a:defRPr>
            </a:pPr>
            <a:r>
              <a:rPr sz="1500" b="1">
                <a:solidFill>
                  <a:srgbClr val="C00000"/>
                </a:solidFill>
              </a:rPr>
              <a:t>P0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70B8C2A-2C6A-46CD-B884-784976AA7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7813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365C"/>
                </a:solidFill>
              </a:defRPr>
            </a:pPr>
            <a:r>
              <a:rPr sz="1500" b="1">
                <a:solidFill>
                  <a:srgbClr val="16365C"/>
                </a:solidFill>
              </a:rPr>
              <a:t>时间/QC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DA7E8EE-15EA-4FE0-BA37-F492178DA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190875"/>
            <a:ext cx="1381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F1F1F"/>
                </a:solidFill>
              </a:defRPr>
            </a:pPr>
            <a:r>
              <a:rPr sz="1088" b="0">
                <a:solidFill>
                  <a:srgbClr val="1F1F1F"/>
                </a:solidFill>
              </a:rPr>
              <a:t>统一UTC/北京时</a:t>
            </a:r>
          </a:p>
          <a:p xmlns:a="http://schemas.openxmlformats.org/drawingml/2006/main">
            <a:pPr algn="l">
              <a:defRPr sz="1088" b="0">
                <a:solidFill>
                  <a:srgbClr val="1F1F1F"/>
                </a:solidFill>
              </a:defRPr>
            </a:pPr>
            <a:r>
              <a:rPr sz="1088" b="0">
                <a:solidFill>
                  <a:srgbClr val="1F1F1F"/>
                </a:solidFill>
              </a:rPr>
              <a:t>探空匹配压到±30min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EEE29C7-A689-4D77-8EE5-1EA70A0CC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14675"/>
            <a:ext cx="304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A6A6A6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EAADEAF-42CE-4A5A-BD22-A3DA1E540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238375"/>
            <a:ext cx="16668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19050">
            <a:solidFill>
              <a:srgbClr val="1F4E79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918676F-6FF8-4F41-9373-5A14D67CD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23622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4E79"/>
                </a:solidFill>
              </a:defRPr>
            </a:pPr>
            <a:r>
              <a:rPr sz="1500" b="1">
                <a:solidFill>
                  <a:srgbClr val="1F4E79"/>
                </a:solidFill>
              </a:rPr>
              <a:t>P1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AA6E8F8-1591-4D22-9379-D39255C71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27813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365C"/>
                </a:solidFill>
              </a:defRPr>
            </a:pPr>
            <a:r>
              <a:rPr sz="1500" b="1">
                <a:solidFill>
                  <a:srgbClr val="16365C"/>
                </a:solidFill>
              </a:rPr>
              <a:t>补地面变量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DA9A3AF-97BB-47A3-8CC3-5B065E1F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3190875"/>
            <a:ext cx="1381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F1F1F"/>
                </a:solidFill>
              </a:defRPr>
            </a:pPr>
            <a:r>
              <a:rPr sz="1088" b="0">
                <a:solidFill>
                  <a:srgbClr val="1F1F1F"/>
                </a:solidFill>
              </a:rPr>
              <a:t>surface pressure</a:t>
            </a:r>
          </a:p>
          <a:p xmlns:a="http://schemas.openxmlformats.org/drawingml/2006/main">
            <a:pPr algn="l">
              <a:defRPr sz="1088" b="0">
                <a:solidFill>
                  <a:srgbClr val="1F1F1F"/>
                </a:solidFill>
              </a:defRPr>
            </a:pPr>
            <a:r>
              <a:rPr sz="1088" b="0">
                <a:solidFill>
                  <a:srgbClr val="1F1F1F"/>
                </a:solidFill>
              </a:rPr>
              <a:t>2m T/dewpoint或仪器T/RH/P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A154DDE-2552-4518-B9EE-D1968AB09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14675"/>
            <a:ext cx="304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A6A6A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871CE64-0B09-4DDB-9C0E-4657275AF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238375"/>
            <a:ext cx="16668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19050">
            <a:solidFill>
              <a:srgbClr val="1F4E79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028E385-2445-4E74-8439-1EA5E2112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3622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4E79"/>
                </a:solidFill>
              </a:defRPr>
            </a:pPr>
            <a:r>
              <a:rPr sz="1500" b="1">
                <a:solidFill>
                  <a:srgbClr val="1F4E79"/>
                </a:solidFill>
              </a:rPr>
              <a:t>P1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10B4A44-1C1B-45EB-AFFD-E888A9312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7813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365C"/>
                </a:solidFill>
              </a:defRPr>
            </a:pPr>
            <a:r>
              <a:rPr sz="1500" b="1">
                <a:solidFill>
                  <a:srgbClr val="16365C"/>
                </a:solidFill>
              </a:rPr>
              <a:t>前14通道OEM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4685405-93F7-428A-9D88-6598A0A2F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190875"/>
            <a:ext cx="1381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F1F1F"/>
                </a:solidFill>
              </a:defRPr>
            </a:pPr>
            <a:r>
              <a:rPr sz="1088" b="0">
                <a:solidFill>
                  <a:srgbClr val="1F1F1F"/>
                </a:solidFill>
              </a:rPr>
              <a:t>估计S_a/S_e/OMB</a:t>
            </a:r>
          </a:p>
          <a:p xmlns:a="http://schemas.openxmlformats.org/drawingml/2006/main">
            <a:pPr algn="l">
              <a:defRPr sz="1088" b="0">
                <a:solidFill>
                  <a:srgbClr val="1F1F1F"/>
                </a:solidFill>
              </a:defRPr>
            </a:pPr>
            <a:r>
              <a:rPr sz="1088" b="0">
                <a:solidFill>
                  <a:srgbClr val="1F1F1F"/>
                </a:solidFill>
              </a:rPr>
              <a:t>MonoRTM真实观测闭环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66AC958-FB78-4760-81F3-39D3A84DF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114675"/>
            <a:ext cx="304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A6A6A6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AB5DD45-084D-4C6E-B5FE-4D57AD0B8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238375"/>
            <a:ext cx="16668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BF4"/>
          </a:solidFill>
          <a:ln xmlns:a="http://schemas.openxmlformats.org/drawingml/2006/main" w="19050">
            <a:solidFill>
              <a:srgbClr val="2E7D32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2ADEE09-40B9-4688-8D52-053F03761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3622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E7D32"/>
                </a:solidFill>
              </a:defRPr>
            </a:pPr>
            <a:r>
              <a:rPr sz="1500" b="1">
                <a:solidFill>
                  <a:srgbClr val="2E7D32"/>
                </a:solidFill>
              </a:rPr>
              <a:t>P2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768CED1-EF50-4AA9-8324-33F6229C8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7813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365C"/>
                </a:solidFill>
              </a:defRPr>
            </a:pPr>
            <a:r>
              <a:rPr sz="1500" b="1">
                <a:solidFill>
                  <a:srgbClr val="16365C"/>
                </a:solidFill>
              </a:rPr>
              <a:t>高频验证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663AC98-F893-4458-92B9-FFF941CDD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190875"/>
            <a:ext cx="1381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F1F1F"/>
                </a:solidFill>
              </a:defRPr>
            </a:pPr>
            <a:r>
              <a:rPr sz="1088" b="0">
                <a:solidFill>
                  <a:srgbClr val="1F1F1F"/>
                </a:solidFill>
              </a:rPr>
              <a:t>89/183/229 GHz</a:t>
            </a:r>
          </a:p>
          <a:p xmlns:a="http://schemas.openxmlformats.org/drawingml/2006/main">
            <a:pPr algn="l">
              <a:defRPr sz="1088" b="0">
                <a:solidFill>
                  <a:srgbClr val="1F1F1F"/>
                </a:solidFill>
              </a:defRPr>
            </a:pPr>
            <a:r>
              <a:rPr sz="1088" b="0">
                <a:solidFill>
                  <a:srgbClr val="1F1F1F"/>
                </a:solidFill>
              </a:rPr>
              <a:t>前向模型与消融检验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1C61A88-9DC1-4C9F-BB7C-88196683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72000"/>
            <a:ext cx="4381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976ABB1-C048-4216-854A-8577E156B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72000"/>
            <a:ext cx="762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6F50FF5-AB0E-4B9C-9498-DEDB06E2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86300"/>
            <a:ext cx="403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E79"/>
                </a:solidFill>
              </a:defRPr>
            </a:pPr>
            <a:r>
              <a:rPr sz="1350" b="1">
                <a:solidFill>
                  <a:srgbClr val="1F4E79"/>
                </a:solidFill>
              </a:rPr>
              <a:t>短期目标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760F8E1-F781-42D8-AEC7-3025CDA47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29200"/>
            <a:ext cx="4038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F1F1F"/>
                </a:solidFill>
              </a:defRPr>
            </a:pPr>
            <a:r>
              <a:rPr sz="1163" b="0">
                <a:solidFill>
                  <a:srgbClr val="1F1F1F"/>
                </a:solidFill>
              </a:rPr>
              <a:t>以前14通道完成成都真实观测OEM POC，证明BRNN/Ridge先验能被物理前向稳定修正。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3872531-55A6-4835-87E7-B8B24D13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72000"/>
            <a:ext cx="4381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A"/>
          </a:solidFill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3179473-4CE5-4210-BBD3-828763F86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72000"/>
            <a:ext cx="762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47CC75C-6C4C-4D30-8191-7284A69D2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86300"/>
            <a:ext cx="403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00000"/>
                </a:solidFill>
              </a:defRPr>
            </a:pPr>
            <a:r>
              <a:rPr sz="1350" b="1">
                <a:solidFill>
                  <a:srgbClr val="C00000"/>
                </a:solidFill>
              </a:rPr>
              <a:t>论文目标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6F377F6-CABC-4641-940A-0F5D2BC4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29200"/>
            <a:ext cx="4038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F1F1F"/>
                </a:solidFill>
              </a:defRPr>
            </a:pPr>
            <a:r>
              <a:rPr sz="1163" b="0">
                <a:solidFill>
                  <a:srgbClr val="1F1F1F"/>
                </a:solidFill>
              </a:rPr>
              <a:t>建立可解释的NN+OEM框架：给出通道贡献、误差来源、S_a/S_e估计和独立探空验证。</a:t>
            </a:r>
          </a:p>
        </p:txBody>
      </p:sp>
    </p:spTree>
    <p:extLst>
      <p:ext uri="{BB962C8B-B14F-4D97-AF65-F5344CB8AC3E}">
        <p14:creationId xmlns:p14="http://schemas.microsoft.com/office/powerpoint/2010/main" val="77622895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3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d8452169c741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22091" y="179242"/>
            <a:ext cx="744705" cy="744705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C787D6C-BC45-4032-ABFD-03E70ED47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" y="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28BA50E2-2CCC-4D97-8B8E-9EF15B15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2286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08119F14-FABB-4DC7-B74C-B4593E71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4572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1AAE87C-4AEC-4CE1-9423-623C0716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2530" y="910702"/>
            <a:ext cx="645570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D350B9C-2DA0-4307-B5B8-9F825212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" y="683951"/>
            <a:ext cx="633043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9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8c386ffc5a49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704018" y="211706"/>
            <a:ext cx="2327759" cy="675179"/>
          </a:xfrm>
          <a:prstGeom xmlns:a="http://schemas.openxmlformats.org/drawingml/2006/main" prst="rect">
            <a:avLst/>
          </a:prstGeom>
        </p:spPr>
      </p:pic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081E26C6-F2B8-4F59-AAFE-4BC8D11D7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05909" y="143506"/>
            <a:ext cx="0" cy="729641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00000"/>
            </a:solidFill>
          </a:ln>
        </p:spPr>
        <p:style>
          <a:lnRef xmlns:a="http://schemas.openxmlformats.org/drawingml/2006/main" idx="3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61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9fd3fbcbee48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289122" y="84514"/>
            <a:ext cx="703864" cy="781252"/>
          </a:xfrm>
          <a:prstGeom xmlns:a="http://schemas.openxmlformats.org/drawingml/2006/main" prst="rect">
            <a:avLst/>
          </a:prstGeom>
        </p:spPr>
      </p:pic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3E00FF0A-6266-4C1C-BE59-6813E81CD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2986" y="176969"/>
            <a:ext cx="3090558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latin typeface="黑体"/>
                <a:ea typeface="黑体"/>
                <a:cs typeface="黑体"/>
              </a:rPr>
              <a:t>空间科学与技术学院</a:t>
            </a:r>
          </a:p>
          <a:p xmlns:a="http://schemas.openxmlformats.org/drawingml/2006/main">
            <a:r>
              <a:rPr sz="1200">
                <a:latin typeface="Times New Roman"/>
                <a:ea typeface="Times New Roman"/>
                <a:cs typeface="Times New Roman"/>
              </a:rPr>
              <a:t>School of Aerospace Science and Technology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E82592A6-7995-4942-95DC-8E23405E8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300" y="1"/>
            <a:ext cx="4203700" cy="7367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48C25488-9535-4E82-9D35-19DC845B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297" y="731909"/>
            <a:ext cx="4203700" cy="2008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90000"/>
            </a:schemeClr>
          </a:solidFill>
          <a:ln xmlns:a="http://schemas.openxmlformats.org/drawingml/2006/main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A1391E92-C434-4A79-A113-DCBD866B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592" y="96290"/>
            <a:ext cx="3635109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研究内容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817E00C-3171-4549-B031-569934A66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0"/>
            <a:ext cx="42100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8D04D0F-3F1B-4494-B850-3E0D8351B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733425"/>
            <a:ext cx="42100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7BCD076-B116-4C2F-A8DB-B1CA4D80D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14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实验结果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70EECEF-CAAA-41CD-8BC1-2C965B089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365C"/>
                </a:solidFill>
              </a:defRPr>
            </a:pPr>
            <a:r>
              <a:rPr sz="2250" b="1">
                <a:solidFill>
                  <a:srgbClr val="16365C"/>
                </a:solidFill>
              </a:rPr>
              <a:t>训练过程和预测散点说明：模型能学习总体结构，但误差仍随高度和变量分布变化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26063B0-A3F6-4039-8474-327864B8B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3A5C002-4BF6-4080-BD51-81D6BF3E1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666"/>
                </a:solidFill>
              </a:defRPr>
            </a:pPr>
            <a:r>
              <a:rPr sz="1200" b="0">
                <a:solidFill>
                  <a:srgbClr val="666666"/>
                </a:solidFill>
              </a:rPr>
              <a:t>这页用于汇报时展示“不是只报RMSE”，而是有训练稳定性、预测相关性和剖面形态证据。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7612710-B9B7-4BA0-A704-4C178E7BC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0125"/>
            <a:ext cx="3000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03D361B-2625-459F-867E-58FE5A430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0125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5EB19C7-209F-41C4-B3F4-EFD78D394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24425"/>
            <a:ext cx="2657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E79"/>
                </a:solidFill>
              </a:defRPr>
            </a:pPr>
            <a:r>
              <a:rPr sz="1350" b="1">
                <a:solidFill>
                  <a:srgbClr val="1F4E79"/>
                </a:solidFill>
              </a:rPr>
              <a:t>训练曲线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F5E1A71-B51E-4093-8200-6DF8738AA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67325"/>
            <a:ext cx="2657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F1F1F"/>
                </a:solidFill>
              </a:defRPr>
            </a:pPr>
            <a:r>
              <a:rPr sz="1163" b="0">
                <a:solidFill>
                  <a:srgbClr val="1F1F1F"/>
                </a:solidFill>
              </a:rPr>
              <a:t>小样本下需要观察验证集是否震荡，不能只看训练误差下降。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BF8249D-4ED7-4CB3-BBA9-C6CAB37CD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810125"/>
            <a:ext cx="3000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CBED25E-0892-4FF1-A292-C37DFDBB7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810125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53806C7-DDCD-409C-9691-A21B69A2C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924425"/>
            <a:ext cx="2657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00000"/>
                </a:solidFill>
              </a:defRPr>
            </a:pPr>
            <a:r>
              <a:rPr sz="1350" b="1">
                <a:solidFill>
                  <a:srgbClr val="C00000"/>
                </a:solidFill>
              </a:rPr>
              <a:t>预测散点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B1ECF25-B5F0-4CC9-83A5-28B50E6E9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267325"/>
            <a:ext cx="2657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F1F1F"/>
                </a:solidFill>
              </a:defRPr>
            </a:pPr>
            <a:r>
              <a:rPr sz="1163" b="0">
                <a:solidFill>
                  <a:srgbClr val="1F1F1F"/>
                </a:solidFill>
              </a:rPr>
              <a:t>T相对稳定，RH散点更分散，说明湿度非线性和标签噪声更强。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9A9BED6-DAD6-44C0-9A82-1FEAC5995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810125"/>
            <a:ext cx="3000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BF4"/>
          </a:solidFill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20B80F1-79DB-433B-B299-5DF5ABCE2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810125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D2F823D-0C2D-4F12-B029-22BA1837B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924425"/>
            <a:ext cx="2657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7D32"/>
                </a:solidFill>
              </a:defRPr>
            </a:pPr>
            <a:r>
              <a:rPr sz="1350" b="1">
                <a:solidFill>
                  <a:srgbClr val="2E7D32"/>
                </a:solidFill>
              </a:rPr>
              <a:t>样例廓线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5C5D838-CF46-491F-9471-035B52F17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267325"/>
            <a:ext cx="2657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F1F1F"/>
                </a:solidFill>
              </a:defRPr>
            </a:pPr>
            <a:r>
              <a:rPr sz="1163" b="0">
                <a:solidFill>
                  <a:srgbClr val="1F1F1F"/>
                </a:solidFill>
              </a:rPr>
              <a:t>剖面形态能暴露高度段偏差，比单个全层RMSE更适合诊断。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3F0C755-952F-4560-80AD-31896EDCC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7777"/>
                </a:solidFill>
              </a:defRPr>
            </a:pPr>
            <a:r>
              <a:rPr sz="788" b="0">
                <a:solidFill>
                  <a:srgbClr val="777777"/>
                </a:solidFill>
              </a:rPr>
              <a:t>图片来源：results/chengdu_era5_figures/01_brnn_training_curves.png、03_prediction_scatter.png、04_example_profiles.png</a:t>
            </a:r>
          </a:p>
        </p:txBody>
      </p:sp>
    </p:spTree>
    <p:extLst>
      <p:ext uri="{BB962C8B-B14F-4D97-AF65-F5344CB8AC3E}">
        <p14:creationId xmlns:p14="http://schemas.microsoft.com/office/powerpoint/2010/main" val="77622895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2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7f56c961aa46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22091" y="179242"/>
            <a:ext cx="744705" cy="744705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C787D6C-BC45-4032-ABFD-03E70ED47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" y="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28BA50E2-2CCC-4D97-8B8E-9EF15B15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2286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08119F14-FABB-4DC7-B74C-B4593E71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4572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1AAE87C-4AEC-4CE1-9423-623C0716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2530" y="910702"/>
            <a:ext cx="645570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D350B9C-2DA0-4307-B5B8-9F825212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" y="683951"/>
            <a:ext cx="633043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8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7d0212846f4bb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704018" y="211706"/>
            <a:ext cx="2327759" cy="675179"/>
          </a:xfrm>
          <a:prstGeom xmlns:a="http://schemas.openxmlformats.org/drawingml/2006/main" prst="rect">
            <a:avLst/>
          </a:prstGeom>
        </p:spPr>
      </p:pic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081E26C6-F2B8-4F59-AAFE-4BC8D11D7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05909" y="143506"/>
            <a:ext cx="0" cy="729641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00000"/>
            </a:solidFill>
          </a:ln>
        </p:spPr>
        <p:style>
          <a:lnRef xmlns:a="http://schemas.openxmlformats.org/drawingml/2006/main" idx="3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50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80663de6774e3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289122" y="84514"/>
            <a:ext cx="703864" cy="781252"/>
          </a:xfrm>
          <a:prstGeom xmlns:a="http://schemas.openxmlformats.org/drawingml/2006/main" prst="rect">
            <a:avLst/>
          </a:prstGeom>
        </p:spPr>
      </p:pic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3E00FF0A-6266-4C1C-BE59-6813E81CD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2986" y="176969"/>
            <a:ext cx="3090558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latin typeface="黑体"/>
                <a:ea typeface="黑体"/>
                <a:cs typeface="黑体"/>
              </a:rPr>
              <a:t>空间科学与技术学院</a:t>
            </a:r>
          </a:p>
          <a:p xmlns:a="http://schemas.openxmlformats.org/drawingml/2006/main">
            <a:r>
              <a:rPr sz="1200">
                <a:latin typeface="Times New Roman"/>
                <a:ea typeface="Times New Roman"/>
                <a:cs typeface="Times New Roman"/>
              </a:rPr>
              <a:t>School of Aerospace Science and Technology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E82592A6-7995-4942-95DC-8E23405E8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300" y="1"/>
            <a:ext cx="4203700" cy="7367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48C25488-9535-4E82-9D35-19DC845B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297" y="731909"/>
            <a:ext cx="4203700" cy="2008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90000"/>
            </a:schemeClr>
          </a:solidFill>
          <a:ln xmlns:a="http://schemas.openxmlformats.org/drawingml/2006/main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A1391E92-C434-4A79-A113-DCBD866B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592" y="96290"/>
            <a:ext cx="3635109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研究内容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C58FC9-C51F-4215-AA3D-0A835FF10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0"/>
            <a:ext cx="42100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CD26439-1DD0-4A67-82B7-383C97375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733425"/>
            <a:ext cx="42100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DF82C15-2A5E-4CC1-8424-AAD245DEB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14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探空验证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0380B08-7A7B-4147-B4A1-21CD90D33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365C"/>
                </a:solidFill>
              </a:defRPr>
            </a:pPr>
            <a:r>
              <a:rPr sz="2250" b="1">
                <a:solidFill>
                  <a:srgbClr val="16365C"/>
                </a:solidFill>
              </a:rPr>
              <a:t>独立温江探空对比显示：温度已有可用基础，湿度中高层仍是主要短板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34F0C3D-8354-4D32-BBF2-D7B914E0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885C507-A49F-45B3-BE9A-1CA8D41A6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666"/>
                </a:solidFill>
              </a:defRPr>
            </a:pPr>
            <a:r>
              <a:rPr sz="1200" b="0">
                <a:solidFill>
                  <a:srgbClr val="666666"/>
                </a:solidFill>
              </a:rPr>
              <a:t>独立测试只有6份探空，因此不夸大统计显著性；重点是用剖面图定位误差来源。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CF0220F-893F-4FA2-B8EA-05F172EB7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0"/>
            <a:ext cx="962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16365C"/>
                </a:solidFill>
              </a:defRPr>
            </a:pPr>
            <a:r>
              <a:rPr sz="1388" b="1">
                <a:solidFill>
                  <a:srgbClr val="16365C"/>
                </a:solidFill>
              </a:rPr>
              <a:t>从图上看，物理48层方案把T Bias压到+0.250 K，但RH仍存在约-7.5%的干偏；5-8 km湿度误差最大，需要靠高频通道、QC和更强先验共同解决。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D812209-A85F-4BE2-8BE1-DBC047617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34150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777777"/>
                </a:solidFill>
              </a:defRPr>
            </a:pPr>
            <a:r>
              <a:rPr sz="788" b="0">
                <a:solidFill>
                  <a:srgbClr val="777777"/>
                </a:solidFill>
              </a:rPr>
              <a:t>图片来源：results/chengdu_era5_layer48_optimized_evaluation/02_independent_sounding_comparison.png、04_sounding_profiles.png</a:t>
            </a:r>
          </a:p>
        </p:txBody>
      </p:sp>
    </p:spTree>
    <p:extLst>
      <p:ext uri="{BB962C8B-B14F-4D97-AF65-F5344CB8AC3E}">
        <p14:creationId xmlns:p14="http://schemas.microsoft.com/office/powerpoint/2010/main" val="776228954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5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94b0371ee24be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22091" y="179242"/>
            <a:ext cx="744705" cy="744705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C787D6C-BC45-4032-ABFD-03E70ED47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" y="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28BA50E2-2CCC-4D97-8B8E-9EF15B15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2286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08119F14-FABB-4DC7-B74C-B4593E71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" y="457200"/>
            <a:ext cx="633042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1AAE87C-4AEC-4CE1-9423-623C0716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2530" y="910702"/>
            <a:ext cx="645570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D350B9C-2DA0-4307-B5B8-9F825212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" y="683951"/>
            <a:ext cx="633043" cy="125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cdc7a4cacd4a7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704018" y="211706"/>
            <a:ext cx="2327759" cy="675179"/>
          </a:xfrm>
          <a:prstGeom xmlns:a="http://schemas.openxmlformats.org/drawingml/2006/main" prst="rect">
            <a:avLst/>
          </a:prstGeom>
        </p:spPr>
      </p:pic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081E26C6-F2B8-4F59-AAFE-4BC8D11D7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05909" y="143506"/>
            <a:ext cx="0" cy="729641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00000"/>
            </a:solidFill>
          </a:ln>
        </p:spPr>
        <p:style>
          <a:lnRef xmlns:a="http://schemas.openxmlformats.org/drawingml/2006/main" idx="3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63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c5eef33b79491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289122" y="84514"/>
            <a:ext cx="703864" cy="781252"/>
          </a:xfrm>
          <a:prstGeom xmlns:a="http://schemas.openxmlformats.org/drawingml/2006/main" prst="rect">
            <a:avLst/>
          </a:prstGeom>
        </p:spPr>
      </p:pic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3E00FF0A-6266-4C1C-BE59-6813E81CD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2986" y="176969"/>
            <a:ext cx="3090558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latin typeface="黑体"/>
                <a:ea typeface="黑体"/>
                <a:cs typeface="黑体"/>
              </a:rPr>
              <a:t>空间科学与技术学院</a:t>
            </a:r>
          </a:p>
          <a:p xmlns:a="http://schemas.openxmlformats.org/drawingml/2006/main">
            <a:r>
              <a:rPr sz="1200">
                <a:latin typeface="Times New Roman"/>
                <a:ea typeface="Times New Roman"/>
                <a:cs typeface="Times New Roman"/>
              </a:rPr>
              <a:t>School of Aerospace Science and Technology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E82592A6-7995-4942-95DC-8E23405E8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300" y="1"/>
            <a:ext cx="4203700" cy="7367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48C25488-9535-4E82-9D35-19DC845B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8297" y="731909"/>
            <a:ext cx="4203700" cy="2008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90000"/>
            </a:schemeClr>
          </a:solidFill>
          <a:ln xmlns:a="http://schemas.openxmlformats.org/drawingml/2006/main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A1391E92-C434-4A79-A113-DCBD866B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592" y="96290"/>
            <a:ext cx="3635109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研究内容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D3DABCC-F28D-426E-91EA-1B20D5015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0"/>
            <a:ext cx="42100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A2F28FE-D9CF-461B-B1E2-8777B0E62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733425"/>
            <a:ext cx="42100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DCB60FA-0A90-4EE8-92AD-0C3E13EEC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14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结论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F1C764D-9399-4751-A69A-5ED0DB225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365C"/>
                </a:solidFill>
              </a:defRPr>
            </a:pPr>
            <a:r>
              <a:rPr sz="2250" b="1">
                <a:solidFill>
                  <a:srgbClr val="16365C"/>
                </a:solidFill>
              </a:rPr>
              <a:t>阶段结论：成都站不能直接迁移旧模型，但已具备构建本地NN+OEM反演框架的条件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39E3C3B-5A7A-4ABE-9806-5B92F80E0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99C5CE1-04D3-4702-8E3D-1B46B6019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666"/>
                </a:solidFill>
              </a:defRPr>
            </a:pPr>
            <a:r>
              <a:rPr sz="1200" b="0">
                <a:solidFill>
                  <a:srgbClr val="666666"/>
                </a:solidFill>
              </a:rPr>
              <a:t>下一步的关键不是继续堆模型，而是补样本、补QC、补前向模型闭环。 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DBBDD05-57B2-457F-BECB-CF87E8A03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30003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19E87C4-A636-4492-8808-3E55B61DF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2ED86F9-EB02-47FB-8E30-CA508938E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657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E79"/>
                </a:solidFill>
              </a:defRPr>
            </a:pPr>
            <a:r>
              <a:rPr sz="1350" b="1">
                <a:solidFill>
                  <a:srgbClr val="1F4E79"/>
                </a:solidFill>
              </a:rPr>
              <a:t>已经完成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A69459C-5A4E-4E19-AF7E-0E7E4D808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33650"/>
            <a:ext cx="265747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F1F1F"/>
                </a:solidFill>
              </a:defRPr>
            </a:pPr>
            <a:r>
              <a:rPr sz="1163" b="0">
                <a:solidFill>
                  <a:srgbClr val="1F1F1F"/>
                </a:solidFill>
              </a:rPr>
              <a:t>21通道配置、ERA5精确配对、本地训练、物理48层、独立探空评估。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1C4407A-5FEB-4071-BF59-1B60D3725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76450"/>
            <a:ext cx="30003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B1417F0-ABFA-4900-A06B-2648A00B7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7645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2147AB7-0D63-4C46-9D5B-21AA282F4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90750"/>
            <a:ext cx="2657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00000"/>
                </a:solidFill>
              </a:defRPr>
            </a:pPr>
            <a:r>
              <a:rPr sz="1350" b="1">
                <a:solidFill>
                  <a:srgbClr val="C00000"/>
                </a:solidFill>
              </a:rPr>
              <a:t>主要原因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1ED43EC-D9BC-4082-BF0A-626436147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33650"/>
            <a:ext cx="265747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F1F1F"/>
                </a:solidFill>
              </a:defRPr>
            </a:pPr>
            <a:r>
              <a:rPr sz="1163" b="0">
                <a:solidFill>
                  <a:srgbClr val="1F1F1F"/>
                </a:solidFill>
              </a:rPr>
              <a:t>小样本、跨站泛化、通道利用不足、湿度标签不确定和高频前向模型缺口。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229E1FD-FAD9-464E-AFD3-A2C59C9AE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076450"/>
            <a:ext cx="30003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BF4"/>
          </a:solidFill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FD1A567-22EC-474B-8A6C-278E36EF4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07645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BC9509B-A2BF-4F63-8EE2-ACAFC6BDF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190750"/>
            <a:ext cx="2657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7D32"/>
                </a:solidFill>
              </a:defRPr>
            </a:pPr>
            <a:r>
              <a:rPr sz="1350" b="1">
                <a:solidFill>
                  <a:srgbClr val="2E7D32"/>
                </a:solidFill>
              </a:rPr>
              <a:t>解决路径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3A1F745-5D98-4DDC-8DF7-110100AC1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533650"/>
            <a:ext cx="265747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F1F1F"/>
                </a:solidFill>
              </a:defRPr>
            </a:pPr>
            <a:r>
              <a:rPr sz="1163" b="0">
                <a:solidFill>
                  <a:srgbClr val="1F1F1F"/>
                </a:solidFill>
              </a:rPr>
              <a:t>扩大数据后以成都先验接前14通道OEM，再验证高频通道信息量。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FF82480-5BB1-4D2C-ABBA-8B22F7022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365C"/>
                </a:solidFill>
              </a:defRPr>
            </a:pPr>
            <a:r>
              <a:rPr sz="1575" b="1">
                <a:solidFill>
                  <a:srgbClr val="16365C"/>
                </a:solidFill>
              </a:rPr>
              <a:t>建议汇报口径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520938F-83C6-4895-8D91-CD52CF935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00550"/>
            <a:ext cx="942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1F1F"/>
                </a:solidFill>
              </a:defRPr>
            </a:pPr>
            <a:r>
              <a:rPr sz="1425" b="1">
                <a:solidFill>
                  <a:srgbClr val="1F1F1F"/>
                </a:solidFill>
              </a:rPr>
              <a:t>当前结果的价值在于找到了不宜直接迁移的证据，并把下一阶段可实现的技术路线收敛到：成都本地统计先验 + 物理48层 + 前14通道OEM + 高频通道验证。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FC8C6EC-65C5-45D7-B9F0-A063B6DE8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19750"/>
            <a:ext cx="981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55555"/>
                </a:solidFill>
              </a:defRPr>
            </a:pPr>
            <a:r>
              <a:rPr sz="938" b="0">
                <a:solidFill>
                  <a:srgbClr val="555555"/>
                </a:solidFill>
              </a:rPr>
              <a:t>参考来源：Rodgers 2000 DOI 10.1142/9789812813718；GMD PAMTRA 2020 DOI 10.5194/gmd-13-4229-2020；GMD ARMS-gb 2025；AMT HATPRO/复杂地形/雨天低层温度/2026浮标MWR；Remote Sensing 2023广州ML、2025武汉ANN订正；项目Git提交4dc2262。</a:t>
            </a:r>
          </a:p>
        </p:txBody>
      </p:sp>
    </p:spTree>
    <p:extLst>
      <p:ext uri="{BB962C8B-B14F-4D97-AF65-F5344CB8AC3E}">
        <p14:creationId xmlns:p14="http://schemas.microsoft.com/office/powerpoint/2010/main" val="776228954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2026-07-23T08:15:55.5320000Z</dcterms:created>
  <dcterms:modified xsi:type="dcterms:W3CDTF">2026-07-23T08:15:55.5320000Z</dcterms:modified>
</coreProperties>
</file>