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T RMSE(K)</c:f>
              <c:strCache>
                <c:ptCount val="1"/>
                <c:pt idx="0">
                  <c:v>T RMSE(K)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{"旧模型直接迁移","成都本地混合","物理48层探空"}</c:f>
              <c:strCache>
                <c:ptCount val="3"/>
                <c:pt idx="0">
                  <c:v>旧模型直接迁移</c:v>
                </c:pt>
                <c:pt idx="1">
                  <c:v>成都本地混合</c:v>
                </c:pt>
                <c:pt idx="2">
                  <c:v>物理48层探空</c:v>
                </c:pt>
              </c:strCache>
            </c:strRef>
          </c:cat>
          <c:val>
            <c:numRef>
              <c:f>{29.376,1.479,1.532}</c:f>
              <c:numCache>
                <c:formatCode>General</c:formatCode>
                <c:ptCount val="3"/>
                <c:pt idx="0">
                  <c:v>29.376</c:v>
                </c:pt>
                <c:pt idx="1">
                  <c:v>1.479</c:v>
                </c:pt>
                <c:pt idx="2">
                  <c:v>1.532</c:v>
                </c:pt>
              </c:numCache>
            </c:numRef>
          </c:val>
        </c:ser>
        <c:ser>
          <c:idx val="1"/>
          <c:order val="1"/>
          <c:tx>
            <c:strRef>
              <c:f>RH RMSE(%)</c:f>
              <c:strCache>
                <c:ptCount val="1"/>
                <c:pt idx="0">
                  <c:v>RH RMSE(%)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{"旧模型直接迁移","成都本地混合","物理48层探空"}</c:f>
              <c:strCache>
                <c:ptCount val="3"/>
                <c:pt idx="0">
                  <c:v>旧模型直接迁移</c:v>
                </c:pt>
                <c:pt idx="1">
                  <c:v>成都本地混合</c:v>
                </c:pt>
                <c:pt idx="2">
                  <c:v>物理48层探空</c:v>
                </c:pt>
              </c:strCache>
            </c:strRef>
          </c:cat>
          <c:val>
            <c:numRef>
              <c:f>{42.496,20.966,23.754}</c:f>
              <c:numCache>
                <c:formatCode>General</c:formatCode>
                <c:ptCount val="3"/>
                <c:pt idx="0">
                  <c:v>42.496</c:v>
                </c:pt>
                <c:pt idx="1">
                  <c:v>20.966</c:v>
                </c:pt>
                <c:pt idx="2">
                  <c:v>23.754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702432c-75fc-4325-bc76-f7683f0e0412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样本数</c:f>
              <c:strCache>
                <c:ptCount val="1"/>
                <c:pt idx="0">
                  <c:v>样本数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{"训练","验证","测试","独立探空"}</c:f>
              <c:strCache>
                <c:ptCount val="4"/>
                <c:pt idx="0">
                  <c:v>训练</c:v>
                </c:pt>
                <c:pt idx="1">
                  <c:v>验证</c:v>
                </c:pt>
                <c:pt idx="2">
                  <c:v>测试</c:v>
                </c:pt>
                <c:pt idx="3">
                  <c:v>独立探空</c:v>
                </c:pt>
              </c:strCache>
            </c:strRef>
          </c:cat>
          <c:val>
            <c:numRef>
              <c:f>{69,22,48,6}</c:f>
              <c:numCache>
                <c:formatCode>General</c:formatCode>
                <c:ptCount val="4"/>
                <c:pt idx="0">
                  <c:v>69</c:v>
                </c:pt>
                <c:pt idx="1">
                  <c:v>22</c:v>
                </c:pt>
                <c:pt idx="2">
                  <c:v>48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aea41a06-b886-4974-8336-08cb9505f48a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T RMSE(K)</c:f>
              <c:strCache>
                <c:ptCount val="1"/>
                <c:pt idx="0">
                  <c:v>T RMSE(K)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{"全21ch","前14ch","高频7ch","183GHz五通道","平均廓线"}</c:f>
              <c:strCache>
                <c:ptCount val="5"/>
                <c:pt idx="0">
                  <c:v>全21ch</c:v>
                </c:pt>
                <c:pt idx="1">
                  <c:v>前14ch</c:v>
                </c:pt>
                <c:pt idx="2">
                  <c:v>高频7ch</c:v>
                </c:pt>
                <c:pt idx="3">
                  <c:v>183GHz五通道</c:v>
                </c:pt>
                <c:pt idx="4">
                  <c:v>平均廓线</c:v>
                </c:pt>
              </c:strCache>
            </c:strRef>
          </c:cat>
          <c:val>
            <c:numRef>
              <c:f>{2.613,2.379,2.898,2.61,2.284}</c:f>
              <c:numCache>
                <c:formatCode>General</c:formatCode>
                <c:ptCount val="5"/>
                <c:pt idx="0">
                  <c:v>2.613</c:v>
                </c:pt>
                <c:pt idx="1">
                  <c:v>2.379</c:v>
                </c:pt>
                <c:pt idx="2">
                  <c:v>2.898</c:v>
                </c:pt>
                <c:pt idx="3">
                  <c:v>2.61</c:v>
                </c:pt>
                <c:pt idx="4">
                  <c:v>2.284</c:v>
                </c:pt>
              </c:numCache>
            </c:numRef>
          </c:val>
        </c:ser>
        <c:ser>
          <c:idx val="1"/>
          <c:order val="1"/>
          <c:tx>
            <c:strRef>
              <c:f>RH RMSE(%)</c:f>
              <c:strCache>
                <c:ptCount val="1"/>
                <c:pt idx="0">
                  <c:v>RH RMSE(%)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{"全21ch","前14ch","高频7ch","183GHz五通道","平均廓线"}</c:f>
              <c:strCache>
                <c:ptCount val="5"/>
                <c:pt idx="0">
                  <c:v>全21ch</c:v>
                </c:pt>
                <c:pt idx="1">
                  <c:v>前14ch</c:v>
                </c:pt>
                <c:pt idx="2">
                  <c:v>高频7ch</c:v>
                </c:pt>
                <c:pt idx="3">
                  <c:v>183GHz五通道</c:v>
                </c:pt>
                <c:pt idx="4">
                  <c:v>平均廓线</c:v>
                </c:pt>
              </c:strCache>
            </c:strRef>
          </c:cat>
          <c:val>
            <c:numRef>
              <c:f>{20.632,21.085,23.705,24.149,24.119}</c:f>
              <c:numCache>
                <c:formatCode>General</c:formatCode>
                <c:ptCount val="5"/>
                <c:pt idx="0">
                  <c:v>20.632</c:v>
                </c:pt>
                <c:pt idx="1">
                  <c:v>21.085</c:v>
                </c:pt>
                <c:pt idx="2">
                  <c:v>23.705</c:v>
                </c:pt>
                <c:pt idx="3">
                  <c:v>24.149</c:v>
                </c:pt>
                <c:pt idx="4">
                  <c:v>24.119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c380399-b96c-4a73-8bb6-adcc2314fba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T RMSE(K)</c:f>
              <c:strCache>
                <c:ptCount val="1"/>
                <c:pt idx="0">
                  <c:v>T RMSE(K)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{"0-2km","2-5km","5-8km","8-10km"}</c:f>
              <c:strCache>
                <c:ptCount val="4"/>
                <c:pt idx="0">
                  <c:v>0-2km</c:v>
                </c:pt>
                <c:pt idx="1">
                  <c:v>2-5km</c:v>
                </c:pt>
                <c:pt idx="2">
                  <c:v>5-8km</c:v>
                </c:pt>
                <c:pt idx="3">
                  <c:v>8-10km</c:v>
                </c:pt>
              </c:strCache>
            </c:strRef>
          </c:cat>
          <c:val>
            <c:numRef>
              <c:f>{1.848,1.222,1.535,1.218}</c:f>
              <c:numCache>
                <c:formatCode>General</c:formatCode>
                <c:ptCount val="4"/>
                <c:pt idx="0">
                  <c:v>1.848</c:v>
                </c:pt>
                <c:pt idx="1">
                  <c:v>1.222</c:v>
                </c:pt>
                <c:pt idx="2">
                  <c:v>1.535</c:v>
                </c:pt>
                <c:pt idx="3">
                  <c:v>1.218</c:v>
                </c:pt>
              </c:numCache>
            </c:numRef>
          </c:val>
        </c:ser>
        <c:ser>
          <c:idx val="1"/>
          <c:order val="1"/>
          <c:tx>
            <c:strRef>
              <c:f>RH RMSE(%)</c:f>
              <c:strCache>
                <c:ptCount val="1"/>
                <c:pt idx="0">
                  <c:v>RH RMSE(%)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{"0-2km","2-5km","5-8km","8-10km"}</c:f>
              <c:strCache>
                <c:ptCount val="4"/>
                <c:pt idx="0">
                  <c:v>0-2km</c:v>
                </c:pt>
                <c:pt idx="1">
                  <c:v>2-5km</c:v>
                </c:pt>
                <c:pt idx="2">
                  <c:v>5-8km</c:v>
                </c:pt>
                <c:pt idx="3">
                  <c:v>8-10km</c:v>
                </c:pt>
              </c:strCache>
            </c:strRef>
          </c:cat>
          <c:val>
            <c:numRef>
              <c:f>{11.624,22.117,32.553,28.141}</c:f>
              <c:numCache>
                <c:formatCode>General</c:formatCode>
                <c:ptCount val="4"/>
                <c:pt idx="0">
                  <c:v>11.624</c:v>
                </c:pt>
                <c:pt idx="1">
                  <c:v>22.117</c:v>
                </c:pt>
                <c:pt idx="2">
                  <c:v>32.553</c:v>
                </c:pt>
                <c:pt idx="3">
                  <c:v>28.141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efab915-cc22-4c6a-a420-0c8096db252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9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4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46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428456" y="2295846"/>
            <a:ext cx="105859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endParaRPr sz="4800" b="1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4"/>
          <p:cNvSpPr>
            <a:spLocks noGrp="1"/>
          </p:cNvSpPr>
          <p:nvPr/>
        </p:nvSpPr>
        <p:spPr>
          <a:xfrm>
            <a:off x="7591172" y="4170878"/>
            <a:ext cx="3755254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告 人：</a:t>
            </a:r>
            <a:endParaRPr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    师： </a:t>
            </a:r>
            <a:endParaRPr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    级： </a:t>
            </a:r>
            <a:endParaRPr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505642" y="3429000"/>
            <a:ext cx="4821247" cy="0"/>
          </a:xfrm>
          <a:prstGeom prst="line">
            <a:avLst/>
          </a:prstGeom>
          <a:ln w="190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5326889" y="3429002"/>
            <a:ext cx="5513313" cy="175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文本框 2"/>
          <p:cNvSpPr>
            <a:spLocks noGrp="1"/>
          </p:cNvSpPr>
          <p:nvPr/>
        </p:nvSpPr>
        <p:spPr>
          <a:xfrm>
            <a:off x="8604511" y="99553"/>
            <a:ext cx="3066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81000" y="1219200"/>
            <a:ext cx="11239500" cy="5238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2450" y="2000250"/>
            <a:ext cx="10096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6365C"/>
                </a:solidFill>
              </a:defRPr>
            </a:pPr>
            <a:r>
              <a:rPr sz="2550" b="1">
                <a:solidFill>
                  <a:srgbClr val="16365C"/>
                </a:solidFill>
              </a:rPr>
              <a:t>神经网络与OEM融合的微波辐射计廓线反演研究</a:t>
            </a:r>
            <a:endParaRPr sz="2550" b="1">
              <a:solidFill>
                <a:srgbClr val="16365C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2895600"/>
            <a:ext cx="4476750" cy="857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52450" y="31432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F1F1F"/>
                </a:solidFill>
              </a:defRPr>
            </a:pPr>
            <a:r>
              <a:rPr sz="1575" b="0">
                <a:solidFill>
                  <a:srgbClr val="1F1F1F"/>
                </a:solidFill>
              </a:rPr>
              <a:t>成都站21通道实测亮温迁移测试、效果诊断与下一步方案</a:t>
            </a:r>
            <a:endParaRPr sz="1575" b="0">
              <a:solidFill>
                <a:srgbClr val="1F1F1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2450" y="38100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阶段汇报 | 2026年7月</a:t>
            </a:r>
            <a:endParaRPr sz="1350" b="0">
              <a:solidFill>
                <a:srgbClr val="666666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24750" y="4095750"/>
            <a:ext cx="3238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汇报人：</a:t>
            </a:r>
            <a:endParaRPr sz="1500" b="1">
              <a:solidFill>
                <a:srgbClr val="1F1F1F"/>
              </a:solidFill>
            </a:endParaRPr>
          </a:p>
          <a:p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导师：</a:t>
            </a:r>
            <a:endParaRPr sz="1500" b="1">
              <a:solidFill>
                <a:srgbClr val="1F1F1F"/>
              </a:solidFill>
            </a:endParaRPr>
          </a:p>
          <a:p>
            <a:pPr algn="l">
              <a:defRPr sz="1500" b="1">
                <a:solidFill>
                  <a:srgbClr val="1F1F1F"/>
                </a:solidFill>
              </a:defRPr>
            </a:pPr>
            <a:r>
              <a:rPr sz="1500" b="1">
                <a:solidFill>
                  <a:srgbClr val="1F1F1F"/>
                </a:solidFill>
              </a:rPr>
              <a:t>年级：</a:t>
            </a:r>
            <a:endParaRPr sz="1500" b="1">
              <a:solidFill>
                <a:srgbClr val="1F1F1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阶段汇报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8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6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8556888" y="96701"/>
            <a:ext cx="3066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 报 目 录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33"/>
          <p:cNvSpPr>
            <a:spLocks noGrp="1"/>
          </p:cNvSpPr>
          <p:nvPr/>
        </p:nvSpPr>
        <p:spPr>
          <a:xfrm>
            <a:off x="822410" y="1641079"/>
            <a:ext cx="899795" cy="903605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5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endParaRPr sz="5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33"/>
          <p:cNvSpPr>
            <a:spLocks noGrp="1"/>
          </p:cNvSpPr>
          <p:nvPr/>
        </p:nvSpPr>
        <p:spPr>
          <a:xfrm>
            <a:off x="1447883" y="2169399"/>
            <a:ext cx="1560830" cy="903605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4400" b="1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</a:t>
            </a:r>
            <a:endParaRPr sz="4400" b="1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33"/>
          <p:cNvSpPr>
            <a:spLocks noGrp="1"/>
          </p:cNvSpPr>
          <p:nvPr/>
        </p:nvSpPr>
        <p:spPr>
          <a:xfrm rot="5400000">
            <a:off x="-606342" y="4048364"/>
            <a:ext cx="3760470" cy="903605"/>
          </a:xfrm>
          <a:prstGeom prst="rect">
            <a:avLst/>
          </a:prstGeom>
          <a:noFill/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4400" b="1">
                <a:solidFill>
                  <a:srgbClr val="D9D9D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CONTENTS</a:t>
            </a:r>
            <a:endParaRPr sz="4400" b="1">
              <a:solidFill>
                <a:srgbClr val="D9D9D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Rectangle 33"/>
          <p:cNvSpPr>
            <a:spLocks noGrp="1"/>
          </p:cNvSpPr>
          <p:nvPr/>
        </p:nvSpPr>
        <p:spPr>
          <a:xfrm>
            <a:off x="3397435" y="1221552"/>
            <a:ext cx="6894395" cy="736805"/>
          </a:xfrm>
          <a:prstGeom prst="rect">
            <a:avLst/>
          </a:prstGeom>
          <a:solidFill>
            <a:srgbClr val="1F497D"/>
          </a:solidFill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</a:t>
            </a: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 究 背 景 及 意 义</a:t>
            </a:r>
            <a:endParaRPr sz="28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35"/>
          <p:cNvSpPr>
            <a:spLocks noGrp="1"/>
          </p:cNvSpPr>
          <p:nvPr/>
        </p:nvSpPr>
        <p:spPr>
          <a:xfrm>
            <a:off x="3399978" y="2358943"/>
            <a:ext cx="6891855" cy="73680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            国 内 外 研 究 </a:t>
            </a: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 状</a:t>
            </a:r>
            <a:endParaRPr sz="28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5"/>
          <p:cNvSpPr>
            <a:spLocks noGrp="1"/>
          </p:cNvSpPr>
          <p:nvPr/>
        </p:nvSpPr>
        <p:spPr>
          <a:xfrm>
            <a:off x="3397435" y="3496334"/>
            <a:ext cx="6891853" cy="73680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            关键问题及研究内容</a:t>
            </a:r>
            <a:endParaRPr sz="28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5"/>
          <p:cNvSpPr>
            <a:spLocks noGrp="1"/>
          </p:cNvSpPr>
          <p:nvPr/>
        </p:nvSpPr>
        <p:spPr>
          <a:xfrm>
            <a:off x="3397433" y="4633725"/>
            <a:ext cx="6891852" cy="73680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                拟 研 究 思 路</a:t>
            </a:r>
            <a:endParaRPr sz="28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35"/>
          <p:cNvSpPr>
            <a:spLocks noGrp="1"/>
          </p:cNvSpPr>
          <p:nvPr/>
        </p:nvSpPr>
        <p:spPr>
          <a:xfrm>
            <a:off x="3397433" y="5771116"/>
            <a:ext cx="6891855" cy="736805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txBody>
          <a:bodyPr wrap="none" anchor="ctr"/>
          <a:lstStyle/>
          <a:p>
            <a:pPr>
              <a:buNone/>
            </a:pPr>
            <a:r>
              <a:rPr sz="2800" b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        研 究 计 划 及 论 文 大 纲</a:t>
            </a:r>
            <a:endParaRPr sz="2800" b="1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048000" y="1047750"/>
            <a:ext cx="8096250" cy="5429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汇报目录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09625" y="1714500"/>
            <a:ext cx="1428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C00000"/>
                </a:solidFill>
              </a:defRPr>
            </a:pPr>
            <a:r>
              <a:rPr sz="2325" b="1">
                <a:solidFill>
                  <a:srgbClr val="C00000"/>
                </a:solidFill>
              </a:rPr>
              <a:t>内容</a:t>
            </a:r>
            <a:endParaRPr sz="2325" b="1">
              <a:solidFill>
                <a:srgbClr val="C00000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00050" y="3905250"/>
            <a:ext cx="171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BFBFBF"/>
                </a:solidFill>
              </a:defRPr>
            </a:pPr>
            <a:r>
              <a:rPr sz="1650" b="0">
                <a:solidFill>
                  <a:srgbClr val="BFBFBF"/>
                </a:solidFill>
              </a:rPr>
              <a:t>CONTENTS</a:t>
            </a:r>
            <a:endParaRPr sz="1650" b="0">
              <a:solidFill>
                <a:srgbClr val="BFBFB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619500" y="1219200"/>
            <a:ext cx="6286500" cy="533400"/>
          </a:xfrm>
          <a:prstGeom prst="rect">
            <a:avLst/>
          </a:prstGeom>
          <a:solidFill>
            <a:srgbClr val="A6A6A6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905250" y="13335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一、    研究背景及国内外现状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619500" y="2219325"/>
            <a:ext cx="6286500" cy="533400"/>
          </a:xfrm>
          <a:prstGeom prst="rect">
            <a:avLst/>
          </a:prstGeom>
          <a:solidFill>
            <a:srgbClr val="A6A6A6"/>
          </a:solidFill>
          <a:ln w="0">
            <a:noFill/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905250" y="233362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二、    研究要解决的问题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3619500" y="3219450"/>
            <a:ext cx="6286500" cy="5334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905250" y="33337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三、    成都迁移与当前结果分析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619500" y="4219575"/>
            <a:ext cx="6286500" cy="5334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3905250" y="4333875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四、    结果不合适的原因诊断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619500" y="5219700"/>
            <a:ext cx="6286500" cy="533400"/>
          </a:xfrm>
          <a:prstGeom prst="rect">
            <a:avLst/>
          </a:prstGeom>
          <a:solidFill>
            <a:srgbClr val="A6A6A6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3905250" y="533400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五、    后续改进方向与实施计划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8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7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研究现状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国内外研究正在从经验统计反演转向“物理前向 + 数据驱动”的融合框架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国外强调OEM/1DVAR、前向模型和不确定度闭环；国内近年更多使用多年站点资料训练机器学习模型，并开始关注偏差订正和资料同化。内容取向必须服务成都站本地化。 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2238375"/>
            <a:ext cx="2095500" cy="1524000"/>
          </a:xfrm>
          <a:prstGeom prst="rect">
            <a:avLst/>
          </a:prstGeom>
          <a:solidFill>
            <a:srgbClr val="EAF2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66750" y="2238375"/>
            <a:ext cx="76200" cy="15240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57250" y="235267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经典统计反演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7250" y="2695575"/>
            <a:ext cx="17526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线性回归、厂商神经网络</a:t>
            </a:r>
            <a:endParaRPr sz="1165" b="0">
              <a:solidFill>
                <a:srgbClr val="1F1F1F"/>
              </a:solidFill>
            </a:endParaRPr>
          </a:p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依赖历史样本和本地气候统计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3143250" y="2238375"/>
            <a:ext cx="2095500" cy="1524000"/>
          </a:xfrm>
          <a:prstGeom prst="rect">
            <a:avLst/>
          </a:prstGeom>
          <a:solidFill>
            <a:srgbClr val="F5F5F5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3143250" y="2238375"/>
            <a:ext cx="76200" cy="15240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333750" y="235267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OEM / 1DVAR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3333750" y="2695575"/>
            <a:ext cx="17526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Rodgers框架 + RTM</a:t>
            </a:r>
            <a:endParaRPr sz="1165" b="0">
              <a:solidFill>
                <a:srgbClr val="1F1F1F"/>
              </a:solidFill>
            </a:endParaRPr>
          </a:p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显式使用S_a / S_e</a:t>
            </a:r>
            <a:endParaRPr sz="1165" b="0">
              <a:solidFill>
                <a:srgbClr val="1F1F1F"/>
              </a:solidFill>
            </a:endParaRPr>
          </a:p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和敏感度矩阵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619750" y="2238375"/>
            <a:ext cx="2095500" cy="1524000"/>
          </a:xfrm>
          <a:prstGeom prst="rect">
            <a:avLst/>
          </a:prstGeom>
          <a:solidFill>
            <a:srgbClr val="EAF2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619750" y="2238375"/>
            <a:ext cx="76200" cy="15240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810250" y="235267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机器学习反演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810250" y="2695575"/>
            <a:ext cx="17526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DL / RF / XGBoost / BRNN</a:t>
            </a:r>
            <a:endParaRPr sz="1165" b="0">
              <a:solidFill>
                <a:srgbClr val="1F1F1F"/>
              </a:solidFill>
            </a:endParaRPr>
          </a:p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要求多年亮温-探空/再分析配对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096250" y="2238375"/>
            <a:ext cx="2095500" cy="1524000"/>
          </a:xfrm>
          <a:prstGeom prst="rect">
            <a:avLst/>
          </a:prstGeom>
          <a:solidFill>
            <a:srgbClr val="F5F5F5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096250" y="2238375"/>
            <a:ext cx="76200" cy="152400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286750" y="2352675"/>
            <a:ext cx="175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融合趋势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286750" y="2695575"/>
            <a:ext cx="17526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NN提供先验，OEM做物理修正</a:t>
            </a:r>
            <a:endParaRPr sz="1165" b="0">
              <a:solidFill>
                <a:srgbClr val="1F1F1F"/>
              </a:solidFill>
            </a:endParaRPr>
          </a:p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高频通道需可信RTM校验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2743200" y="3000375"/>
            <a:ext cx="361950" cy="0"/>
          </a:xfrm>
          <a:prstGeom prst="line">
            <a:avLst/>
          </a:prstGeom>
          <a:ln w="19050">
            <a:solidFill>
              <a:srgbClr val="1F4E79"/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5219700" y="3000375"/>
            <a:ext cx="361950" cy="0"/>
          </a:xfrm>
          <a:prstGeom prst="line">
            <a:avLst/>
          </a:prstGeom>
          <a:ln w="19050">
            <a:solidFill>
              <a:srgbClr val="1F4E79"/>
            </a:solidFill>
            <a:prstDash val="solid"/>
          </a:ln>
        </p:spPr>
      </p:sp>
      <p:sp>
        <p:nvSpPr>
          <p:cNvPr id="58" name="直接连接符 57"/>
          <p:cNvSpPr>
            <a:spLocks noGrp="1"/>
          </p:cNvSpPr>
          <p:nvPr/>
        </p:nvSpPr>
        <p:spPr>
          <a:xfrm>
            <a:off x="7696200" y="3000375"/>
            <a:ext cx="3619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42950" y="4286250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国内现状：广州4年资料ML对比、武汉9年资料ANN偏差订正、北方GMR/RTM模拟和资料同化均说明：样本量、QC、站点偏差订正是工程落地关键。</a:t>
            </a:r>
            <a:endParaRPr sz="1350" b="0">
              <a:solidFill>
                <a:srgbClr val="1F1F1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42950" y="5000625"/>
            <a:ext cx="1009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1F1F"/>
                </a:solidFill>
              </a:defRPr>
            </a:pPr>
            <a:r>
              <a:rPr sz="1350" b="0">
                <a:solidFill>
                  <a:srgbClr val="1F1F1F"/>
                </a:solidFill>
              </a:rPr>
              <a:t>国外现状：HATPRO长期业务评估、复杂地形检验、雨天低层温度扫描角增强、PAMTRA/MonoRTM/RTTOV-gb等前向模型形成物理约束基础。</a:t>
            </a:r>
            <a:endParaRPr sz="1350" b="0">
              <a:solidFill>
                <a:srgbClr val="1F1F1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590550" y="6534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777777"/>
                </a:solidFill>
              </a:defRPr>
            </a:pPr>
            <a:r>
              <a:rPr sz="790" b="0">
                <a:solidFill>
                  <a:srgbClr val="777777"/>
                </a:solidFill>
              </a:rPr>
              <a:t>来源：Rodgers 2000；Löhnert &amp; Maier 2012；Massaro et al. 2015；Remote Sens. 2023/2025；GMD 2020/2025；AMT 2024/2026。第14页列出链接。 </a:t>
            </a:r>
            <a:endParaRPr sz="790" b="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62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研究内容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本研究要解决的是：让成都站反演从“能跑”变成“可解释、可迁移、可物理约束”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目标不是简单追求一次测试RMSE最低，而是建立能被探空验证、能进入OEM、能解释通道贡献的反演链路。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42950" y="2238375"/>
            <a:ext cx="3000375" cy="1762125"/>
          </a:xfrm>
          <a:prstGeom prst="rect">
            <a:avLst/>
          </a:prstGeom>
          <a:solidFill>
            <a:srgbClr val="FF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42950" y="2238375"/>
            <a:ext cx="76200" cy="1762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33450" y="23526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问题1：站点迁移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33450" y="2695575"/>
            <a:ext cx="2657475" cy="1209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旧站点/天津模型能否直接用到成都？如果不行，失败来自通道、气候还是标签？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000500" y="2238375"/>
            <a:ext cx="3000375" cy="1762125"/>
          </a:xfrm>
          <a:prstGeom prst="rect">
            <a:avLst/>
          </a:prstGeom>
          <a:solidFill>
            <a:srgbClr val="EAF2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000500" y="2238375"/>
            <a:ext cx="76200" cy="17621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191000" y="23526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问题2：BRNN与OEM如何结合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191000" y="2695575"/>
            <a:ext cx="2657475" cy="1209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BRNN适合作为先验/first guess，还是直接输出最终廓线？OEM需要哪些误差协方差？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258050" y="2238375"/>
            <a:ext cx="3000375" cy="1762125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258050" y="2238375"/>
            <a:ext cx="76200" cy="1762125"/>
          </a:xfrm>
          <a:prstGeom prst="rect">
            <a:avLst/>
          </a:prstGeom>
          <a:solidFill>
            <a:srgbClr val="A6A6A6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448550" y="2352675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问题3：21通道如何利用</a:t>
            </a:r>
            <a:endParaRPr sz="1350" b="1">
              <a:solidFill>
                <a:srgbClr val="A6A6A6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448550" y="2695575"/>
            <a:ext cx="2657475" cy="1209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前14通道可接MonoRTM，高频89/183/229 GHz是否能稳定提升中高层湿度？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876300" y="4476750"/>
            <a:ext cx="942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当前策略：先用成都本地数据训练稳定统计先验，再以前14通道接入MonoRTM/OEM；高频通道作为待验证增量信息，不提前放入物理反演闭环。</a:t>
            </a:r>
            <a:endParaRPr sz="1575" b="1">
              <a:solidFill>
                <a:srgbClr val="16365C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590550" y="6534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777777"/>
                </a:solidFill>
              </a:defRPr>
            </a:pPr>
            <a:r>
              <a:rPr sz="790" b="0">
                <a:solidFill>
                  <a:srgbClr val="777777"/>
                </a:solidFill>
              </a:rPr>
              <a:t>项目依据：config.py、reports/进度记录/OEM阶段进度.md、成都ERA5精确配对训练与物理48层优化报告。 </a:t>
            </a:r>
            <a:endParaRPr sz="790" b="0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0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72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方法路线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推荐路线是“成都本地BRNN/Ridge先验 + 前14通道OEM修正 + 高频通道逐步验证”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BRNN不是直接替代OEM，而是提供更好的x_a；OEM再用前向模型和观测亮温残差进行物理校正。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2000" y="2476500"/>
            <a:ext cx="13811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57250" y="2667000"/>
            <a:ext cx="119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实测亮温</a:t>
            </a:r>
            <a:endParaRPr sz="1275" b="1">
              <a:solidFill>
                <a:srgbClr val="16365C"/>
              </a:solidFill>
            </a:endParaRPr>
          </a:p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21通道</a:t>
            </a:r>
            <a:endParaRPr sz="1275" b="1">
              <a:solidFill>
                <a:srgbClr val="16365C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667000" y="2476500"/>
            <a:ext cx="13811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2762250" y="2667000"/>
            <a:ext cx="119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ERA5/探空</a:t>
            </a:r>
            <a:endParaRPr sz="1275" b="1">
              <a:solidFill>
                <a:srgbClr val="16365C"/>
              </a:solidFill>
            </a:endParaRPr>
          </a:p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配对标签</a:t>
            </a:r>
            <a:endParaRPr sz="1275" b="1">
              <a:solidFill>
                <a:srgbClr val="16365C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572000" y="2476500"/>
            <a:ext cx="1381125" cy="857250"/>
          </a:xfrm>
          <a:prstGeom prst="rect">
            <a:avLst/>
          </a:prstGeom>
          <a:solidFill>
            <a:srgbClr val="EAF2F8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667250" y="2667000"/>
            <a:ext cx="119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Ridge/BRNN</a:t>
            </a:r>
            <a:endParaRPr sz="1275" b="1">
              <a:solidFill>
                <a:srgbClr val="16365C"/>
              </a:solidFill>
            </a:endParaRPr>
          </a:p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成都先验</a:t>
            </a:r>
            <a:endParaRPr sz="1275" b="1">
              <a:solidFill>
                <a:srgbClr val="16365C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667500" y="2476500"/>
            <a:ext cx="1381125" cy="85725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762750" y="2667000"/>
            <a:ext cx="119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MonoRTM</a:t>
            </a:r>
            <a:endParaRPr sz="1275" b="1">
              <a:solidFill>
                <a:srgbClr val="16365C"/>
              </a:solidFill>
            </a:endParaRPr>
          </a:p>
          <a:p>
            <a:pPr algn="ctr">
              <a:defRPr sz="1275" b="1">
                <a:solidFill>
                  <a:srgbClr val="16365C"/>
                </a:solidFill>
              </a:defRPr>
            </a:pPr>
            <a:r>
              <a:rPr sz="1275" b="1">
                <a:solidFill>
                  <a:srgbClr val="16365C"/>
                </a:solidFill>
              </a:rPr>
              <a:t>前14通道</a:t>
            </a:r>
            <a:endParaRPr sz="1275" b="1">
              <a:solidFill>
                <a:srgbClr val="16365C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63000" y="2476500"/>
            <a:ext cx="1381125" cy="857250"/>
          </a:xfrm>
          <a:prstGeom prst="rect">
            <a:avLst/>
          </a:prstGeom>
          <a:solidFill>
            <a:srgbClr val="FDECEA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858250" y="2667000"/>
            <a:ext cx="1190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OEM</a:t>
            </a:r>
            <a:endParaRPr sz="1275" b="1">
              <a:solidFill>
                <a:srgbClr val="C00000"/>
              </a:solidFill>
            </a:endParaRPr>
          </a:p>
          <a:p>
            <a:pPr algn="ctr">
              <a:defRPr sz="1275" b="1">
                <a:solidFill>
                  <a:srgbClr val="C00000"/>
                </a:solidFill>
              </a:defRPr>
            </a:pPr>
            <a:r>
              <a:rPr sz="1275" b="1">
                <a:solidFill>
                  <a:srgbClr val="C00000"/>
                </a:solidFill>
              </a:rPr>
              <a:t>物理修正</a:t>
            </a:r>
            <a:endParaRPr sz="1275" b="1">
              <a:solidFill>
                <a:srgbClr val="C00000"/>
              </a:solidFill>
            </a:endParaRPr>
          </a:p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2143125" y="2905125"/>
            <a:ext cx="504825" cy="0"/>
          </a:xfrm>
          <a:prstGeom prst="line">
            <a:avLst/>
          </a:prstGeom>
          <a:ln w="19050">
            <a:solidFill>
              <a:srgbClr val="1F4E79"/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4048125" y="2905125"/>
            <a:ext cx="504825" cy="0"/>
          </a:xfrm>
          <a:prstGeom prst="line">
            <a:avLst/>
          </a:prstGeom>
          <a:ln w="19050">
            <a:solidFill>
              <a:srgbClr val="1F4E79"/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5953125" y="2905125"/>
            <a:ext cx="695325" cy="0"/>
          </a:xfrm>
          <a:prstGeom prst="line">
            <a:avLst/>
          </a:prstGeom>
          <a:ln w="19050">
            <a:solidFill>
              <a:srgbClr val="1F4E79"/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8048625" y="2905125"/>
            <a:ext cx="695325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4191000" y="366712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F4E79"/>
                </a:solidFill>
              </a:defRPr>
            </a:pPr>
            <a:r>
              <a:rPr sz="1125" b="0">
                <a:solidFill>
                  <a:srgbClr val="1F4E79"/>
                </a:solidFill>
              </a:rPr>
              <a:t>S_a：由成都ERA5/探空误差统计估计</a:t>
            </a:r>
            <a:endParaRPr sz="1125" b="0">
              <a:solidFill>
                <a:srgbClr val="1F4E79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715125" y="3667125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C00000"/>
                </a:solidFill>
              </a:defRPr>
            </a:pPr>
            <a:r>
              <a:rPr sz="1125" b="0">
                <a:solidFill>
                  <a:srgbClr val="C00000"/>
                </a:solidFill>
              </a:rPr>
              <a:t>S_e / OMB：由观测-模拟亮温偏差估计</a:t>
            </a:r>
            <a:endParaRPr sz="1125" b="0">
              <a:solidFill>
                <a:srgbClr val="C00000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57250" y="4476750"/>
            <a:ext cx="4572000" cy="1123950"/>
          </a:xfrm>
          <a:prstGeom prst="rect">
            <a:avLst/>
          </a:prstGeom>
          <a:solidFill>
            <a:srgbClr val="F7FB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57250" y="4476750"/>
            <a:ext cx="76200" cy="11239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1047750" y="4591050"/>
            <a:ext cx="422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当前已完成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047750" y="4933950"/>
            <a:ext cx="4229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成都21通道配置、ERA5精确配对、本地训练、物理48层处理、独立探空评估。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5905500" y="4476750"/>
            <a:ext cx="4572000" cy="1123950"/>
          </a:xfrm>
          <a:prstGeom prst="rect">
            <a:avLst/>
          </a:prstGeom>
          <a:solidFill>
            <a:srgbClr val="FF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5905500" y="4476750"/>
            <a:ext cx="76200" cy="11239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6096000" y="4591050"/>
            <a:ext cx="422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下一步关键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096000" y="4933950"/>
            <a:ext cx="42291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补surface变量与QC，先跑前14通道真实观测OEM，再验证89/183/229 GHz。</a:t>
            </a:r>
            <a:endParaRPr sz="1165" b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87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89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数据资产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成都站数据链路已经打通，但样本规模仍不足以支撑强泛化神经网络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当前训练样本只有69条，能做阶段验证，但不能作为最终部署精度证明。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85800" y="209550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19150" y="219075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实测亮温</a:t>
            </a:r>
            <a:endParaRPr sz="1125" b="0">
              <a:solidFill>
                <a:srgbClr val="666666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19150" y="243840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163条</a:t>
            </a:r>
            <a:endParaRPr sz="2025" b="1">
              <a:solidFill>
                <a:srgbClr val="1F4E79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19150" y="28384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1015" b="0">
                <a:solidFill>
                  <a:srgbClr val="666666"/>
                </a:solidFill>
              </a:rPr>
              <a:t>2026-05-13至05-30</a:t>
            </a:r>
            <a:endParaRPr sz="1015" b="0">
              <a:solidFill>
                <a:srgbClr val="666666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571750" y="209550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705100" y="219075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ERA5同小时</a:t>
            </a:r>
            <a:endParaRPr sz="1125" b="0">
              <a:solidFill>
                <a:srgbClr val="666666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705100" y="243840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F4E79"/>
                </a:solidFill>
              </a:defRPr>
            </a:pPr>
            <a:r>
              <a:rPr sz="2025" b="1">
                <a:solidFill>
                  <a:srgbClr val="1F4E79"/>
                </a:solidFill>
              </a:rPr>
              <a:t>139条</a:t>
            </a:r>
            <a:endParaRPr sz="2025" b="1">
              <a:solidFill>
                <a:srgbClr val="1F4E79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705100" y="28384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1015" b="0">
                <a:solidFill>
                  <a:srgbClr val="666666"/>
                </a:solidFill>
              </a:rPr>
              <a:t>严格UTC小时匹配</a:t>
            </a:r>
            <a:endParaRPr sz="1015" b="0">
              <a:solidFill>
                <a:srgbClr val="666666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457700" y="209550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591050" y="219075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训练样本</a:t>
            </a:r>
            <a:endParaRPr sz="1125" b="0">
              <a:solidFill>
                <a:srgbClr val="666666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4591050" y="243840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C00000"/>
                </a:solidFill>
              </a:defRPr>
            </a:pPr>
            <a:r>
              <a:rPr sz="2025" b="1">
                <a:solidFill>
                  <a:srgbClr val="C00000"/>
                </a:solidFill>
              </a:rPr>
              <a:t>69条</a:t>
            </a:r>
            <a:endParaRPr sz="2025" b="1">
              <a:solidFill>
                <a:srgbClr val="C00000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4591050" y="28384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1015" b="0">
                <a:solidFill>
                  <a:srgbClr val="666666"/>
                </a:solidFill>
              </a:rPr>
              <a:t>11天，日期划分</a:t>
            </a:r>
            <a:endParaRPr sz="1015" b="0">
              <a:solidFill>
                <a:srgbClr val="666666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343650" y="209550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477000" y="219075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独立探空</a:t>
            </a:r>
            <a:endParaRPr sz="1125" b="0">
              <a:solidFill>
                <a:srgbClr val="666666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6477000" y="243840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C77C02"/>
                </a:solidFill>
              </a:defRPr>
            </a:pPr>
            <a:r>
              <a:rPr sz="2025" b="1">
                <a:solidFill>
                  <a:srgbClr val="C77C02"/>
                </a:solidFill>
              </a:rPr>
              <a:t>6份</a:t>
            </a:r>
            <a:endParaRPr sz="2025" b="1">
              <a:solidFill>
                <a:srgbClr val="C77C02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477000" y="28384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1015" b="0">
                <a:solidFill>
                  <a:srgbClr val="666666"/>
                </a:solidFill>
              </a:rPr>
              <a:t>亮温差1-2小时</a:t>
            </a:r>
            <a:endParaRPr sz="1015" b="0">
              <a:solidFill>
                <a:srgbClr val="666666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229600" y="2095500"/>
            <a:ext cx="1619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8362950" y="2190750"/>
            <a:ext cx="1352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通道</a:t>
            </a:r>
            <a:endParaRPr sz="1125" b="0">
              <a:solidFill>
                <a:srgbClr val="666666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362950" y="243840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21个</a:t>
            </a:r>
            <a:endParaRPr sz="2025" b="1">
              <a:solidFill>
                <a:srgbClr val="2E7D32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362950" y="28384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5" b="0">
                <a:solidFill>
                  <a:srgbClr val="666666"/>
                </a:solidFill>
              </a:defRPr>
            </a:pPr>
            <a:r>
              <a:rPr sz="1015" b="0">
                <a:solidFill>
                  <a:srgbClr val="666666"/>
                </a:solidFill>
              </a:rPr>
              <a:t>前14个兼容HATPRO</a:t>
            </a:r>
            <a:endParaRPr sz="1015" b="0">
              <a:solidFill>
                <a:srgbClr val="666666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38200" y="3810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通道分组</a:t>
            </a:r>
            <a:endParaRPr sz="1575" b="1">
              <a:solidFill>
                <a:srgbClr val="16365C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42950" y="4229100"/>
            <a:ext cx="2190750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38200" y="43338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4E79"/>
                </a:solidFill>
              </a:defRPr>
            </a:pPr>
            <a:r>
              <a:rPr sz="1200" b="1">
                <a:solidFill>
                  <a:srgbClr val="1F4E79"/>
                </a:solidFill>
              </a:rPr>
              <a:t>K-band</a:t>
            </a:r>
            <a:endParaRPr sz="1200" b="1">
              <a:solidFill>
                <a:srgbClr val="1F4E79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19150" y="46291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22.24-31.40 GHz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19150" y="487680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水汽 / 液态水</a:t>
            </a:r>
            <a:endParaRPr sz="940" b="0">
              <a:solidFill>
                <a:srgbClr val="555555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3076575" y="4229100"/>
            <a:ext cx="2190750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171825" y="433387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V-band</a:t>
            </a:r>
            <a:endParaRPr sz="1200" b="1">
              <a:solidFill>
                <a:srgbClr val="C00000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3152775" y="462915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51.26-58.00 GHz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3152775" y="487680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温度廓线</a:t>
            </a:r>
            <a:endParaRPr sz="940" b="0">
              <a:solidFill>
                <a:srgbClr val="555555"/>
              </a:solidFill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5410200" y="4229100"/>
            <a:ext cx="1285875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5505450" y="433387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A6A6A6"/>
                </a:solidFill>
              </a:defRPr>
            </a:pPr>
            <a:r>
              <a:rPr sz="1200" b="1">
                <a:solidFill>
                  <a:srgbClr val="A6A6A6"/>
                </a:solidFill>
              </a:rPr>
              <a:t>89 GHz</a:t>
            </a:r>
            <a:endParaRPr sz="1200" b="1">
              <a:solidFill>
                <a:srgbClr val="A6A6A6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486400" y="4629150"/>
            <a:ext cx="1133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窗口通道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486400" y="4876800"/>
            <a:ext cx="1133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云液水 / 水汽</a:t>
            </a:r>
            <a:endParaRPr sz="940" b="0">
              <a:solidFill>
                <a:srgbClr val="555555"/>
              </a:solidFill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838950" y="4229100"/>
            <a:ext cx="2000250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6934200" y="43338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rPr sz="1200" b="1">
                <a:solidFill>
                  <a:srgbClr val="2E7D32"/>
                </a:solidFill>
              </a:rPr>
              <a:t>183 GHz</a:t>
            </a:r>
            <a:endParaRPr sz="1200" b="1">
              <a:solidFill>
                <a:srgbClr val="2E7D32"/>
              </a:solidFill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915150" y="462915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184.31-190.31 GHz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915150" y="487680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中高层湿度</a:t>
            </a:r>
            <a:endParaRPr sz="940" b="0">
              <a:solidFill>
                <a:srgbClr val="555555"/>
              </a:solidFill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8982075" y="4229100"/>
            <a:ext cx="1285875" cy="933450"/>
          </a:xfrm>
          <a:prstGeom prst="rect">
            <a:avLst/>
          </a:prstGeom>
          <a:solidFill>
            <a:srgbClr val="FFFFFF"/>
          </a:solidFill>
          <a:ln w="19050">
            <a:solidFill>
              <a:srgbClr val="C77C02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9077325" y="4333875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C77C02"/>
                </a:solidFill>
              </a:defRPr>
            </a:pPr>
            <a:r>
              <a:rPr sz="1200" b="1">
                <a:solidFill>
                  <a:srgbClr val="C77C02"/>
                </a:solidFill>
              </a:rPr>
              <a:t>229 GHz</a:t>
            </a:r>
            <a:endParaRPr sz="1200" b="1">
              <a:solidFill>
                <a:srgbClr val="C77C02"/>
              </a:solidFill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9058275" y="4629150"/>
            <a:ext cx="1133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高频窗口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058275" y="4876800"/>
            <a:ext cx="1133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水汽 / 云</a:t>
            </a:r>
            <a:endParaRPr sz="94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94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96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方法尝试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OEM链路已经验证可行，但BRNN+OEM必须先解决通道自洽和误差协方差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非自洽前向模型会让OEM把温度拉坏，因此不能直接把旧BRNN输出和任意前向模型拼接。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66750" y="2076450"/>
            <a:ext cx="285750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42950" y="213360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1">
                <a:solidFill>
                  <a:srgbClr val="FFFFFF"/>
                </a:solidFill>
              </a:defRPr>
            </a:pPr>
            <a:r>
              <a:rPr sz="940" b="1">
                <a:solidFill>
                  <a:srgbClr val="FFFFFF"/>
                </a:solidFill>
              </a:rPr>
              <a:t>实验</a:t>
            </a:r>
            <a:endParaRPr sz="940" b="1">
              <a:solidFill>
                <a:srgbClr val="FFFF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3524250" y="2076450"/>
            <a:ext cx="152400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3600450" y="21336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1">
                <a:solidFill>
                  <a:srgbClr val="FFFFFF"/>
                </a:solidFill>
              </a:defRPr>
            </a:pPr>
            <a:r>
              <a:rPr sz="940" b="1">
                <a:solidFill>
                  <a:srgbClr val="FFFFFF"/>
                </a:solidFill>
              </a:rPr>
              <a:t>T变化</a:t>
            </a:r>
            <a:endParaRPr sz="940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048250" y="2076450"/>
            <a:ext cx="152400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124450" y="21336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1">
                <a:solidFill>
                  <a:srgbClr val="FFFFFF"/>
                </a:solidFill>
              </a:defRPr>
            </a:pPr>
            <a:r>
              <a:rPr sz="940" b="1">
                <a:solidFill>
                  <a:srgbClr val="FFFFFF"/>
                </a:solidFill>
              </a:rPr>
              <a:t>RH变化</a:t>
            </a:r>
            <a:endParaRPr sz="940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572250" y="2076450"/>
            <a:ext cx="152400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648450" y="21336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1">
                <a:solidFill>
                  <a:srgbClr val="FFFFFF"/>
                </a:solidFill>
              </a:defRPr>
            </a:pPr>
            <a:r>
              <a:rPr sz="940" b="1">
                <a:solidFill>
                  <a:srgbClr val="FFFFFF"/>
                </a:solidFill>
              </a:rPr>
              <a:t>BT residual</a:t>
            </a:r>
            <a:endParaRPr sz="940" b="1">
              <a:solidFill>
                <a:srgbClr val="FFFFF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096250" y="2076450"/>
            <a:ext cx="161925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8172450" y="213360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1">
                <a:solidFill>
                  <a:srgbClr val="FFFFFF"/>
                </a:solidFill>
              </a:defRPr>
            </a:pPr>
            <a:r>
              <a:rPr sz="940" b="1">
                <a:solidFill>
                  <a:srgbClr val="FFFFFF"/>
                </a:solidFill>
              </a:rPr>
              <a:t>结论</a:t>
            </a:r>
            <a:endParaRPr sz="940" b="1">
              <a:solidFill>
                <a:srgbClr val="FFFFF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66750" y="2476500"/>
            <a:ext cx="285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42950" y="25336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Self-consistent simple RTM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524250" y="24765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600450" y="25336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2.38→2.06K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048250" y="24765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5124450" y="25336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7.59→6.73%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572250" y="24765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648450" y="25336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1.50→0.54K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8096250" y="2476500"/>
            <a:ext cx="1619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8172450" y="25336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算法闭环有效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66750" y="2876550"/>
            <a:ext cx="28575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42950" y="293370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Self-consistent MonoRTM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3524250" y="2876550"/>
            <a:ext cx="15240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3600450" y="29337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2.41→2.00K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048250" y="2876550"/>
            <a:ext cx="15240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5124450" y="29337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8.97→7.84%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572250" y="2876550"/>
            <a:ext cx="15240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6648450" y="293370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6.41→0.75K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8096250" y="2876550"/>
            <a:ext cx="161925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8172450" y="293370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物理链路有效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666750" y="3276600"/>
            <a:ext cx="285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742950" y="3333750"/>
            <a:ext cx="2705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Non-self-consistent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524250" y="32766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3600450" y="33337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2.38→27.00K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5048250" y="32766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5124450" y="33337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略改善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572250" y="3276600"/>
            <a:ext cx="152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648450" y="3333750"/>
            <a:ext cx="137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22.92→20.15K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096250" y="3276600"/>
            <a:ext cx="16192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172450" y="3333750"/>
            <a:ext cx="1466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1F1F1F"/>
                </a:solidFill>
              </a:defRPr>
            </a:pPr>
            <a:r>
              <a:rPr sz="940" b="0">
                <a:solidFill>
                  <a:srgbClr val="1F1F1F"/>
                </a:solidFill>
              </a:rPr>
              <a:t>前向不匹配会崩</a:t>
            </a:r>
            <a:endParaRPr sz="940" b="0">
              <a:solidFill>
                <a:srgbClr val="1F1F1F"/>
              </a:solidFill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914400" y="3905250"/>
            <a:ext cx="4191000" cy="1238250"/>
          </a:xfrm>
          <a:prstGeom prst="rect">
            <a:avLst/>
          </a:prstGeom>
          <a:solidFill>
            <a:srgbClr val="EAF2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14400" y="3905250"/>
            <a:ext cx="76200" cy="123825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104900" y="40195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BRNN在融合框架中的角色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1104900" y="4362450"/>
            <a:ext cx="3848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不建议直接作为最终真值输出；更适合给OEM提供成都本地x_a，并由S_a描述先验可信度。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5619750" y="3905250"/>
            <a:ext cx="4191000" cy="1238250"/>
          </a:xfrm>
          <a:prstGeom prst="rect">
            <a:avLst/>
          </a:prstGeom>
          <a:solidFill>
            <a:srgbClr val="FDECEA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5619750" y="3905250"/>
            <a:ext cx="76200" cy="12382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5810250" y="4019550"/>
            <a:ext cx="3848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OEM在融合框架中的角色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5810250" y="4362450"/>
            <a:ext cx="38481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不是万能修正器；必须先估计通道偏差、S_e和Jacobian，否则会把亮温残差解释成错误廓线。</a:t>
            </a:r>
            <a:endParaRPr sz="1165" b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80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82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结果分析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旧站点反演算法直接迁移到成都失败，本地重训后才形成可用基线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这说明模型主要学到了站点-仪器-标签体系的联合分布，而不是可无条件跨站使用的通用反演函数。</a:t>
            </a:r>
            <a:endParaRPr sz="1200" b="0">
              <a:solidFill>
                <a:srgbClr val="666666"/>
              </a:solidFill>
            </a:endParaRPr>
          </a:p>
        </p:txBody>
      </p:sp>
      <p:graphicFrame>
        <p:nvGraphicFramePr>
          <p:cNvPr id="93" name="Chart"/>
          <p:cNvGraphicFramePr/>
          <p:nvPr/>
        </p:nvGraphicFramePr>
        <p:xfrm>
          <a:off x="762000" y="2190750"/>
          <a:ext cx="47625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矩形 40"/>
          <p:cNvSpPr>
            <a:spLocks noGrp="1"/>
          </p:cNvSpPr>
          <p:nvPr/>
        </p:nvSpPr>
        <p:spPr>
          <a:xfrm>
            <a:off x="5715000" y="2247900"/>
            <a:ext cx="1714500" cy="4381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791200" y="230505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阶段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429500" y="2247900"/>
            <a:ext cx="1095375" cy="4381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505700" y="230505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524875" y="2247900"/>
            <a:ext cx="1095375" cy="4381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601075" y="230505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620250" y="2247900"/>
            <a:ext cx="1952625" cy="4381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696450" y="2305050"/>
            <a:ext cx="1800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判断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715000" y="2686050"/>
            <a:ext cx="1714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791200" y="27432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旧checkpoint迁移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429500" y="2686050"/>
            <a:ext cx="10953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505700" y="274320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29.376K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24875" y="2686050"/>
            <a:ext cx="10953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601075" y="274320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42.496%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9620250" y="2686050"/>
            <a:ext cx="1952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696450" y="2743200"/>
            <a:ext cx="1800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不可用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5715000" y="3124200"/>
            <a:ext cx="1714500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5791200" y="318135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成都ERA5混合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7429500" y="3124200"/>
            <a:ext cx="1095375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7505700" y="318135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1.479K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24875" y="3124200"/>
            <a:ext cx="1095375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8601075" y="318135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20.966%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9620250" y="3124200"/>
            <a:ext cx="1952625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696450" y="3181350"/>
            <a:ext cx="1800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阶段基线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5715000" y="3562350"/>
            <a:ext cx="171450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5791200" y="3619500"/>
            <a:ext cx="1562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物理48层探空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429500" y="3562350"/>
            <a:ext cx="10953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505700" y="361950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8524875" y="3562350"/>
            <a:ext cx="109537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601075" y="3619500"/>
            <a:ext cx="9429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9620250" y="3562350"/>
            <a:ext cx="1952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9696450" y="3619500"/>
            <a:ext cx="18002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OEM主网格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876300" y="5524500"/>
            <a:ext cx="962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核心解释：跨站泛化失败不是单一模型问题，而是通道、亮温定标、地面海拔、气候水汽结构、垂直层定义和训练标签共同变化。</a:t>
            </a:r>
            <a:endParaRPr sz="1425" b="1">
              <a:solidFill>
                <a:srgbClr val="16365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3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5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61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原因诊断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当前结果“不合适”的第一原因是样本不足，第二原因是BRNN跨站泛化失效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69条训练样本可以验证流程，但不足以训练稳定的深层非线性映射。</a:t>
            </a:r>
            <a:endParaRPr sz="1200" b="0">
              <a:solidFill>
                <a:srgbClr val="666666"/>
              </a:solidFill>
            </a:endParaRPr>
          </a:p>
        </p:txBody>
      </p:sp>
      <p:graphicFrame>
        <p:nvGraphicFramePr>
          <p:cNvPr id="72" name="Chart"/>
          <p:cNvGraphicFramePr/>
          <p:nvPr/>
        </p:nvGraphicFramePr>
        <p:xfrm>
          <a:off x="762000" y="2143125"/>
          <a:ext cx="4191000" cy="2714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矩形 40"/>
          <p:cNvSpPr>
            <a:spLocks noGrp="1"/>
          </p:cNvSpPr>
          <p:nvPr/>
        </p:nvSpPr>
        <p:spPr>
          <a:xfrm>
            <a:off x="5572125" y="2095500"/>
            <a:ext cx="4381500" cy="1000125"/>
          </a:xfrm>
          <a:prstGeom prst="rect">
            <a:avLst/>
          </a:prstGeom>
          <a:solidFill>
            <a:srgbClr val="F7FB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572125" y="2095500"/>
            <a:ext cx="76200" cy="10001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762625" y="220980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训练样本要求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762625" y="2552700"/>
            <a:ext cx="4038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BRNN需要覆盖季节、天气型、湿度层结、云/雨和仪器状态；当前16天资料无法覆盖这些变化。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572125" y="3333750"/>
            <a:ext cx="4381500" cy="1000125"/>
          </a:xfrm>
          <a:prstGeom prst="rect">
            <a:avLst/>
          </a:prstGeom>
          <a:solidFill>
            <a:srgbClr val="FF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5572125" y="3333750"/>
            <a:ext cx="76200" cy="1000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5762625" y="344805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泛化失败表现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762625" y="3790950"/>
            <a:ext cx="4038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旧模型迁移成都T RMSE达到29.376K，说明输入分布已经离开原训练域。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572125" y="4572000"/>
            <a:ext cx="4381500" cy="1000125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572125" y="4572000"/>
            <a:ext cx="76200" cy="1000125"/>
          </a:xfrm>
          <a:prstGeom prst="rect">
            <a:avLst/>
          </a:prstGeom>
          <a:solidFill>
            <a:srgbClr val="A6A6A6"/>
          </a:solidFill>
          <a:ln w="0">
            <a:noFill/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5762625" y="468630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A6A6A6"/>
                </a:solidFill>
              </a:defRPr>
            </a:pPr>
            <a:r>
              <a:rPr sz="1350" b="1">
                <a:solidFill>
                  <a:srgbClr val="A6A6A6"/>
                </a:solidFill>
              </a:rPr>
              <a:t>标签不确定性</a:t>
            </a:r>
            <a:endParaRPr sz="1350" b="1">
              <a:solidFill>
                <a:srgbClr val="A6A6A6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5762625" y="5029200"/>
            <a:ext cx="4038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ERA5不是绝对真值；探空与亮温差1-2小时，对湿度尤其敏感。</a:t>
            </a:r>
            <a:endParaRPr sz="1165" b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50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通道利用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21通道没有完全转化为有效信息，高频通道目前还不能直接证明稳定增益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高频通道有物理潜力，但样本、QC和前向模型没有到位时，网络很容易学不到可靠贡献。</a:t>
            </a:r>
            <a:endParaRPr sz="1200" b="0">
              <a:solidFill>
                <a:srgbClr val="666666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685800" y="2095500"/>
          <a:ext cx="49530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矩形 40"/>
          <p:cNvSpPr>
            <a:spLocks noGrp="1"/>
          </p:cNvSpPr>
          <p:nvPr/>
        </p:nvSpPr>
        <p:spPr>
          <a:xfrm>
            <a:off x="800100" y="552450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判断：前14通道可先进入MonoRTM/OEM；89/183/229 GHz需要独立的前向模拟、OMB偏差和误差协方差验证。</a:t>
            </a:r>
            <a:endParaRPr sz="1425" b="1">
              <a:solidFill>
                <a:srgbClr val="16365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82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84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数据处理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物理48层优化提升了处理一致性，也让后续OEM状态向量更合理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真正的层平均替代简单高度点插值，同时删除地下ERA5气压层并用T/log(q)/log(P)处理湿度。 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810250" y="2095500"/>
            <a:ext cx="209550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886450" y="21526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模型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905750" y="2095500"/>
            <a:ext cx="1190625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981950" y="215265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 RMSE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096375" y="2095500"/>
            <a:ext cx="1190625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9172575" y="215265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RMSE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287000" y="2095500"/>
            <a:ext cx="1428750" cy="400050"/>
          </a:xfrm>
          <a:prstGeom prst="rect">
            <a:avLst/>
          </a:prstGeom>
          <a:solidFill>
            <a:srgbClr val="1F4E79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363200" y="21526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RH Bias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5810250" y="2495550"/>
            <a:ext cx="2095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5886450" y="25527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原93层映射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905750" y="2495550"/>
            <a:ext cx="1190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981950" y="255270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1.730K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096375" y="2495550"/>
            <a:ext cx="1190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172575" y="255270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23.685%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0287000" y="249555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10363200" y="255270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-8.075%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810250" y="2895600"/>
            <a:ext cx="20955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886450" y="295275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旧48点映射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7905750" y="2895600"/>
            <a:ext cx="119062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7981950" y="295275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1.561K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096375" y="2895600"/>
            <a:ext cx="119062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172575" y="295275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25.260%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0287000" y="2895600"/>
            <a:ext cx="142875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10363200" y="295275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-9.867%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5810250" y="3295650"/>
            <a:ext cx="2095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5886450" y="3352800"/>
            <a:ext cx="1943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优化物理48层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7905750" y="3295650"/>
            <a:ext cx="1190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981950" y="335280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1.532K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9096375" y="3295650"/>
            <a:ext cx="1190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172575" y="3352800"/>
            <a:ext cx="10382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23.754%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287000" y="3295650"/>
            <a:ext cx="1428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0363200" y="3352800"/>
            <a:ext cx="1276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F1F1F"/>
                </a:solidFill>
              </a:defRPr>
            </a:pPr>
            <a:r>
              <a:rPr sz="975" b="0">
                <a:solidFill>
                  <a:srgbClr val="1F1F1F"/>
                </a:solidFill>
              </a:rPr>
              <a:t>-7.502%</a:t>
            </a:r>
            <a:endParaRPr sz="975" b="0">
              <a:solidFill>
                <a:srgbClr val="1F1F1F"/>
              </a:solidFill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810250" y="4000500"/>
            <a:ext cx="4667250" cy="1066800"/>
          </a:xfrm>
          <a:prstGeom prst="rect">
            <a:avLst/>
          </a:prstGeom>
          <a:solidFill>
            <a:srgbClr val="F7FB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810250" y="4000500"/>
            <a:ext cx="76200" cy="1066800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6000750" y="4114800"/>
            <a:ext cx="432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为什么仍采用物理48层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000750" y="4457700"/>
            <a:ext cx="432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RH RMSE与原93层差异无统计意义，但T更好、RH Bias更小、层定义与OEM兼容，因此作为下一阶段主基线。</a:t>
            </a:r>
            <a:endParaRPr sz="1165" b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50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误差瓶颈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主要短板集中在5-8 km湿度：不是层数问题，而是中高层水汽信息不足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独立温江探空只有6份，但高度分布已经暴露出明确瓶颈。 </a:t>
            </a:r>
            <a:endParaRPr sz="1200" b="0">
              <a:solidFill>
                <a:srgbClr val="666666"/>
              </a:solidFill>
            </a:endParaRPr>
          </a:p>
        </p:txBody>
      </p:sp>
      <p:graphicFrame>
        <p:nvGraphicFramePr>
          <p:cNvPr id="61" name="Chart"/>
          <p:cNvGraphicFramePr/>
          <p:nvPr/>
        </p:nvGraphicFramePr>
        <p:xfrm>
          <a:off x="685800" y="2143125"/>
          <a:ext cx="4429125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" name="矩形 40"/>
          <p:cNvSpPr>
            <a:spLocks noGrp="1"/>
          </p:cNvSpPr>
          <p:nvPr/>
        </p:nvSpPr>
        <p:spPr>
          <a:xfrm>
            <a:off x="876300" y="55721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6365C"/>
                </a:solidFill>
              </a:defRPr>
            </a:pPr>
            <a:r>
              <a:rPr sz="1425" b="1">
                <a:solidFill>
                  <a:srgbClr val="16365C"/>
                </a:solidFill>
              </a:rPr>
              <a:t>解释：5-8 km湿度受183 GHz信息、云雨QC、ERA5标签误差和探空时间差共同影响；仅改插值方法不能根治。</a:t>
            </a:r>
            <a:endParaRPr sz="1425" b="1">
              <a:solidFill>
                <a:srgbClr val="16365C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78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8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改进方向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后续改进要按“数据可靠性 → 先验稳定性 → OEM物理闭环 → 高频通道增益”推进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先补地基，再上复杂模型；否则模型结构越复杂，误差解释越困难。 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14375" y="2238375"/>
            <a:ext cx="1666875" cy="1762125"/>
          </a:xfrm>
          <a:prstGeom prst="rect">
            <a:avLst/>
          </a:prstGeom>
          <a:solidFill>
            <a:srgbClr val="FFF7F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28675" y="23622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  <a:endParaRPr sz="1500" b="1">
              <a:solidFill>
                <a:srgbClr val="C00000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28675" y="2781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扩大样本</a:t>
            </a:r>
            <a:endParaRPr sz="1500" b="1">
              <a:solidFill>
                <a:srgbClr val="16365C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28675" y="3190875"/>
            <a:ext cx="1381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3-6个月连续亮温+ERA5</a:t>
            </a:r>
            <a:endParaRPr sz="1090" b="0">
              <a:solidFill>
                <a:srgbClr val="1F1F1F"/>
              </a:solidFill>
            </a:endParaRPr>
          </a:p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覆盖季节和天气型</a:t>
            </a:r>
            <a:endParaRPr sz="1090" b="0">
              <a:solidFill>
                <a:srgbClr val="1F1F1F"/>
              </a:solidFill>
            </a:endParaRPr>
          </a:p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2381250" y="3114675"/>
            <a:ext cx="304800" cy="0"/>
          </a:xfrm>
          <a:prstGeom prst="line">
            <a:avLst/>
          </a:prstGeom>
          <a:ln w="19050">
            <a:solidFill>
              <a:srgbClr val="A6A6A6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733675" y="2238375"/>
            <a:ext cx="1666875" cy="1762125"/>
          </a:xfrm>
          <a:prstGeom prst="rect">
            <a:avLst/>
          </a:prstGeom>
          <a:solidFill>
            <a:srgbClr val="FFF7F7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847975" y="23622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P0</a:t>
            </a:r>
            <a:endParaRPr sz="1500" b="1">
              <a:solidFill>
                <a:srgbClr val="C00000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847975" y="2781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时间/QC</a:t>
            </a:r>
            <a:endParaRPr sz="1500" b="1">
              <a:solidFill>
                <a:srgbClr val="16365C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847975" y="3190875"/>
            <a:ext cx="1381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统一UTC/北京时</a:t>
            </a:r>
            <a:endParaRPr sz="1090" b="0">
              <a:solidFill>
                <a:srgbClr val="1F1F1F"/>
              </a:solidFill>
            </a:endParaRPr>
          </a:p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探空匹配压到±30min</a:t>
            </a:r>
            <a:endParaRPr sz="1090" b="0">
              <a:solidFill>
                <a:srgbClr val="1F1F1F"/>
              </a:solidFill>
            </a:endParaRPr>
          </a:p>
        </p:txBody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4400550" y="3114675"/>
            <a:ext cx="304800" cy="0"/>
          </a:xfrm>
          <a:prstGeom prst="line">
            <a:avLst/>
          </a:prstGeom>
          <a:ln w="19050">
            <a:solidFill>
              <a:srgbClr val="A6A6A6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4752975" y="2238375"/>
            <a:ext cx="1666875" cy="1762125"/>
          </a:xfrm>
          <a:prstGeom prst="rect">
            <a:avLst/>
          </a:prstGeom>
          <a:solidFill>
            <a:srgbClr val="F7FB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4867275" y="23622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867275" y="2781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补地面变量</a:t>
            </a:r>
            <a:endParaRPr sz="1500" b="1">
              <a:solidFill>
                <a:srgbClr val="16365C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4867275" y="3190875"/>
            <a:ext cx="1381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surface pressure</a:t>
            </a:r>
            <a:endParaRPr sz="1090" b="0">
              <a:solidFill>
                <a:srgbClr val="1F1F1F"/>
              </a:solidFill>
            </a:endParaRPr>
          </a:p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2m T/dewpoint或仪器T/RH/P</a:t>
            </a:r>
            <a:endParaRPr sz="1090" b="0">
              <a:solidFill>
                <a:srgbClr val="1F1F1F"/>
              </a:solidFill>
            </a:endParaRPr>
          </a:p>
        </p:txBody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6419850" y="3114675"/>
            <a:ext cx="304800" cy="0"/>
          </a:xfrm>
          <a:prstGeom prst="line">
            <a:avLst/>
          </a:prstGeom>
          <a:ln w="19050">
            <a:solidFill>
              <a:srgbClr val="A6A6A6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772275" y="2238375"/>
            <a:ext cx="1666875" cy="1762125"/>
          </a:xfrm>
          <a:prstGeom prst="rect">
            <a:avLst/>
          </a:prstGeom>
          <a:solidFill>
            <a:srgbClr val="F7FB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886575" y="23622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P1</a:t>
            </a:r>
            <a:endParaRPr sz="1500" b="1">
              <a:solidFill>
                <a:srgbClr val="1F4E79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886575" y="2781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前14通道OEM</a:t>
            </a:r>
            <a:endParaRPr sz="1500" b="1">
              <a:solidFill>
                <a:srgbClr val="16365C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886575" y="3190875"/>
            <a:ext cx="1381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估计S_a/S_e/OMB</a:t>
            </a:r>
            <a:endParaRPr sz="1090" b="0">
              <a:solidFill>
                <a:srgbClr val="1F1F1F"/>
              </a:solidFill>
            </a:endParaRPr>
          </a:p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MonoRTM真实观测闭环</a:t>
            </a:r>
            <a:endParaRPr sz="1090" b="0">
              <a:solidFill>
                <a:srgbClr val="1F1F1F"/>
              </a:solidFill>
            </a:endParaRPr>
          </a:p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8439150" y="3114675"/>
            <a:ext cx="304800" cy="0"/>
          </a:xfrm>
          <a:prstGeom prst="line">
            <a:avLst/>
          </a:prstGeom>
          <a:ln w="19050">
            <a:solidFill>
              <a:srgbClr val="A6A6A6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8791575" y="2238375"/>
            <a:ext cx="1666875" cy="1762125"/>
          </a:xfrm>
          <a:prstGeom prst="rect">
            <a:avLst/>
          </a:prstGeom>
          <a:solidFill>
            <a:srgbClr val="F4FBF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8905875" y="2362200"/>
            <a:ext cx="52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E7D32"/>
                </a:solidFill>
              </a:defRPr>
            </a:pPr>
            <a:r>
              <a:rPr sz="1500" b="1">
                <a:solidFill>
                  <a:srgbClr val="2E7D32"/>
                </a:solidFill>
              </a:rPr>
              <a:t>P2</a:t>
            </a:r>
            <a:endParaRPr sz="1500" b="1">
              <a:solidFill>
                <a:srgbClr val="2E7D32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905875" y="278130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365C"/>
                </a:solidFill>
              </a:defRPr>
            </a:pPr>
            <a:r>
              <a:rPr sz="1500" b="1">
                <a:solidFill>
                  <a:srgbClr val="16365C"/>
                </a:solidFill>
              </a:rPr>
              <a:t>高频验证</a:t>
            </a:r>
            <a:endParaRPr sz="1500" b="1">
              <a:solidFill>
                <a:srgbClr val="16365C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8905875" y="3190875"/>
            <a:ext cx="13811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89/183/229 GHz</a:t>
            </a:r>
            <a:endParaRPr sz="1090" b="0">
              <a:solidFill>
                <a:srgbClr val="1F1F1F"/>
              </a:solidFill>
            </a:endParaRPr>
          </a:p>
          <a:p>
            <a:pPr algn="l">
              <a:defRPr sz="1090" b="0">
                <a:solidFill>
                  <a:srgbClr val="1F1F1F"/>
                </a:solidFill>
              </a:defRPr>
            </a:pPr>
            <a:r>
              <a:rPr sz="1090" b="0">
                <a:solidFill>
                  <a:srgbClr val="1F1F1F"/>
                </a:solidFill>
              </a:rPr>
              <a:t>前向模型与消融检验</a:t>
            </a:r>
            <a:endParaRPr sz="1090" b="0">
              <a:solidFill>
                <a:srgbClr val="1F1F1F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952500" y="4572000"/>
            <a:ext cx="4381500" cy="1000125"/>
          </a:xfrm>
          <a:prstGeom prst="rect">
            <a:avLst/>
          </a:prstGeom>
          <a:solidFill>
            <a:srgbClr val="EAF2F8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52500" y="4572000"/>
            <a:ext cx="76200" cy="10001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143000" y="468630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短期目标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143000" y="5029200"/>
            <a:ext cx="4038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以前14通道完成成都真实观测OEM POC，证明BRNN/Ridge先验能被物理前向稳定修正。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5905500" y="4572000"/>
            <a:ext cx="4381500" cy="1000125"/>
          </a:xfrm>
          <a:prstGeom prst="rect">
            <a:avLst/>
          </a:prstGeom>
          <a:solidFill>
            <a:srgbClr val="FDECEA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5905500" y="4572000"/>
            <a:ext cx="76200" cy="1000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096000" y="468630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论文目标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096000" y="5029200"/>
            <a:ext cx="40386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建立可解释的NN+OEM框架：给出通道贡献、误差来源、S_a/S_e估计和独立探空验证。</a:t>
            </a:r>
            <a:endParaRPr sz="1165" b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5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实验结果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训练曲线和预测散点：小样本下能学习总体关系，但RH散点明显更分散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改为大图展示，优先保证坐标轴、曲线和散点细节能在投影中看清。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6197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90" b="1">
                <a:solidFill>
                  <a:srgbClr val="16365C"/>
                </a:solidFill>
              </a:defRPr>
            </a:pPr>
            <a:r>
              <a:rPr sz="1390" b="1">
                <a:solidFill>
                  <a:srgbClr val="16365C"/>
                </a:solidFill>
              </a:rPr>
              <a:t>左图用于检查训练/验证误差是否震荡；右图显示T预测较集中、RH离散更强，说明湿度反演受非线性、标签噪声和样本覆盖影响更大。</a:t>
            </a:r>
            <a:endParaRPr sz="1390" b="1">
              <a:solidFill>
                <a:srgbClr val="16365C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0550" y="6534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777777"/>
                </a:solidFill>
              </a:defRPr>
            </a:pPr>
            <a:r>
              <a:rPr sz="790" b="0">
                <a:solidFill>
                  <a:srgbClr val="777777"/>
                </a:solidFill>
              </a:rPr>
              <a:t>图片来源：results/chengdu_era5_figures/01_brnn_training_curves.png、03_prediction_scatter.png</a:t>
            </a:r>
            <a:endParaRPr sz="790" b="0">
              <a:solidFill>
                <a:srgbClr val="777777"/>
              </a:solidFill>
            </a:endParaRPr>
          </a:p>
        </p:txBody>
      </p:sp>
      <p:pic>
        <p:nvPicPr>
          <p:cNvPr id="4" name="Embedded_Result_01_brnn_training_curves" descr="01_brnn_training_curv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095500"/>
            <a:ext cx="4857750" cy="3333750"/>
          </a:xfrm>
          <a:prstGeom prst="rect">
            <a:avLst/>
          </a:prstGeom>
        </p:spPr>
      </p:pic>
      <p:pic>
        <p:nvPicPr>
          <p:cNvPr id="7" name="Embedded_Result_03_prediction_scatter" descr="03_prediction_scat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095500"/>
            <a:ext cx="4857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48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50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探空验证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独立探空验证：T已经有可用基础，RH中高层干偏仍是主问题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用两张大图直接展示6份温江探空上的模型对比和典型剖面。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57250" y="5619750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90" b="1">
                <a:solidFill>
                  <a:srgbClr val="16365C"/>
                </a:solidFill>
              </a:defRPr>
            </a:pPr>
            <a:r>
              <a:rPr sz="1390" b="1">
                <a:solidFill>
                  <a:srgbClr val="16365C"/>
                </a:solidFill>
              </a:rPr>
              <a:t>物理48层方案T Bias约+0.250 K，RH Bias约-7.5%；剖面图显示中高层湿度仍偏干，后续应优先补样本、QC和183GHz高频通道前向验证。</a:t>
            </a:r>
            <a:endParaRPr sz="1390" b="1">
              <a:solidFill>
                <a:srgbClr val="16365C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0550" y="65341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90" b="0">
                <a:solidFill>
                  <a:srgbClr val="777777"/>
                </a:solidFill>
              </a:defRPr>
            </a:pPr>
            <a:r>
              <a:rPr sz="790" b="0">
                <a:solidFill>
                  <a:srgbClr val="777777"/>
                </a:solidFill>
              </a:rPr>
              <a:t>图片来源：results/chengdu_era5_layer48_optimized_evaluation/02_independent_sounding_comparison.png、04_sounding_profiles.png</a:t>
            </a:r>
            <a:endParaRPr sz="790" b="0">
              <a:solidFill>
                <a:srgbClr val="777777"/>
              </a:solidFill>
            </a:endParaRPr>
          </a:p>
        </p:txBody>
      </p:sp>
      <p:pic>
        <p:nvPicPr>
          <p:cNvPr id="4" name="Embedded_Result_02_independent_sounding_comparison" descr="02_independent_sounding_comparis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095500"/>
            <a:ext cx="4762500" cy="3333750"/>
          </a:xfrm>
          <a:prstGeom prst="rect">
            <a:avLst/>
          </a:prstGeom>
        </p:spPr>
      </p:pic>
      <p:pic>
        <p:nvPicPr>
          <p:cNvPr id="7" name="Embedded_Result_04_sounding_profiles" descr="04_sounding_profi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25" y="2095500"/>
            <a:ext cx="495300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91" y="179242"/>
            <a:ext cx="744705" cy="74470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" y="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1" y="2286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-1" y="457200"/>
            <a:ext cx="633042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-12530" y="910702"/>
            <a:ext cx="645570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-3" y="683951"/>
            <a:ext cx="633043" cy="12526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6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018" y="211706"/>
            <a:ext cx="2327759" cy="675179"/>
          </a:xfrm>
          <a:prstGeom prst="rect">
            <a:avLst/>
          </a:prstGeom>
        </p:spPr>
      </p:pic>
      <p:sp>
        <p:nvSpPr>
          <p:cNvPr id="13" name="直接连接符 12"/>
          <p:cNvSpPr>
            <a:spLocks noGrp="1"/>
          </p:cNvSpPr>
          <p:nvPr/>
        </p:nvSpPr>
        <p:spPr>
          <a:xfrm>
            <a:off x="4205909" y="143506"/>
            <a:ext cx="0" cy="7296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  <p:pic>
        <p:nvPicPr>
          <p:cNvPr id="63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22" y="84514"/>
            <a:ext cx="703864" cy="781252"/>
          </a:xfrm>
          <a:prstGeom prst="rect">
            <a:avLst/>
          </a:prstGeom>
        </p:spPr>
      </p:pic>
      <p:sp>
        <p:nvSpPr>
          <p:cNvPr id="18" name="文本框 17"/>
          <p:cNvSpPr>
            <a:spLocks noGrp="1"/>
          </p:cNvSpPr>
          <p:nvPr/>
        </p:nvSpPr>
        <p:spPr>
          <a:xfrm>
            <a:off x="4992986" y="176969"/>
            <a:ext cx="309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空间科学与技术学院</a:t>
            </a:r>
            <a:endParaRPr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12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of Aerospace Science and Technology</a:t>
            </a:r>
            <a:endParaRPr sz="12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8300" y="1"/>
            <a:ext cx="4203700" cy="73672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988297" y="731909"/>
            <a:ext cx="4203700" cy="20085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8272592" y="96290"/>
            <a:ext cx="363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</a:t>
            </a:r>
            <a:endParaRPr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981950" y="0"/>
            <a:ext cx="4210050" cy="7334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733425"/>
            <a:ext cx="4210050" cy="200025"/>
          </a:xfrm>
          <a:prstGeom prst="rect">
            <a:avLst/>
          </a:prstGeom>
          <a:solidFill>
            <a:srgbClr val="D9D9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553450" y="1143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2450" y="10668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6365C"/>
                </a:solidFill>
              </a:defRPr>
            </a:pPr>
            <a:r>
              <a:rPr sz="2250" b="1">
                <a:solidFill>
                  <a:srgbClr val="16365C"/>
                </a:solidFill>
              </a:rPr>
              <a:t>阶段结论：成都站不能直接迁移旧模型，但已具备构建本地NN+OEM反演框架的条件</a:t>
            </a:r>
            <a:endParaRPr sz="2250" b="1">
              <a:solidFill>
                <a:srgbClr val="16365C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2450" y="1504950"/>
            <a:ext cx="2476500" cy="57150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52450" y="1619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下一步的关键不是继续堆模型，而是补样本、补QC、补前向模型闭环。 </a:t>
            </a:r>
            <a:endParaRPr sz="1200" b="0">
              <a:solidFill>
                <a:srgbClr val="666666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23900" y="2076450"/>
            <a:ext cx="3000375" cy="1381125"/>
          </a:xfrm>
          <a:prstGeom prst="rect">
            <a:avLst/>
          </a:prstGeom>
          <a:solidFill>
            <a:srgbClr val="F7FB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23900" y="2076450"/>
            <a:ext cx="76200" cy="1381125"/>
          </a:xfrm>
          <a:prstGeom prst="rect">
            <a:avLst/>
          </a:prstGeom>
          <a:solidFill>
            <a:srgbClr val="1F4E79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14400" y="2190750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已经完成</a:t>
            </a:r>
            <a:endParaRPr sz="1350" b="1">
              <a:solidFill>
                <a:srgbClr val="1F4E79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14400" y="2533650"/>
            <a:ext cx="26574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21通道配置、ERA5精确配对、本地训练、物理48层、独立探空评估。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4095750" y="2076450"/>
            <a:ext cx="3000375" cy="1381125"/>
          </a:xfrm>
          <a:prstGeom prst="rect">
            <a:avLst/>
          </a:prstGeom>
          <a:solidFill>
            <a:srgbClr val="FF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095750" y="2076450"/>
            <a:ext cx="76200" cy="1381125"/>
          </a:xfrm>
          <a:prstGeom prst="rect">
            <a:avLst/>
          </a:prstGeom>
          <a:solidFill>
            <a:srgbClr val="C00000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286250" y="2190750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主要原因</a:t>
            </a:r>
            <a:endParaRPr sz="1350" b="1">
              <a:solidFill>
                <a:srgbClr val="C00000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4286250" y="2533650"/>
            <a:ext cx="26574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小样本、跨站泛化、通道利用不足、湿度标签不确定和高频前向模型缺口。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467600" y="2076450"/>
            <a:ext cx="3000375" cy="1381125"/>
          </a:xfrm>
          <a:prstGeom prst="rect">
            <a:avLst/>
          </a:prstGeom>
          <a:solidFill>
            <a:srgbClr val="F4FBF4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467600" y="2076450"/>
            <a:ext cx="76200" cy="1381125"/>
          </a:xfrm>
          <a:prstGeom prst="rect">
            <a:avLst/>
          </a:prstGeom>
          <a:solidFill>
            <a:srgbClr val="2E7D32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658100" y="2190750"/>
            <a:ext cx="26574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7D32"/>
                </a:solidFill>
              </a:defRPr>
            </a:pPr>
            <a:r>
              <a:rPr sz="1350" b="1">
                <a:solidFill>
                  <a:srgbClr val="2E7D32"/>
                </a:solidFill>
              </a:rPr>
              <a:t>解决路径</a:t>
            </a:r>
            <a:endParaRPr sz="1350" b="1">
              <a:solidFill>
                <a:srgbClr val="2E7D32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58100" y="2533650"/>
            <a:ext cx="2657475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5" b="0">
                <a:solidFill>
                  <a:srgbClr val="1F1F1F"/>
                </a:solidFill>
              </a:defRPr>
            </a:pPr>
            <a:r>
              <a:rPr sz="1165" b="0">
                <a:solidFill>
                  <a:srgbClr val="1F1F1F"/>
                </a:solidFill>
              </a:rPr>
              <a:t>扩大数据后以成都先验接前14通道OEM，再验证高频通道信息量。</a:t>
            </a:r>
            <a:endParaRPr sz="1165" b="0">
              <a:solidFill>
                <a:srgbClr val="1F1F1F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81050" y="4000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6365C"/>
                </a:solidFill>
              </a:defRPr>
            </a:pPr>
            <a:r>
              <a:rPr sz="1575" b="1">
                <a:solidFill>
                  <a:srgbClr val="16365C"/>
                </a:solidFill>
              </a:rPr>
              <a:t>建议汇报口径</a:t>
            </a:r>
            <a:endParaRPr sz="1575" b="1">
              <a:solidFill>
                <a:srgbClr val="16365C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81050" y="4400550"/>
            <a:ext cx="942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F1F1F"/>
                </a:solidFill>
              </a:defRPr>
            </a:pPr>
            <a:r>
              <a:rPr sz="1425" b="1">
                <a:solidFill>
                  <a:srgbClr val="1F1F1F"/>
                </a:solidFill>
              </a:rPr>
              <a:t>当前结果的价值在于找到了不宜直接迁移的证据，并把下一阶段可实现的技术路线收敛到：成都本地统计先验 + 物理48层 + 前14通道OEM + 高频通道验证。</a:t>
            </a:r>
            <a:endParaRPr sz="1425" b="1">
              <a:solidFill>
                <a:srgbClr val="1F1F1F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81050" y="5619750"/>
            <a:ext cx="9810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40" b="0">
                <a:solidFill>
                  <a:srgbClr val="555555"/>
                </a:solidFill>
              </a:defRPr>
            </a:pPr>
            <a:r>
              <a:rPr sz="940" b="0">
                <a:solidFill>
                  <a:srgbClr val="555555"/>
                </a:solidFill>
              </a:rPr>
              <a:t>参考来源：Rodgers 2000 DOI 10.1142/9789812813718；GMD PAMTRA 2020 DOI 10.5194/gmd-13-4229-2020；GMD ARMS-gb 2025；AMT HATPRO/复杂地形/雨天低层温度/2026浮标MWR；Remote Sensing 2023广州ML、2025武汉ANN订正；项目Git提交4dc2262。</a:t>
            </a:r>
            <a:endParaRPr sz="940" b="0">
              <a:solidFill>
                <a:srgbClr val="5555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5313</Words>
  <Application>WPS 演示</Application>
  <PresentationFormat>Converted Presentation</PresentationFormat>
  <Paragraphs>549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黑体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Aopx</cp:lastModifiedBy>
  <cp:revision>2</cp:revision>
  <dcterms:created xsi:type="dcterms:W3CDTF">2026-07-23T08:54:00Z</dcterms:created>
  <dcterms:modified xsi:type="dcterms:W3CDTF">2026-07-23T08:56:42Z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CCE3DEFE0C664FE48348A17BFAC0C517_12</vt:lpwstr>
  </property>
  <property fmtid="{D5CDD505-2E9C-101B-9397-08002B2CF9AE}" pid="3" name="KSOProductBuildVer">
    <vt:lpwstr>2052-12.1.0.26895</vt:lpwstr>
  </property>
</Properties>
</file>