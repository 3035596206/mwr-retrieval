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BDD4F0"/>
                </a:solidFill>
                <a:latin typeface="微软雅黑"/>
                <a:ea typeface="微软雅黑"/>
              </a:rPr>
              <a:t>期末汇报  ·  课题组例会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607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地基微波辐射计</a:t>
            </a:r>
          </a:p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大气温湿廓线反演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3434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E6EDF7"/>
                </a:solidFill>
                <a:latin typeface="微软雅黑"/>
                <a:ea typeface="微软雅黑"/>
              </a:rPr>
              <a:t>BRNN 统计反演  ·  OEM 物理反演  ·  成都真实数据验证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2920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7A1E"/>
                </a:solidFill>
                <a:latin typeface="微软雅黑"/>
                <a:ea typeface="微软雅黑"/>
              </a:rPr>
              <a:t>BRNN v4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9496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微软雅黑"/>
                <a:ea typeface="微软雅黑"/>
              </a:rPr>
              <a:t>T 1.26 K / RH 7.76%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502920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7A1E"/>
                </a:solidFill>
                <a:latin typeface="微软雅黑"/>
                <a:ea typeface="微软雅黑"/>
              </a:rPr>
              <a:t>OEM MonoRTM n=100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539496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微软雅黑"/>
                <a:ea typeface="微软雅黑"/>
              </a:rPr>
              <a:t>T 2.02 K · DOFS 2.21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502920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7A1E"/>
                </a:solidFill>
                <a:latin typeface="微软雅黑"/>
                <a:ea typeface="微软雅黑"/>
              </a:rPr>
              <a:t>成都 21ch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539496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微软雅黑"/>
                <a:ea typeface="微软雅黑"/>
              </a:rPr>
              <a:t>真实亮温链路打通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FB6D6"/>
                </a:solidFill>
                <a:latin typeface="微软雅黑"/>
                <a:ea typeface="微软雅黑"/>
              </a:rPr>
              <a:t>汇报日期：2026-07-29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7285E"/>
                </a:solidFill>
                <a:latin typeface="微软雅黑"/>
                <a:ea typeface="微软雅黑"/>
              </a:rPr>
              <a:t>研究背景与目标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1155680" cy="20000"/>
          </a:xfrm>
          <a:prstGeom prst="rect">
            <a:avLst/>
          </a:prstGeom>
          <a:solidFill>
            <a:srgbClr val="D0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6B7B"/>
                </a:solidFill>
                <a:latin typeface="微软雅黑"/>
                <a:ea typeface="微软雅黑"/>
              </a:rPr>
              <a:t>2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6B7B"/>
                </a:solidFill>
                <a:latin typeface="微软雅黑"/>
                <a:ea typeface="微软雅黑"/>
              </a:rPr>
              <a:t>地基微波辐射计大气温湿廓线反演  ·  期末汇报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325880"/>
            <a:ext cx="5532120" cy="347472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673352"/>
            <a:ext cx="5532120" cy="1984248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53492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▍ 研究背景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746504"/>
            <a:ext cx="5312664" cy="1837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100" b="0" i="0">
                <a:solidFill>
                  <a:srgbClr val="E87A1E"/>
                </a:solidFill>
                <a:latin typeface="微软雅黑"/>
                <a:ea typeface="微软雅黑"/>
              </a:rPr>
              <a:t>● </a:t>
            </a:r>
            <a:r>
              <a:rPr sz="1100" b="0" i="0">
                <a:solidFill>
                  <a:srgbClr val="1F2A37"/>
                </a:solidFill>
                <a:latin typeface="微软雅黑"/>
                <a:ea typeface="微软雅黑"/>
              </a:rPr>
              <a:t>大气温湿廓线是数值预报、强对流与航空气象的关键输入。</a:t>
            </a: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100" b="0" i="0">
                <a:solidFill>
                  <a:srgbClr val="E87A1E"/>
                </a:solidFill>
                <a:latin typeface="微软雅黑"/>
                <a:ea typeface="微软雅黑"/>
              </a:rPr>
              <a:t>● </a:t>
            </a:r>
            <a:r>
              <a:rPr sz="1100" b="0" i="0">
                <a:solidFill>
                  <a:srgbClr val="1F2A37"/>
                </a:solidFill>
                <a:latin typeface="微软雅黑"/>
                <a:ea typeface="微软雅黑"/>
              </a:rPr>
              <a:t>探空精度高但时空稀疏（每日 2 次）；微波辐射计(MWR)可实现高频连续探测。</a:t>
            </a: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100" b="0" i="0">
                <a:solidFill>
                  <a:srgbClr val="E87A1E"/>
                </a:solidFill>
                <a:latin typeface="微软雅黑"/>
                <a:ea typeface="微软雅黑"/>
              </a:rPr>
              <a:t>● </a:t>
            </a:r>
            <a:r>
              <a:rPr sz="1100" b="0" i="0">
                <a:solidFill>
                  <a:srgbClr val="1F2A37"/>
                </a:solidFill>
                <a:latin typeface="微软雅黑"/>
                <a:ea typeface="微软雅黑"/>
              </a:rPr>
              <a:t>反演难点：欠定问题，垂直信息量有限，云天/降雨干扰大。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325880"/>
            <a:ext cx="5486400" cy="347472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673352"/>
            <a:ext cx="5486400" cy="1984248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325880"/>
            <a:ext cx="53035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▍ 项目目标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1746504"/>
            <a:ext cx="5266944" cy="1837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100" b="0" i="0">
                <a:solidFill>
                  <a:srgbClr val="E87A1E"/>
                </a:solidFill>
                <a:latin typeface="微软雅黑"/>
                <a:ea typeface="微软雅黑"/>
              </a:rPr>
              <a:t>● </a:t>
            </a:r>
            <a:r>
              <a:rPr sz="1100" b="0" i="0">
                <a:solidFill>
                  <a:srgbClr val="1F2A37"/>
                </a:solidFill>
                <a:latin typeface="微软雅黑"/>
                <a:ea typeface="微软雅黑"/>
              </a:rPr>
              <a:t>建立地基多通道 MWR 温度 T(z) 与相对湿度 RH(z) 反演系统。</a:t>
            </a: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100" b="0" i="0">
                <a:solidFill>
                  <a:srgbClr val="E87A1E"/>
                </a:solidFill>
                <a:latin typeface="微软雅黑"/>
                <a:ea typeface="微软雅黑"/>
              </a:rPr>
              <a:t>● </a:t>
            </a:r>
            <a:r>
              <a:rPr sz="1100" b="0" i="0">
                <a:solidFill>
                  <a:srgbClr val="1F2A37"/>
                </a:solidFill>
                <a:latin typeface="微软雅黑"/>
                <a:ea typeface="微软雅黑"/>
              </a:rPr>
              <a:t>复现并超越论文基准（T&lt;1.5K, RH&lt;13%）。</a:t>
            </a: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100" b="0" i="0">
                <a:solidFill>
                  <a:srgbClr val="E87A1E"/>
                </a:solidFill>
                <a:latin typeface="微软雅黑"/>
                <a:ea typeface="微软雅黑"/>
              </a:rPr>
              <a:t>● </a:t>
            </a:r>
            <a:r>
              <a:rPr sz="1100" b="0" i="0">
                <a:solidFill>
                  <a:srgbClr val="1F2A37"/>
                </a:solidFill>
                <a:latin typeface="微软雅黑"/>
                <a:ea typeface="微软雅黑"/>
              </a:rPr>
              <a:t>构建 BRNN 统计反演 + OEM 物理反演混合框架。</a:t>
            </a: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100" b="0" i="0">
                <a:solidFill>
                  <a:srgbClr val="E87A1E"/>
                </a:solidFill>
                <a:latin typeface="微软雅黑"/>
                <a:ea typeface="微软雅黑"/>
              </a:rPr>
              <a:t>● </a:t>
            </a:r>
            <a:r>
              <a:rPr sz="1100" b="0" i="0">
                <a:solidFill>
                  <a:srgbClr val="1F2A37"/>
                </a:solidFill>
                <a:latin typeface="微软雅黑"/>
                <a:ea typeface="微软雅黑"/>
              </a:rPr>
              <a:t>在成都本地真实数据上完成验证。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388620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7285E"/>
                </a:solidFill>
                <a:latin typeface="微软雅黑"/>
                <a:ea typeface="微软雅黑"/>
              </a:rPr>
              <a:t>▍ 数据与仪器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30352" y="4251960"/>
          <a:ext cx="11155680" cy="1828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200"/>
                <a:gridCol w="3931920"/>
                <a:gridCol w="1737360"/>
                <a:gridCol w="274320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数据 / 仪器</a:t>
                      </a:r>
                    </a:p>
                  </a:txBody>
                  <a:tcPr marL="45720" marR="45720" marT="22860" marB="22860" anchor="ctr">
                    <a:solidFill>
                      <a:srgbClr val="0B3D9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通道配置</a:t>
                      </a:r>
                    </a:p>
                  </a:txBody>
                  <a:tcPr marL="45720" marR="45720" marT="22860" marB="22860" anchor="ctr">
                    <a:solidFill>
                      <a:srgbClr val="0B3D9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覆盖</a:t>
                      </a:r>
                    </a:p>
                  </a:txBody>
                  <a:tcPr marL="45720" marR="45720" marT="22860" marB="22860" anchor="ctr">
                    <a:solidFill>
                      <a:srgbClr val="0B3D9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用途</a:t>
                      </a:r>
                    </a:p>
                  </a:txBody>
                  <a:tcPr marL="45720" marR="45720" marT="22860" marB="22860" anchor="ctr">
                    <a:solidFill>
                      <a:srgbClr val="0B3D91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MP-3000A（北京南郊）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22 通道 K/V 波段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2013–2019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BRNN v4 训练（历史最佳）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RPG HATPRO 配置</a:t>
                      </a:r>
                    </a:p>
                  </a:txBody>
                  <a:tcPr marL="45720" marR="45720" marT="22860" marB="22860" anchor="ctr">
                    <a:solidFill>
                      <a:srgbClr val="EE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14 通道（K7+V7）</a:t>
                      </a:r>
                    </a:p>
                  </a:txBody>
                  <a:tcPr marL="45720" marR="45720" marT="22860" marB="22860" anchor="ctr">
                    <a:solidFill>
                      <a:srgbClr val="EE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2013-01 ERA5</a:t>
                      </a:r>
                    </a:p>
                  </a:txBody>
                  <a:tcPr marL="45720" marR="45720" marT="22860" marB="22860" anchor="ctr">
                    <a:solidFill>
                      <a:srgbClr val="EE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OEM/MonoRTM 物理反演主线</a:t>
                      </a:r>
                    </a:p>
                  </a:txBody>
                  <a:tcPr marL="45720" marR="45720" marT="22860" marB="22860" anchor="ctr">
                    <a:solidFill>
                      <a:srgbClr val="EEF2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成都实测辐射计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21 通道（K7+V7+W1+G5+高频1）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2026-05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真实数据验证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温江探空</a:t>
                      </a:r>
                    </a:p>
                  </a:txBody>
                  <a:tcPr marL="45720" marR="45720" marT="22860" marB="22860" anchor="ctr">
                    <a:solidFill>
                      <a:srgbClr val="EE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483 个文件</a:t>
                      </a:r>
                    </a:p>
                  </a:txBody>
                  <a:tcPr marL="45720" marR="45720" marT="22860" marB="22860" anchor="ctr">
                    <a:solidFill>
                      <a:srgbClr val="EE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2026-05</a:t>
                      </a:r>
                    </a:p>
                  </a:txBody>
                  <a:tcPr marL="45720" marR="45720" marT="22860" marB="22860" anchor="ctr">
                    <a:solidFill>
                      <a:srgbClr val="EE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独立外部验证真值</a:t>
                      </a:r>
                    </a:p>
                  </a:txBody>
                  <a:tcPr marL="45720" marR="45720" marT="22860" marB="22860" anchor="ctr">
                    <a:solidFill>
                      <a:srgbClr val="EEF2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7285E"/>
                </a:solidFill>
                <a:latin typeface="微软雅黑"/>
                <a:ea typeface="微软雅黑"/>
              </a:rPr>
              <a:t>技术路线总览：统计 + 物理混合反演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1155680" cy="20000"/>
          </a:xfrm>
          <a:prstGeom prst="rect">
            <a:avLst/>
          </a:prstGeom>
          <a:solidFill>
            <a:srgbClr val="D0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6B7B"/>
                </a:solidFill>
                <a:latin typeface="微软雅黑"/>
                <a:ea typeface="微软雅黑"/>
              </a:rPr>
              <a:t>3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6B7B"/>
                </a:solidFill>
                <a:latin typeface="微软雅黑"/>
                <a:ea typeface="微软雅黑"/>
              </a:rPr>
              <a:t>地基微波辐射计大气温湿廓线反演  ·  期末汇报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554480"/>
            <a:ext cx="1828800" cy="10972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554480"/>
            <a:ext cx="18288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观测亮温</a:t>
            </a:r>
          </a:p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Obs_BT</a:t>
            </a:r>
          </a:p>
        </p:txBody>
      </p:sp>
      <p:sp>
        <p:nvSpPr>
          <p:cNvPr id="9" name="Rectangle 8"/>
          <p:cNvSpPr/>
          <p:nvPr/>
        </p:nvSpPr>
        <p:spPr>
          <a:xfrm>
            <a:off x="2542032" y="1554480"/>
            <a:ext cx="1828800" cy="10972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42032" y="1554480"/>
            <a:ext cx="18288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QC / 偏差订正</a:t>
            </a:r>
          </a:p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+ ERA5 标签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234440"/>
            <a:ext cx="2011680" cy="86868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234440"/>
            <a:ext cx="2011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BRNN 统计反演</a:t>
            </a:r>
          </a:p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~0.5 ms/廓线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2331720"/>
            <a:ext cx="2011680" cy="86868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331720"/>
            <a:ext cx="2011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OEM 物理反演</a:t>
            </a:r>
          </a:p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(1D-Var)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0" y="1234440"/>
            <a:ext cx="4892040" cy="868680"/>
          </a:xfrm>
          <a:prstGeom prst="rect">
            <a:avLst/>
          </a:prstGeom>
          <a:solidFill>
            <a:srgbClr val="072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1234440"/>
            <a:ext cx="46634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</a:rPr>
              <a:t>T(z), RH(z) 廓线  ·  6 子模型  ·  当前最佳 v4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2331720"/>
            <a:ext cx="4892040" cy="868680"/>
          </a:xfrm>
          <a:prstGeom prst="rect">
            <a:avLst/>
          </a:prstGeom>
          <a:solidFill>
            <a:srgbClr val="072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3720" y="2331720"/>
            <a:ext cx="46634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</a:rPr>
              <a:t>T/RH + 后验误差 + AK + DOFS  ·  ARTS 主前向模型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370332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7285E"/>
                </a:solidFill>
                <a:latin typeface="微软雅黑"/>
                <a:ea typeface="微软雅黑"/>
              </a:rPr>
              <a:t>▍ 已形成的三层能力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" y="4069080"/>
            <a:ext cx="3611880" cy="347472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0352" y="4416552"/>
            <a:ext cx="3611880" cy="1847088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069080"/>
            <a:ext cx="34290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第一层 · 统计反演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489704"/>
            <a:ext cx="3392424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100" b="0" i="0">
                <a:solidFill>
                  <a:srgbClr val="E87A1E"/>
                </a:solidFill>
                <a:latin typeface="微软雅黑"/>
                <a:ea typeface="微软雅黑"/>
              </a:rPr>
              <a:t>● </a:t>
            </a:r>
            <a:r>
              <a:rPr sz="1100" b="0" i="0">
                <a:solidFill>
                  <a:srgbClr val="1F2A37"/>
                </a:solidFill>
                <a:latin typeface="微软雅黑"/>
                <a:ea typeface="微软雅黑"/>
              </a:rPr>
              <a:t>BRNN v4 当前最佳</a:t>
            </a: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100" b="0" i="0">
                <a:solidFill>
                  <a:srgbClr val="E87A1E"/>
                </a:solidFill>
                <a:latin typeface="微软雅黑"/>
                <a:ea typeface="微软雅黑"/>
              </a:rPr>
              <a:t>● </a:t>
            </a:r>
            <a:r>
              <a:rPr sz="1100" b="0" i="0">
                <a:solidFill>
                  <a:srgbClr val="1F2A37"/>
                </a:solidFill>
                <a:latin typeface="微软雅黑"/>
                <a:ea typeface="微软雅黑"/>
              </a:rPr>
              <a:t>T = 1.26 K，RH = 7.76%</a:t>
            </a: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100" b="0" i="0">
                <a:solidFill>
                  <a:srgbClr val="E87A1E"/>
                </a:solidFill>
                <a:latin typeface="微软雅黑"/>
                <a:ea typeface="微软雅黑"/>
              </a:rPr>
              <a:t>● </a:t>
            </a:r>
            <a:r>
              <a:rPr sz="1100" b="0" i="0">
                <a:solidFill>
                  <a:srgbClr val="1F2A37"/>
                </a:solidFill>
                <a:latin typeface="微软雅黑"/>
                <a:ea typeface="微软雅黑"/>
              </a:rPr>
              <a:t>推理 ~0.5 ms/廓线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88536" y="4069080"/>
            <a:ext cx="3611880" cy="34747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88536" y="4416552"/>
            <a:ext cx="3611880" cy="1847088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98264" y="4069080"/>
            <a:ext cx="34290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第二层 · 物理反演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6552" y="4489704"/>
            <a:ext cx="3392424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100" b="0" i="0">
                <a:solidFill>
                  <a:srgbClr val="E87A1E"/>
                </a:solidFill>
                <a:latin typeface="微软雅黑"/>
                <a:ea typeface="微软雅黑"/>
              </a:rPr>
              <a:t>● </a:t>
            </a:r>
            <a:r>
              <a:rPr sz="1100" b="0" i="0">
                <a:solidFill>
                  <a:srgbClr val="1F2A37"/>
                </a:solidFill>
                <a:latin typeface="微软雅黑"/>
                <a:ea typeface="微软雅黑"/>
              </a:rPr>
              <a:t>OEM + ARTS/MonoRTM</a:t>
            </a: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100" b="0" i="0">
                <a:solidFill>
                  <a:srgbClr val="E87A1E"/>
                </a:solidFill>
                <a:latin typeface="微软雅黑"/>
                <a:ea typeface="微软雅黑"/>
              </a:rPr>
              <a:t>● </a:t>
            </a:r>
            <a:r>
              <a:rPr sz="1100" b="0" i="0">
                <a:solidFill>
                  <a:srgbClr val="1F2A37"/>
                </a:solidFill>
                <a:latin typeface="微软雅黑"/>
                <a:ea typeface="微软雅黑"/>
              </a:rPr>
              <a:t>n=100 self-consistent</a:t>
            </a: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100" b="0" i="0">
                <a:solidFill>
                  <a:srgbClr val="E87A1E"/>
                </a:solidFill>
                <a:latin typeface="微软雅黑"/>
                <a:ea typeface="微软雅黑"/>
              </a:rPr>
              <a:t>● </a:t>
            </a:r>
            <a:r>
              <a:rPr sz="1100" b="0" i="0">
                <a:solidFill>
                  <a:srgbClr val="1F2A37"/>
                </a:solidFill>
                <a:latin typeface="微软雅黑"/>
                <a:ea typeface="微软雅黑"/>
              </a:rPr>
              <a:t>DOFS ≈ 2.21，收敛 99%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4069080"/>
            <a:ext cx="3611880" cy="347472"/>
          </a:xfrm>
          <a:prstGeom prst="rect">
            <a:avLst/>
          </a:prstGeom>
          <a:solidFill>
            <a:srgbClr val="072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20" y="4416552"/>
            <a:ext cx="3611880" cy="1847088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56448" y="4069080"/>
            <a:ext cx="34290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第三层 · 混合路线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74736" y="4489704"/>
            <a:ext cx="3392424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100" b="0" i="0">
                <a:solidFill>
                  <a:srgbClr val="E87A1E"/>
                </a:solidFill>
                <a:latin typeface="微软雅黑"/>
                <a:ea typeface="微软雅黑"/>
              </a:rPr>
              <a:t>● </a:t>
            </a:r>
            <a:r>
              <a:rPr sz="1100" b="0" i="0">
                <a:solidFill>
                  <a:srgbClr val="1F2A37"/>
                </a:solidFill>
                <a:latin typeface="微软雅黑"/>
                <a:ea typeface="微软雅黑"/>
              </a:rPr>
              <a:t>NN 作先验/S_a</a:t>
            </a: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100" b="0" i="0">
                <a:solidFill>
                  <a:srgbClr val="E87A1E"/>
                </a:solidFill>
                <a:latin typeface="微软雅黑"/>
                <a:ea typeface="微软雅黑"/>
              </a:rPr>
              <a:t>● </a:t>
            </a:r>
            <a:r>
              <a:rPr sz="1100" b="0" i="0">
                <a:solidFill>
                  <a:srgbClr val="1F2A37"/>
                </a:solidFill>
                <a:latin typeface="微软雅黑"/>
                <a:ea typeface="微软雅黑"/>
              </a:rPr>
              <a:t>NN surrogate 加速 H(x)</a:t>
            </a: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100" b="0" i="0">
                <a:solidFill>
                  <a:srgbClr val="E87A1E"/>
                </a:solidFill>
                <a:latin typeface="微软雅黑"/>
                <a:ea typeface="微软雅黑"/>
              </a:rPr>
              <a:t>● </a:t>
            </a:r>
            <a:r>
              <a:rPr sz="1100" b="0" i="0">
                <a:solidFill>
                  <a:srgbClr val="1F2A37"/>
                </a:solidFill>
                <a:latin typeface="微软雅黑"/>
                <a:ea typeface="微软雅黑"/>
              </a:rPr>
              <a:t>不确定度校准 + 云天 OEM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7285E"/>
                </a:solidFill>
                <a:latin typeface="微软雅黑"/>
                <a:ea typeface="微软雅黑"/>
              </a:rPr>
              <a:t>BRNN 统计反演：方法与 v4 关键改进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1155680" cy="20000"/>
          </a:xfrm>
          <a:prstGeom prst="rect">
            <a:avLst/>
          </a:prstGeom>
          <a:solidFill>
            <a:srgbClr val="D0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6B7B"/>
                </a:solidFill>
                <a:latin typeface="微软雅黑"/>
                <a:ea typeface="微软雅黑"/>
              </a:rPr>
              <a:t>4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6B7B"/>
                </a:solidFill>
                <a:latin typeface="微软雅黑"/>
                <a:ea typeface="微软雅黑"/>
              </a:rPr>
              <a:t>地基微波辐射计大气温湿廓线反演  ·  期末汇报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28016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7285E"/>
                </a:solidFill>
                <a:latin typeface="微软雅黑"/>
                <a:ea typeface="微软雅黑"/>
              </a:rPr>
              <a:t>▍ 网络结构：6 个独立 BRNN 子模型（T/RH × 0-2km / 2-8km / 8-10km）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50" b="0" i="0">
                <a:solidFill>
                  <a:srgbClr val="E87A1E"/>
                </a:solidFill>
                <a:latin typeface="微软雅黑"/>
                <a:ea typeface="微软雅黑"/>
              </a:rPr>
              <a:t>● </a:t>
            </a:r>
            <a:r>
              <a:rPr sz="1250" b="0" i="0">
                <a:solidFill>
                  <a:srgbClr val="1F2A37"/>
                </a:solidFill>
                <a:latin typeface="微软雅黑"/>
                <a:ea typeface="微软雅黑"/>
              </a:rPr>
              <a:t>输入：多通道亮温 + 地面 T2m/RH2m/Ps/IR/CLWC/CIC 等辅助特征；输出 0-10km 共 93 层 T/RH。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50" b="0" i="0">
                <a:solidFill>
                  <a:srgbClr val="E87A1E"/>
                </a:solidFill>
                <a:latin typeface="微软雅黑"/>
                <a:ea typeface="微软雅黑"/>
              </a:rPr>
              <a:t>● </a:t>
            </a:r>
            <a:r>
              <a:rPr sz="1250" b="0" i="0">
                <a:solidFill>
                  <a:srgbClr val="1F2A37"/>
                </a:solidFill>
                <a:latin typeface="微软雅黑"/>
                <a:ea typeface="微软雅黑"/>
              </a:rPr>
              <a:t>分高度段建模：各高度区间物理特性差异大，独立网络更稳定；边界层(2km/8km)由相邻模型各预测一次。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50" b="0" i="0">
                <a:solidFill>
                  <a:srgbClr val="E87A1E"/>
                </a:solidFill>
                <a:latin typeface="微软雅黑"/>
                <a:ea typeface="微软雅黑"/>
              </a:rPr>
              <a:t>● </a:t>
            </a:r>
            <a:r>
              <a:rPr sz="1250" b="0" i="0">
                <a:solidFill>
                  <a:srgbClr val="1F2A37"/>
                </a:solidFill>
                <a:latin typeface="微软雅黑"/>
                <a:ea typeface="微软雅黑"/>
              </a:rPr>
              <a:t>Hidden=256, Dropout=0.3, LR=1e-3, Batch=128, Early-stopping patience=20。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88036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7285E"/>
                </a:solidFill>
                <a:latin typeface="微软雅黑"/>
                <a:ea typeface="微软雅黑"/>
              </a:rPr>
              <a:t>▍ v4 相对前序版本的关键改进（成就当前最佳）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3291840"/>
            <a:ext cx="109728" cy="77724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3291840"/>
            <a:ext cx="5212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37"/>
                </a:solidFill>
                <a:latin typeface="微软雅黑"/>
                <a:ea typeface="微软雅黑"/>
              </a:rPr>
              <a:t>CLWC 廓线筛除 + K 波段逐通道 2.5σ 筛除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370332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A6B7B"/>
                </a:solidFill>
                <a:latin typeface="微软雅黑"/>
                <a:ea typeface="微软雅黑"/>
              </a:rPr>
              <a:t>→ 剔除云天/异常亮温样本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08192" y="3291840"/>
            <a:ext cx="109728" cy="77724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3291840"/>
            <a:ext cx="5212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37"/>
                </a:solidFill>
                <a:latin typeface="微软雅黑"/>
                <a:ea typeface="微软雅黑"/>
              </a:rPr>
              <a:t>Winsorize 回归 BT 订正（非 OLS）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370332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A6B7B"/>
                </a:solidFill>
                <a:latin typeface="微软雅黑"/>
                <a:ea typeface="微软雅黑"/>
              </a:rPr>
              <a:t>→ K 波段 OMB 厚尾 → OMB std −49%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4206240"/>
            <a:ext cx="109728" cy="77724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4206240"/>
            <a:ext cx="5212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37"/>
                </a:solidFill>
                <a:latin typeface="微软雅黑"/>
                <a:ea typeface="微软雅黑"/>
              </a:rPr>
              <a:t>IR_Temperature 入模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461772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A6B7B"/>
                </a:solidFill>
                <a:latin typeface="微软雅黑"/>
                <a:ea typeface="微软雅黑"/>
              </a:rPr>
              <a:t>→ 引入红外测温作为辅助特征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08192" y="4206240"/>
            <a:ext cx="109728" cy="77724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4206240"/>
            <a:ext cx="5212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37"/>
                </a:solidFill>
                <a:latin typeface="微软雅黑"/>
                <a:ea typeface="微软雅黑"/>
              </a:rPr>
              <a:t>按 Profile_Index 分组划分（非时间划分）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61772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A6B7B"/>
                </a:solidFill>
                <a:latin typeface="微软雅黑"/>
                <a:ea typeface="微软雅黑"/>
              </a:rPr>
              <a:t>→ 同一廓线重复观测~5.6 次，杜绝数据泄露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594360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07285E"/>
                </a:solidFill>
                <a:latin typeface="微软雅黑"/>
                <a:ea typeface="微软雅黑"/>
              </a:rPr>
              <a:t>核心结论：v3 证实 Sim→Obs domain gap 退化 3.7×，故 v4 改为 Obs_BT 直接训练，成为当前最优统计反演模型。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7285E"/>
                </a:solidFill>
                <a:latin typeface="微软雅黑"/>
                <a:ea typeface="微软雅黑"/>
              </a:rPr>
              <a:t>BRNN v4 反演结果（MP-3000A）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1155680" cy="20000"/>
          </a:xfrm>
          <a:prstGeom prst="rect">
            <a:avLst/>
          </a:prstGeom>
          <a:solidFill>
            <a:srgbClr val="D0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6B7B"/>
                </a:solidFill>
                <a:latin typeface="微软雅黑"/>
                <a:ea typeface="微软雅黑"/>
              </a:rPr>
              <a:t>5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6B7B"/>
                </a:solidFill>
                <a:latin typeface="微软雅黑"/>
                <a:ea typeface="微软雅黑"/>
              </a:rPr>
              <a:t>地基微波辐射计大气温湿廓线反演  ·  期末汇报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280160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7285E"/>
                </a:solidFill>
                <a:latin typeface="微软雅黑"/>
                <a:ea typeface="微软雅黑"/>
              </a:rPr>
              <a:t>▍ 核心指标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30352" y="1645920"/>
          <a:ext cx="3977640" cy="15544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71600"/>
                <a:gridCol w="1325880"/>
                <a:gridCol w="1280160"/>
              </a:tblGrid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指标</a:t>
                      </a:r>
                    </a:p>
                  </a:txBody>
                  <a:tcPr marL="45720" marR="45720" marT="22860" marB="22860" anchor="ctr">
                    <a:solidFill>
                      <a:srgbClr val="0B3D9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v4</a:t>
                      </a:r>
                    </a:p>
                  </a:txBody>
                  <a:tcPr marL="45720" marR="45720" marT="22860" marB="22860" anchor="ctr">
                    <a:solidFill>
                      <a:srgbClr val="0B3D9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论文基准</a:t>
                      </a:r>
                    </a:p>
                  </a:txBody>
                  <a:tcPr marL="45720" marR="45720" marT="22860" marB="22860" anchor="ctr">
                    <a:solidFill>
                      <a:srgbClr val="0B3D91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T RMSE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1.26 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&lt;1.5 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RH RMSE</a:t>
                      </a:r>
                    </a:p>
                  </a:txBody>
                  <a:tcPr marL="45720" marR="45720" marT="22860" marB="22860" anchor="ctr">
                    <a:solidFill>
                      <a:srgbClr val="EE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7.76%</a:t>
                      </a:r>
                    </a:p>
                  </a:txBody>
                  <a:tcPr marL="45720" marR="45720" marT="22860" marB="22860" anchor="ctr">
                    <a:solidFill>
                      <a:srgbClr val="EE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&lt;13%</a:t>
                      </a:r>
                    </a:p>
                  </a:txBody>
                  <a:tcPr marL="45720" marR="45720" marT="22860" marB="22860" anchor="ctr">
                    <a:solidFill>
                      <a:srgbClr val="EEF2F9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推理速度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~0.5 ms/廓线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30352" y="3429000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7285E"/>
                </a:solidFill>
                <a:latin typeface="微软雅黑"/>
                <a:ea typeface="微软雅黑"/>
              </a:rPr>
              <a:t>▍ 分层精度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30352" y="3794760"/>
          <a:ext cx="3977640" cy="20116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554480"/>
                <a:gridCol w="1234440"/>
                <a:gridCol w="118872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高度区间</a:t>
                      </a:r>
                    </a:p>
                  </a:txBody>
                  <a:tcPr marL="45720" marR="45720" marT="22860" marB="22860" anchor="ctr">
                    <a:solidFill>
                      <a:srgbClr val="0B3D9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T RMSE</a:t>
                      </a:r>
                    </a:p>
                  </a:txBody>
                  <a:tcPr marL="45720" marR="45720" marT="22860" marB="22860" anchor="ctr">
                    <a:solidFill>
                      <a:srgbClr val="0B3D9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RH RMSE</a:t>
                      </a:r>
                    </a:p>
                  </a:txBody>
                  <a:tcPr marL="45720" marR="45720" marT="22860" marB="22860" anchor="ctr">
                    <a:solidFill>
                      <a:srgbClr val="0B3D9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0–0.5 km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1.09 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5.78%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2–8 km</a:t>
                      </a:r>
                    </a:p>
                  </a:txBody>
                  <a:tcPr marL="45720" marR="45720" marT="22860" marB="22860" anchor="ctr">
                    <a:solidFill>
                      <a:srgbClr val="EE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1.30 K</a:t>
                      </a:r>
                    </a:p>
                  </a:txBody>
                  <a:tcPr marL="45720" marR="45720" marT="22860" marB="22860" anchor="ctr">
                    <a:solidFill>
                      <a:srgbClr val="EE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9.50%</a:t>
                      </a:r>
                    </a:p>
                  </a:txBody>
                  <a:tcPr marL="45720" marR="45720" marT="22860" marB="22860" anchor="ctr">
                    <a:solidFill>
                      <a:srgbClr val="EEF2F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5–10 km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1.50 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10.31%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30352" y="5897880"/>
            <a:ext cx="39776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5A6B7B"/>
                </a:solidFill>
                <a:latin typeface="微软雅黑"/>
                <a:ea typeface="微软雅黑"/>
              </a:rPr>
              <a:t>近地层精度最优；高空信息量下降，与 MWR 垂直分辨能力一致。</a:t>
            </a:r>
          </a:p>
        </p:txBody>
      </p:sp>
      <p:pic>
        <p:nvPicPr>
          <p:cNvPr id="12" name="Picture 11" descr="T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4806" y="1280160"/>
            <a:ext cx="2794868" cy="24688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54880" y="3703320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5A6B7B"/>
                </a:solidFill>
                <a:latin typeface="微软雅黑"/>
                <a:ea typeface="微软雅黑"/>
              </a:rPr>
              <a:t>图1  温度散点（v4，密集区接近 1:1）</a:t>
            </a:r>
          </a:p>
        </p:txBody>
      </p:sp>
      <p:pic>
        <p:nvPicPr>
          <p:cNvPr id="14" name="Picture 13" descr="RH_error_pro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1364160"/>
            <a:ext cx="3474720" cy="2300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66760" y="3703320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5A6B7B"/>
                </a:solidFill>
                <a:latin typeface="微软雅黑"/>
                <a:ea typeface="微软雅黑"/>
              </a:rPr>
              <a:t>图2  相对湿度误差廓线</a:t>
            </a:r>
          </a:p>
        </p:txBody>
      </p:sp>
      <p:pic>
        <p:nvPicPr>
          <p:cNvPr id="16" name="Picture 15" descr="T_error_prof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6116" y="4069080"/>
            <a:ext cx="3452247" cy="2286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754880" y="6355080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5A6B7B"/>
                </a:solidFill>
                <a:latin typeface="微软雅黑"/>
                <a:ea typeface="微软雅黑"/>
              </a:rPr>
              <a:t>图3  温度误差廓线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7285E"/>
                </a:solidFill>
                <a:latin typeface="微软雅黑"/>
                <a:ea typeface="微软雅黑"/>
              </a:rPr>
              <a:t>BRNN 迭代历程与关键决策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1155680" cy="20000"/>
          </a:xfrm>
          <a:prstGeom prst="rect">
            <a:avLst/>
          </a:prstGeom>
          <a:solidFill>
            <a:srgbClr val="D0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6B7B"/>
                </a:solidFill>
                <a:latin typeface="微软雅黑"/>
                <a:ea typeface="微软雅黑"/>
              </a:rPr>
              <a:t>6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6B7B"/>
                </a:solidFill>
                <a:latin typeface="微软雅黑"/>
                <a:ea typeface="微软雅黑"/>
              </a:rPr>
              <a:t>地基微波辐射计大气温湿廓线反演  ·  期末汇报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28016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7285E"/>
                </a:solidFill>
                <a:latin typeface="微软雅黑"/>
                <a:ea typeface="微软雅黑"/>
              </a:rPr>
              <a:t>▍ 六轮迭代：从数据泄露基线到当前最佳 v4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30352" y="1645920"/>
          <a:ext cx="11155680" cy="26517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005840"/>
                <a:gridCol w="4206240"/>
                <a:gridCol w="1371600"/>
                <a:gridCol w="1371600"/>
                <a:gridCol w="3200400"/>
              </a:tblGrid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版本</a:t>
                      </a:r>
                    </a:p>
                  </a:txBody>
                  <a:tcPr marL="45720" marR="45720" marT="22860" marB="22860" anchor="ctr">
                    <a:solidFill>
                      <a:srgbClr val="0B3D9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方案</a:t>
                      </a:r>
                    </a:p>
                  </a:txBody>
                  <a:tcPr marL="45720" marR="45720" marT="22860" marB="22860" anchor="ctr">
                    <a:solidFill>
                      <a:srgbClr val="0B3D9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T RMSE</a:t>
                      </a:r>
                    </a:p>
                  </a:txBody>
                  <a:tcPr marL="45720" marR="45720" marT="22860" marB="22860" anchor="ctr">
                    <a:solidFill>
                      <a:srgbClr val="0B3D9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RH RMSE</a:t>
                      </a:r>
                    </a:p>
                  </a:txBody>
                  <a:tcPr marL="45720" marR="45720" marT="22860" marB="22860" anchor="ctr">
                    <a:solidFill>
                      <a:srgbClr val="0B3D9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结论</a:t>
                      </a:r>
                    </a:p>
                  </a:txBody>
                  <a:tcPr marL="45720" marR="45720" marT="22860" marB="22860" anchor="ctr">
                    <a:solidFill>
                      <a:srgbClr val="0B3D91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v1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原始 Obs_BT，时间划分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3.03 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16.55%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基线，存在数据泄露与质量问题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v2</a:t>
                      </a:r>
                    </a:p>
                  </a:txBody>
                  <a:tcPr marL="45720" marR="45720" marT="22860" marB="22860" anchor="ctr">
                    <a:solidFill>
                      <a:srgbClr val="EE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Obs_BT 订正 + 廓线分组</a:t>
                      </a:r>
                    </a:p>
                  </a:txBody>
                  <a:tcPr marL="45720" marR="45720" marT="22860" marB="22860" anchor="ctr">
                    <a:solidFill>
                      <a:srgbClr val="EE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1.45 K</a:t>
                      </a:r>
                    </a:p>
                  </a:txBody>
                  <a:tcPr marL="45720" marR="45720" marT="22860" marB="22860" anchor="ctr">
                    <a:solidFill>
                      <a:srgbClr val="EE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9.03%</a:t>
                      </a:r>
                    </a:p>
                  </a:txBody>
                  <a:tcPr marL="45720" marR="45720" marT="22860" marB="22860" anchor="ctr">
                    <a:solidFill>
                      <a:srgbClr val="EE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首个强结果</a:t>
                      </a:r>
                    </a:p>
                  </a:txBody>
                  <a:tcPr marL="45720" marR="45720" marT="22860" marB="22860" anchor="ctr">
                    <a:solidFill>
                      <a:srgbClr val="EEF2F9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v3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Sim_BT 训练，Obs_BT 测试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2.65 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12.00%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暴露 Sim→Obs domain gap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E87A1E"/>
                          </a:solidFill>
                          <a:latin typeface="微软雅黑"/>
                          <a:ea typeface="微软雅黑"/>
                        </a:rPr>
                        <a:t>v4 ★</a:t>
                      </a:r>
                    </a:p>
                  </a:txBody>
                  <a:tcPr marL="45720" marR="45720" marT="22860" marB="22860" anchor="ctr">
                    <a:solidFill>
                      <a:srgbClr val="EE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Obs_BT 订正 + K波段过滤 + IR入模</a:t>
                      </a:r>
                    </a:p>
                  </a:txBody>
                  <a:tcPr marL="45720" marR="45720" marT="22860" marB="22860" anchor="ctr">
                    <a:solidFill>
                      <a:srgbClr val="EE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1.26 K</a:t>
                      </a:r>
                    </a:p>
                  </a:txBody>
                  <a:tcPr marL="45720" marR="45720" marT="22860" marB="22860" anchor="ctr">
                    <a:solidFill>
                      <a:srgbClr val="EE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7.76%</a:t>
                      </a:r>
                    </a:p>
                  </a:txBody>
                  <a:tcPr marL="45720" marR="45720" marT="22860" marB="22860" anchor="ctr">
                    <a:solidFill>
                      <a:srgbClr val="EE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E87A1E"/>
                          </a:solidFill>
                          <a:latin typeface="微软雅黑"/>
                          <a:ea typeface="微软雅黑"/>
                        </a:rPr>
                        <a:t>当前最佳</a:t>
                      </a:r>
                    </a:p>
                  </a:txBody>
                  <a:tcPr marL="45720" marR="45720" marT="22860" marB="22860" anchor="ctr">
                    <a:solidFill>
                      <a:srgbClr val="EEF2F9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v6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Sim→Obs 两阶段训练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1.92 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10.34%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Sim 路线有进展但未超 v4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30352" y="457200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7285E"/>
                </a:solidFill>
                <a:latin typeface="微软雅黑"/>
                <a:ea typeface="微软雅黑"/>
              </a:rPr>
              <a:t>▍ 关键决策记录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498348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2A37"/>
                </a:solidFill>
                <a:latin typeface="微软雅黑"/>
                <a:ea typeface="微软雅黑"/>
              </a:rPr>
              <a:t>▸ Obs_BT 直接训练（v4）而非 Sim_BT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528523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5A6B7B"/>
                </a:solidFill>
                <a:latin typeface="微软雅黑"/>
                <a:ea typeface="微软雅黑"/>
              </a:rPr>
              <a:t>v3 证明 Sim→Obs 退化 3.7×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08192" y="498348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2A37"/>
                </a:solidFill>
                <a:latin typeface="微软雅黑"/>
                <a:ea typeface="微软雅黑"/>
              </a:rPr>
              <a:t>▸ 6 个独立 BRNN 而非单一多输出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528523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5A6B7B"/>
                </a:solidFill>
                <a:latin typeface="微软雅黑"/>
                <a:ea typeface="微软雅黑"/>
              </a:rPr>
              <a:t>各高度段物理特性差异大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571500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2A37"/>
                </a:solidFill>
                <a:latin typeface="微软雅黑"/>
                <a:ea typeface="微软雅黑"/>
              </a:rPr>
              <a:t>▸ 廓线分组划分而非时间划分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601675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5A6B7B"/>
                </a:solidFill>
                <a:latin typeface="微软雅黑"/>
                <a:ea typeface="微软雅黑"/>
              </a:rPr>
              <a:t>同廓线重复观测~5.6次，必须防泄露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08192" y="571500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2A37"/>
                </a:solidFill>
                <a:latin typeface="微软雅黑"/>
                <a:ea typeface="微软雅黑"/>
              </a:rPr>
              <a:t>▸ Winsorize 回归订正而非 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601675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5A6B7B"/>
                </a:solidFill>
                <a:latin typeface="微软雅黑"/>
                <a:ea typeface="微软雅黑"/>
              </a:rPr>
              <a:t>K 波段 OMB 厚尾分布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7285E"/>
                </a:solidFill>
                <a:latin typeface="微软雅黑"/>
                <a:ea typeface="微软雅黑"/>
              </a:rPr>
              <a:t>OEM 物理反演框架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1155680" cy="20000"/>
          </a:xfrm>
          <a:prstGeom prst="rect">
            <a:avLst/>
          </a:prstGeom>
          <a:solidFill>
            <a:srgbClr val="D0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6B7B"/>
                </a:solidFill>
                <a:latin typeface="微软雅黑"/>
                <a:ea typeface="微软雅黑"/>
              </a:rPr>
              <a:t>7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6B7B"/>
                </a:solidFill>
                <a:latin typeface="微软雅黑"/>
                <a:ea typeface="微软雅黑"/>
              </a:rPr>
              <a:t>地基微波辐射计大气温湿廓线反演  ·  期末汇报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28016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7285E"/>
                </a:solidFill>
                <a:latin typeface="微软雅黑"/>
                <a:ea typeface="微软雅黑"/>
              </a:rPr>
              <a:t>▍ 最优估计 (OEM / 1D-Var) 目标函数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691640"/>
            <a:ext cx="11155680" cy="6858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691640"/>
            <a:ext cx="11155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07285E"/>
                </a:solidFill>
                <a:latin typeface="Calibri"/>
                <a:ea typeface="微软雅黑"/>
              </a:rPr>
              <a:t>J(x) = (x−xₐ)ᵀ Sₐ⁻¹ (x−xₐ)  +  (y−H(x))ᵀ Sₑ⁻¹ (y−H(x))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30352" y="2560320"/>
          <a:ext cx="6766560" cy="30175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005840"/>
                <a:gridCol w="2194560"/>
                <a:gridCol w="3566160"/>
              </a:tblGrid>
              <a:tr h="43107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符号</a:t>
                      </a:r>
                    </a:p>
                  </a:txBody>
                  <a:tcPr marL="45720" marR="45720" marT="22860" marB="22860" anchor="ctr">
                    <a:solidFill>
                      <a:srgbClr val="0B3D9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含义</a:t>
                      </a:r>
                    </a:p>
                  </a:txBody>
                  <a:tcPr marL="45720" marR="45720" marT="22860" marB="22860" anchor="ctr">
                    <a:solidFill>
                      <a:srgbClr val="0B3D9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当前实现</a:t>
                      </a:r>
                    </a:p>
                  </a:txBody>
                  <a:tcPr marL="45720" marR="45720" marT="22860" marB="22860" anchor="ctr">
                    <a:solidFill>
                      <a:srgbClr val="0B3D91"/>
                    </a:solidFill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x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状态向量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14d T7+RH7（→ 21d 含 LWC）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xₐ</a:t>
                      </a:r>
                    </a:p>
                  </a:txBody>
                  <a:tcPr marL="45720" marR="45720" marT="22860" marB="22860" anchor="ctr">
                    <a:solidFill>
                      <a:srgbClr val="EE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背景场</a:t>
                      </a:r>
                    </a:p>
                  </a:txBody>
                  <a:tcPr marL="45720" marR="45720" marT="22860" marB="22860" anchor="ctr">
                    <a:solidFill>
                      <a:srgbClr val="EE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ERA5 扰动（→ BRNN first guess）</a:t>
                      </a:r>
                    </a:p>
                  </a:txBody>
                  <a:tcPr marL="45720" marR="45720" marT="22860" marB="22860" anchor="ctr">
                    <a:solidFill>
                      <a:srgbClr val="EEF2F9"/>
                    </a:solidFill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Sₐ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背景误差协方差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指数相关 / v4-derived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y</a:t>
                      </a:r>
                    </a:p>
                  </a:txBody>
                  <a:tcPr marL="45720" marR="45720" marT="22860" marB="22860" anchor="ctr">
                    <a:solidFill>
                      <a:srgbClr val="EE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观测亮温</a:t>
                      </a:r>
                    </a:p>
                  </a:txBody>
                  <a:tcPr marL="45720" marR="45720" marT="22860" marB="22860" anchor="ctr">
                    <a:solidFill>
                      <a:srgbClr val="EE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synthetic / MonoRTM / Obs_BT</a:t>
                      </a:r>
                    </a:p>
                  </a:txBody>
                  <a:tcPr marL="45720" marR="45720" marT="22860" marB="22860" anchor="ctr">
                    <a:solidFill>
                      <a:srgbClr val="EEF2F9"/>
                    </a:solidFill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H(x)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前向模型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ARTS 主线；MonoRTM 历史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31076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Sₑ</a:t>
                      </a:r>
                    </a:p>
                  </a:txBody>
                  <a:tcPr marL="45720" marR="45720" marT="22860" marB="22860" anchor="ctr">
                    <a:solidFill>
                      <a:srgbClr val="EE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观测误差协方差</a:t>
                      </a:r>
                    </a:p>
                  </a:txBody>
                  <a:tcPr marL="45720" marR="45720" marT="22860" marB="22860" anchor="ctr">
                    <a:solidFill>
                      <a:srgbClr val="EE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K-band 1.5K, V-band 0.5K</a:t>
                      </a:r>
                    </a:p>
                  </a:txBody>
                  <a:tcPr marL="45720" marR="45720" marT="22860" marB="22860" anchor="ctr">
                    <a:solidFill>
                      <a:srgbClr val="EEF2F9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7479792" y="2560320"/>
            <a:ext cx="4206240" cy="34747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79792" y="2907792"/>
            <a:ext cx="4206240" cy="3035808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2560320"/>
            <a:ext cx="40233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▍ 已实现的 OEM 能力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2980944"/>
            <a:ext cx="3986784" cy="2889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150" b="0" i="0">
                <a:solidFill>
                  <a:srgbClr val="E87A1E"/>
                </a:solidFill>
                <a:latin typeface="微软雅黑"/>
                <a:ea typeface="微软雅黑"/>
              </a:rPr>
              <a:t>● </a:t>
            </a:r>
            <a:r>
              <a:rPr sz="1150" b="0" i="0">
                <a:solidFill>
                  <a:srgbClr val="1F2A37"/>
                </a:solidFill>
                <a:latin typeface="微软雅黑"/>
                <a:ea typeface="微软雅黑"/>
              </a:rPr>
              <a:t>LM / Gauss-Newton 求解器</a:t>
            </a: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150" b="0" i="0">
                <a:solidFill>
                  <a:srgbClr val="E87A1E"/>
                </a:solidFill>
                <a:latin typeface="微软雅黑"/>
                <a:ea typeface="微软雅黑"/>
              </a:rPr>
              <a:t>● </a:t>
            </a:r>
            <a:r>
              <a:rPr sz="1150" b="0" i="0">
                <a:solidFill>
                  <a:srgbClr val="1F2A37"/>
                </a:solidFill>
                <a:latin typeface="微软雅黑"/>
                <a:ea typeface="微软雅黑"/>
              </a:rPr>
              <a:t>有限差分 Jacobian</a:t>
            </a: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150" b="0" i="0">
                <a:solidFill>
                  <a:srgbClr val="E87A1E"/>
                </a:solidFill>
                <a:latin typeface="微软雅黑"/>
                <a:ea typeface="微软雅黑"/>
              </a:rPr>
              <a:t>● </a:t>
            </a:r>
            <a:r>
              <a:rPr sz="1150" b="0" i="0">
                <a:solidFill>
                  <a:srgbClr val="1F2A37"/>
                </a:solidFill>
                <a:latin typeface="微软雅黑"/>
                <a:ea typeface="微软雅黑"/>
              </a:rPr>
              <a:t>状态向量打包/解包</a:t>
            </a: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150" b="0" i="0">
                <a:solidFill>
                  <a:srgbClr val="E87A1E"/>
                </a:solidFill>
                <a:latin typeface="微软雅黑"/>
                <a:ea typeface="微软雅黑"/>
              </a:rPr>
              <a:t>● </a:t>
            </a:r>
            <a:r>
              <a:rPr sz="1150" b="0" i="0">
                <a:solidFill>
                  <a:srgbClr val="1F2A37"/>
                </a:solidFill>
                <a:latin typeface="微软雅黑"/>
                <a:ea typeface="微软雅黑"/>
              </a:rPr>
              <a:t>Averaging kernel / DOFS</a:t>
            </a: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150" b="0" i="0">
                <a:solidFill>
                  <a:srgbClr val="E87A1E"/>
                </a:solidFill>
                <a:latin typeface="微软雅黑"/>
                <a:ea typeface="微软雅黑"/>
              </a:rPr>
              <a:t>● </a:t>
            </a:r>
            <a:r>
              <a:rPr sz="1150" b="0" i="0">
                <a:solidFill>
                  <a:srgbClr val="1F2A37"/>
                </a:solidFill>
                <a:latin typeface="微软雅黑"/>
                <a:ea typeface="微软雅黑"/>
              </a:rPr>
              <a:t>后验协方差诊断</a:t>
            </a: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150" b="0" i="0">
                <a:solidFill>
                  <a:srgbClr val="E87A1E"/>
                </a:solidFill>
                <a:latin typeface="微软雅黑"/>
                <a:ea typeface="微软雅黑"/>
              </a:rPr>
              <a:t>● </a:t>
            </a:r>
            <a:r>
              <a:rPr sz="1150" b="0" i="0">
                <a:solidFill>
                  <a:srgbClr val="1F2A37"/>
                </a:solidFill>
                <a:latin typeface="微软雅黑"/>
                <a:ea typeface="微软雅黑"/>
              </a:rPr>
              <a:t>self-consistent 闭环验证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580644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5A6B7B"/>
                </a:solidFill>
                <a:latin typeface="微软雅黑"/>
                <a:ea typeface="微软雅黑"/>
              </a:rPr>
              <a:t>状态向量粗分层：0-0.5 / 0.5-1 / 1-2 / 2-3 / 3-5 / 5-8 / 8-10 km，T7+RH7 共 14 维；后续扩展 10d EOF 与 21d 云天状态。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7285E"/>
                </a:solidFill>
                <a:latin typeface="微软雅黑"/>
                <a:ea typeface="微软雅黑"/>
              </a:rPr>
              <a:t>OEM 实验结果：MonoRTM n=100 基线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1155680" cy="20000"/>
          </a:xfrm>
          <a:prstGeom prst="rect">
            <a:avLst/>
          </a:prstGeom>
          <a:solidFill>
            <a:srgbClr val="D0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6B7B"/>
                </a:solidFill>
                <a:latin typeface="微软雅黑"/>
                <a:ea typeface="微软雅黑"/>
              </a:rPr>
              <a:t>8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6B7B"/>
                </a:solidFill>
                <a:latin typeface="微软雅黑"/>
                <a:ea typeface="微软雅黑"/>
              </a:rPr>
              <a:t>地基微波辐射计大气温湿廓线反演  ·  期末汇报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280160"/>
            <a:ext cx="6583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7285E"/>
                </a:solidFill>
                <a:latin typeface="微软雅黑"/>
                <a:ea typeface="微软雅黑"/>
              </a:rPr>
              <a:t>▍ 2013-01 三类 POC + n=100 基线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30352" y="1645920"/>
          <a:ext cx="6583680" cy="21945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560320"/>
                <a:gridCol w="1188720"/>
                <a:gridCol w="1188720"/>
                <a:gridCol w="1005840"/>
                <a:gridCol w="64008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实验（前向/样本）</a:t>
                      </a:r>
                    </a:p>
                  </a:txBody>
                  <a:tcPr marL="45720" marR="45720" marT="22860" marB="22860" anchor="ctr">
                    <a:solidFill>
                      <a:srgbClr val="0B3D9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T RMSE</a:t>
                      </a:r>
                    </a:p>
                  </a:txBody>
                  <a:tcPr marL="45720" marR="45720" marT="22860" marB="22860" anchor="ctr">
                    <a:solidFill>
                      <a:srgbClr val="0B3D9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RH RMSE</a:t>
                      </a:r>
                    </a:p>
                  </a:txBody>
                  <a:tcPr marL="45720" marR="45720" marT="22860" marB="22860" anchor="ctr">
                    <a:solidFill>
                      <a:srgbClr val="0B3D9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BT RMS</a:t>
                      </a:r>
                    </a:p>
                  </a:txBody>
                  <a:tcPr marL="45720" marR="45720" marT="22860" marB="22860" anchor="ctr">
                    <a:solidFill>
                      <a:srgbClr val="0B3D9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DOFS</a:t>
                      </a:r>
                    </a:p>
                  </a:txBody>
                  <a:tcPr marL="45720" marR="45720" marT="22860" marB="22860" anchor="ctr">
                    <a:solidFill>
                      <a:srgbClr val="0B3D9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Self-consistent simple n=20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2.64→1.95K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6.43→6.06%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1.59→0.54K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2.10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Forward-mismatch simple n=20</a:t>
                      </a:r>
                    </a:p>
                  </a:txBody>
                  <a:tcPr marL="45720" marR="45720" marT="22860" marB="22860" anchor="ctr">
                    <a:solidFill>
                      <a:srgbClr val="EE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→27.0K</a:t>
                      </a:r>
                    </a:p>
                  </a:txBody>
                  <a:tcPr marL="45720" marR="45720" marT="22860" marB="22860" anchor="ctr">
                    <a:solidFill>
                      <a:srgbClr val="EE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7.59→7.22%</a:t>
                      </a:r>
                    </a:p>
                  </a:txBody>
                  <a:tcPr marL="45720" marR="45720" marT="22860" marB="22860" anchor="ctr">
                    <a:solidFill>
                      <a:srgbClr val="EE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→20.2K</a:t>
                      </a:r>
                    </a:p>
                  </a:txBody>
                  <a:tcPr marL="45720" marR="45720" marT="22860" marB="22860" anchor="ctr">
                    <a:solidFill>
                      <a:srgbClr val="EE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2.21</a:t>
                      </a:r>
                    </a:p>
                  </a:txBody>
                  <a:tcPr marL="45720" marR="45720" marT="22860" marB="22860" anchor="ctr">
                    <a:solidFill>
                      <a:srgbClr val="EEF2F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MonoRTM self-consistent n=100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2.64→2.02K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6.49→6.20%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5.03→0.61K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2.21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30352" y="3977639"/>
            <a:ext cx="6583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7285E"/>
                </a:solidFill>
                <a:latin typeface="微软雅黑"/>
                <a:ea typeface="微软雅黑"/>
              </a:rPr>
              <a:t>▍ 核心结论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150" b="0" i="0">
                <a:solidFill>
                  <a:srgbClr val="E87A1E"/>
                </a:solidFill>
                <a:latin typeface="微软雅黑"/>
                <a:ea typeface="微软雅黑"/>
              </a:rPr>
              <a:t>● </a:t>
            </a:r>
            <a:r>
              <a:rPr sz="1150" b="0" i="0">
                <a:solidFill>
                  <a:srgbClr val="1F2A37"/>
                </a:solidFill>
                <a:latin typeface="微软雅黑"/>
                <a:ea typeface="微软雅黑"/>
              </a:rPr>
              <a:t>self-consistent 验证算法链路可用，收敛率 99%、平均迭代 7.79。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150" b="0" i="0">
                <a:solidFill>
                  <a:srgbClr val="E87A1E"/>
                </a:solidFill>
                <a:latin typeface="微软雅黑"/>
                <a:ea typeface="微软雅黑"/>
              </a:rPr>
              <a:t>● </a:t>
            </a:r>
            <a:r>
              <a:rPr sz="1150" b="0" i="0">
                <a:solidFill>
                  <a:srgbClr val="1F2A37"/>
                </a:solidFill>
                <a:latin typeface="微软雅黑"/>
                <a:ea typeface="微软雅黑"/>
              </a:rPr>
              <a:t>forward-mismatch 证明 H(x) 与观测不一致会导致 T 严重退化 → 必须先闭环验证。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150" b="0" i="0">
                <a:solidFill>
                  <a:srgbClr val="E87A1E"/>
                </a:solidFill>
                <a:latin typeface="微软雅黑"/>
                <a:ea typeface="微软雅黑"/>
              </a:rPr>
              <a:t>● </a:t>
            </a:r>
            <a:r>
              <a:rPr sz="1150" b="0" i="0">
                <a:solidFill>
                  <a:srgbClr val="1F2A37"/>
                </a:solidFill>
                <a:latin typeface="微软雅黑"/>
                <a:ea typeface="微软雅黑"/>
              </a:rPr>
              <a:t>MonoRTM 是当前最可信物理 POC；BT residual 降幅最大（5.03→0.61K）。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150" b="0" i="0">
                <a:solidFill>
                  <a:srgbClr val="E87A1E"/>
                </a:solidFill>
                <a:latin typeface="微软雅黑"/>
                <a:ea typeface="微软雅黑"/>
              </a:rPr>
              <a:t>● </a:t>
            </a:r>
            <a:r>
              <a:rPr sz="1150" b="0" i="0">
                <a:solidFill>
                  <a:srgbClr val="1F2A37"/>
                </a:solidFill>
                <a:latin typeface="微软雅黑"/>
                <a:ea typeface="微软雅黑"/>
              </a:rPr>
              <a:t>DOFS≈2.21/14，符合地基 MWR 垂直信息量有限的预期。</a:t>
            </a:r>
          </a:p>
        </p:txBody>
      </p:sp>
      <p:pic>
        <p:nvPicPr>
          <p:cNvPr id="11" name="Picture 10" descr="rmse_pro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371600"/>
            <a:ext cx="3703320" cy="2468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0" y="3840480"/>
            <a:ext cx="4434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5A6B7B"/>
                </a:solidFill>
                <a:latin typeface="微软雅黑"/>
                <a:ea typeface="微软雅黑"/>
              </a:rPr>
              <a:t>图4  MonoRTM n=100：Prior→Posterior RMSE 廓线</a:t>
            </a:r>
          </a:p>
        </p:txBody>
      </p:sp>
      <p:pic>
        <p:nvPicPr>
          <p:cNvPr id="13" name="Picture 12" descr="bt_dof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288155"/>
            <a:ext cx="4434840" cy="18478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0" y="6263640"/>
            <a:ext cx="4434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5A6B7B"/>
                </a:solidFill>
                <a:latin typeface="微软雅黑"/>
                <a:ea typeface="微软雅黑"/>
              </a:rPr>
              <a:t>图5  BT 残差收敛 与 DOFS 分布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7285E"/>
                </a:solidFill>
                <a:latin typeface="微软雅黑"/>
                <a:ea typeface="微软雅黑"/>
              </a:rPr>
              <a:t>ARTS 前向模型与垂直信息量诊断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1155680" cy="20000"/>
          </a:xfrm>
          <a:prstGeom prst="rect">
            <a:avLst/>
          </a:prstGeom>
          <a:solidFill>
            <a:srgbClr val="D0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6B7B"/>
                </a:solidFill>
                <a:latin typeface="微软雅黑"/>
                <a:ea typeface="微软雅黑"/>
              </a:rPr>
              <a:t>9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6B7B"/>
                </a:solidFill>
                <a:latin typeface="微软雅黑"/>
                <a:ea typeface="微软雅黑"/>
              </a:rPr>
              <a:t>地基微波辐射计大气温湿廓线反演  ·  期末汇报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280160"/>
            <a:ext cx="5440680" cy="347472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627632"/>
            <a:ext cx="5440680" cy="1344168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52578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▍ 前向模型主线切换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700784"/>
            <a:ext cx="5221224" cy="1197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150" b="0" i="0">
                <a:solidFill>
                  <a:srgbClr val="E87A1E"/>
                </a:solidFill>
                <a:latin typeface="微软雅黑"/>
                <a:ea typeface="微软雅黑"/>
              </a:rPr>
              <a:t>● </a:t>
            </a:r>
            <a:r>
              <a:rPr sz="1150" b="0" i="0">
                <a:solidFill>
                  <a:srgbClr val="1F2A37"/>
                </a:solidFill>
                <a:latin typeface="微软雅黑"/>
                <a:ea typeface="微软雅黑"/>
              </a:rPr>
              <a:t>ARTS 设为默认 OEM 后端（对齐研究组工作流）。</a:t>
            </a: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150" b="0" i="0">
                <a:solidFill>
                  <a:srgbClr val="E87A1E"/>
                </a:solidFill>
                <a:latin typeface="微软雅黑"/>
                <a:ea typeface="微软雅黑"/>
              </a:rPr>
              <a:t>● </a:t>
            </a:r>
            <a:r>
              <a:rPr sz="1150" b="0" i="0">
                <a:solidFill>
                  <a:srgbClr val="1F2A37"/>
                </a:solidFill>
                <a:latin typeface="微软雅黑"/>
                <a:ea typeface="微软雅黑"/>
              </a:rPr>
              <a:t>支持成都 21 通道；通过 WSL pyarts runner 接入本地 agenda。</a:t>
            </a: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150" b="0" i="0">
                <a:solidFill>
                  <a:srgbClr val="E87A1E"/>
                </a:solidFill>
                <a:latin typeface="微软雅黑"/>
                <a:ea typeface="微软雅黑"/>
              </a:rPr>
              <a:t>● </a:t>
            </a:r>
            <a:r>
              <a:rPr sz="1150" b="0" i="0">
                <a:solidFill>
                  <a:srgbClr val="1F2A37"/>
                </a:solidFill>
                <a:latin typeface="微软雅黑"/>
                <a:ea typeface="微软雅黑"/>
              </a:rPr>
              <a:t>MonoRTM 保留为历史基线，用于交叉验证。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08192" y="1280160"/>
            <a:ext cx="5577840" cy="34747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08192" y="1627632"/>
            <a:ext cx="5577840" cy="1344168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280160"/>
            <a:ext cx="53949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▍ 关键诊断结论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208" y="1700784"/>
            <a:ext cx="5358384" cy="1197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150" b="0" i="0">
                <a:solidFill>
                  <a:srgbClr val="E87A1E"/>
                </a:solidFill>
                <a:latin typeface="微软雅黑"/>
                <a:ea typeface="微软雅黑"/>
              </a:rPr>
              <a:t>● </a:t>
            </a:r>
            <a:r>
              <a:rPr sz="1150" b="0" i="0">
                <a:solidFill>
                  <a:srgbClr val="1F2A37"/>
                </a:solidFill>
                <a:latin typeface="微软雅黑"/>
                <a:ea typeface="微软雅黑"/>
              </a:rPr>
              <a:t>OEM 改善集中在 0-2km 近地层；5-10km T 反演几乎完全依赖先验。</a:t>
            </a: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150" b="0" i="0">
                <a:solidFill>
                  <a:srgbClr val="E87A1E"/>
                </a:solidFill>
                <a:latin typeface="微软雅黑"/>
                <a:ea typeface="微软雅黑"/>
              </a:rPr>
              <a:t>● </a:t>
            </a:r>
            <a:r>
              <a:rPr sz="1150" b="0" i="0">
                <a:solidFill>
                  <a:srgbClr val="1F2A37"/>
                </a:solidFill>
                <a:latin typeface="微软雅黑"/>
                <a:ea typeface="微软雅黑"/>
              </a:rPr>
              <a:t>DOFS 仅 2.2/14 → 高空信息量极低，是核心瓶颈。</a:t>
            </a: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150" b="0" i="0">
                <a:solidFill>
                  <a:srgbClr val="E87A1E"/>
                </a:solidFill>
                <a:latin typeface="微软雅黑"/>
                <a:ea typeface="微软雅黑"/>
              </a:rPr>
              <a:t>● </a:t>
            </a:r>
            <a:r>
              <a:rPr sz="1150" b="0" i="0">
                <a:solidFill>
                  <a:srgbClr val="1F2A37"/>
                </a:solidFill>
                <a:latin typeface="微软雅黑"/>
                <a:ea typeface="微软雅黑"/>
              </a:rPr>
              <a:t>需通过多仰角观测 / 高频通道 / 更优 Sₐ 提升信息量。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3154680"/>
            <a:ext cx="5440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7285E"/>
                </a:solidFill>
                <a:latin typeface="微软雅黑"/>
                <a:ea typeface="微软雅黑"/>
              </a:rPr>
              <a:t>▍ BRNN v4 vs OEM 分层精度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30352" y="3520440"/>
          <a:ext cx="5440680" cy="16459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71600"/>
                <a:gridCol w="2057400"/>
                <a:gridCol w="201168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高度区间</a:t>
                      </a:r>
                    </a:p>
                  </a:txBody>
                  <a:tcPr marL="45720" marR="45720" marT="22860" marB="22860" anchor="ctr">
                    <a:solidFill>
                      <a:srgbClr val="0B3D9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BRNN v4 Δ</a:t>
                      </a:r>
                    </a:p>
                  </a:txBody>
                  <a:tcPr marL="45720" marR="45720" marT="22860" marB="22860" anchor="ctr">
                    <a:solidFill>
                      <a:srgbClr val="0B3D9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OEM ΔT / ΔRH</a:t>
                      </a:r>
                    </a:p>
                  </a:txBody>
                  <a:tcPr marL="45720" marR="45720" marT="22860" marB="22860" anchor="ctr">
                    <a:solidFill>
                      <a:srgbClr val="0B3D91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0–0.5 km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T1.09K RH5.78%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+0.42K / +0.67%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2–8 km</a:t>
                      </a:r>
                    </a:p>
                  </a:txBody>
                  <a:tcPr marL="45720" marR="45720" marT="22860" marB="22860" anchor="ctr">
                    <a:solidFill>
                      <a:srgbClr val="EE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T1.30K RH9.50%</a:t>
                      </a:r>
                    </a:p>
                  </a:txBody>
                  <a:tcPr marL="45720" marR="45720" marT="22860" marB="22860" anchor="ctr">
                    <a:solidFill>
                      <a:srgbClr val="EE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+0.07K / +0.28%</a:t>
                      </a:r>
                    </a:p>
                  </a:txBody>
                  <a:tcPr marL="45720" marR="45720" marT="22860" marB="22860" anchor="ctr">
                    <a:solidFill>
                      <a:srgbClr val="EEF2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5–10 km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T1.50K RH10.31%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−0.01K / +0.10%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30352" y="5349240"/>
            <a:ext cx="5440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7285E"/>
                </a:solidFill>
                <a:latin typeface="微软雅黑"/>
                <a:ea typeface="微软雅黑"/>
              </a:rPr>
              <a:t>▍ Sₐ 与状态降维探索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715000"/>
            <a:ext cx="5303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100" b="0" i="0">
                <a:solidFill>
                  <a:srgbClr val="E87A1E"/>
                </a:solidFill>
                <a:latin typeface="微软雅黑"/>
                <a:ea typeface="微软雅黑"/>
              </a:rPr>
              <a:t>● </a:t>
            </a:r>
            <a:r>
              <a:rPr sz="1100" b="0" i="0">
                <a:solidFill>
                  <a:srgbClr val="1F2A37"/>
                </a:solidFill>
                <a:latin typeface="微软雅黑"/>
                <a:ea typeface="微软雅黑"/>
              </a:rPr>
              <a:t>v4-derived Sₐ (14×14) 已生成；T 改善 +22%。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100" b="0" i="0">
                <a:solidFill>
                  <a:srgbClr val="E87A1E"/>
                </a:solidFill>
                <a:latin typeface="微软雅黑"/>
                <a:ea typeface="微软雅黑"/>
              </a:rPr>
              <a:t>● </a:t>
            </a:r>
            <a:r>
              <a:rPr sz="1100" b="0" i="0">
                <a:solidFill>
                  <a:srgbClr val="1F2A37"/>
                </a:solidFill>
                <a:latin typeface="微软雅黑"/>
                <a:ea typeface="微软雅黑"/>
              </a:rPr>
              <a:t>EOF/PCA：T/RH 各 5 EOF，基础就绪，10d 版本待优化。</a:t>
            </a:r>
          </a:p>
        </p:txBody>
      </p:sp>
      <p:pic>
        <p:nvPicPr>
          <p:cNvPr id="19" name="Picture 18" descr="averaging_ker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3463290"/>
            <a:ext cx="2743200" cy="24003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126480" y="626364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5A6B7B"/>
                </a:solidFill>
                <a:latin typeface="微软雅黑"/>
                <a:ea typeface="微软雅黑"/>
              </a:rPr>
              <a:t>图6  Averaging Kernel</a:t>
            </a:r>
          </a:p>
        </p:txBody>
      </p:sp>
      <p:pic>
        <p:nvPicPr>
          <p:cNvPr id="21" name="Picture 20" descr="sa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0" y="4085409"/>
            <a:ext cx="2697480" cy="115606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006840" y="6263640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5A6B7B"/>
                </a:solidFill>
                <a:latin typeface="微软雅黑"/>
                <a:ea typeface="微软雅黑"/>
              </a:rPr>
              <a:t>图7  Sₐ 对比（指数 vs v4）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7285E"/>
                </a:solidFill>
                <a:latin typeface="微软雅黑"/>
                <a:ea typeface="微软雅黑"/>
              </a:rPr>
              <a:t>成都真实数据验证（一）：ERA5 精确配对 Hybrid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1155680" cy="20000"/>
          </a:xfrm>
          <a:prstGeom prst="rect">
            <a:avLst/>
          </a:prstGeom>
          <a:solidFill>
            <a:srgbClr val="D0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6B7B"/>
                </a:solidFill>
                <a:latin typeface="微软雅黑"/>
                <a:ea typeface="微软雅黑"/>
              </a:rPr>
              <a:t>10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6B7B"/>
                </a:solidFill>
                <a:latin typeface="微软雅黑"/>
                <a:ea typeface="微软雅黑"/>
              </a:rPr>
              <a:t>地基微波辐射计大气温湿廓线反演  ·  期末汇报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23444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7285E"/>
                </a:solidFill>
                <a:latin typeface="微软雅黑"/>
                <a:ea typeface="微软雅黑"/>
              </a:rPr>
              <a:t>▍ 链路打通：21 通道实测亮温 + ERA5 精确小时标签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30352" y="1600200"/>
          <a:ext cx="5577840" cy="17373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108960"/>
                <a:gridCol w="2468880"/>
              </a:tblGrid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数据集划分</a:t>
                      </a:r>
                    </a:p>
                  </a:txBody>
                  <a:tcPr marL="45720" marR="45720" marT="22860" marB="22860" anchor="ctr">
                    <a:solidFill>
                      <a:srgbClr val="0B3D9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样本/天数</a:t>
                      </a:r>
                    </a:p>
                  </a:txBody>
                  <a:tcPr marL="45720" marR="45720" marT="22860" marB="22860" anchor="ctr">
                    <a:solidFill>
                      <a:srgbClr val="0B3D91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实测亮温总记录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163 条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与 ERA5 同 UTC 配对</a:t>
                      </a:r>
                    </a:p>
                  </a:txBody>
                  <a:tcPr marL="45720" marR="45720" marT="22860" marB="22860" anchor="ctr">
                    <a:solidFill>
                      <a:srgbClr val="EE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139 条 / 16 天</a:t>
                      </a:r>
                    </a:p>
                  </a:txBody>
                  <a:tcPr marL="45720" marR="45720" marT="22860" marB="22860" anchor="ctr">
                    <a:solidFill>
                      <a:srgbClr val="EEF2F9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Train / Val / Test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69 / 22 / 48 条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30352" y="3474720"/>
            <a:ext cx="5577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7285E"/>
                </a:solidFill>
                <a:latin typeface="微软雅黑"/>
                <a:ea typeface="微软雅黑"/>
              </a:rPr>
              <a:t>▍ 当前最佳 Hybrid（ERA5 测试集）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30352" y="3840480"/>
          <a:ext cx="5577840" cy="1828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200"/>
                <a:gridCol w="1371600"/>
                <a:gridCol w="1463040"/>
              </a:tblGrid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变量 / 方法</a:t>
                      </a:r>
                    </a:p>
                  </a:txBody>
                  <a:tcPr marL="45720" marR="45720" marT="22860" marB="22860" anchor="ctr">
                    <a:solidFill>
                      <a:srgbClr val="0B3D9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RMSE</a:t>
                      </a:r>
                    </a:p>
                  </a:txBody>
                  <a:tcPr marL="45720" marR="45720" marT="22860" marB="22860" anchor="ctr">
                    <a:solidFill>
                      <a:srgbClr val="0B3D9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相对气候态</a:t>
                      </a:r>
                    </a:p>
                  </a:txBody>
                  <a:tcPr marL="45720" marR="45720" marT="22860" marB="22860" anchor="ctr">
                    <a:solidFill>
                      <a:srgbClr val="0B3D91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T · Ridge+5EOF (21ch)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1.479 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改善 35.2%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RH · BRNN 4-seed 集成</a:t>
                      </a:r>
                    </a:p>
                  </a:txBody>
                  <a:tcPr marL="45720" marR="45720" marT="22860" marB="22860" anchor="ctr">
                    <a:solidFill>
                      <a:srgbClr val="EE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20.966%</a:t>
                      </a:r>
                    </a:p>
                  </a:txBody>
                  <a:tcPr marL="45720" marR="45720" marT="22860" marB="22860" anchor="ctr">
                    <a:solidFill>
                      <a:srgbClr val="EE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改善 13.1%</a:t>
                      </a:r>
                    </a:p>
                  </a:txBody>
                  <a:tcPr marL="45720" marR="45720" marT="22860" marB="22860" anchor="ctr">
                    <a:solidFill>
                      <a:srgbClr val="EEF2F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30352" y="5760720"/>
            <a:ext cx="5577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5A6B7B"/>
                </a:solidFill>
                <a:latin typeface="微软雅黑"/>
                <a:ea typeface="微软雅黑"/>
              </a:rPr>
              <a:t>T=Ridge/EOF 更适合小样本；RH=BRNN 集成更适合非线性映射。首次实现 T/RH 同时优于气候态基线。</a:t>
            </a:r>
          </a:p>
        </p:txBody>
      </p:sp>
      <p:pic>
        <p:nvPicPr>
          <p:cNvPr id="12" name="Picture 11" descr="03_prediction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2797" y="1371600"/>
            <a:ext cx="4799526" cy="24688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55080" y="3840480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5A6B7B"/>
                </a:solidFill>
                <a:latin typeface="微软雅黑"/>
                <a:ea typeface="微软雅黑"/>
              </a:rPr>
              <a:t>图8  成都 21ch Hybrid 预测散点（T/RH）</a:t>
            </a:r>
          </a:p>
        </p:txBody>
      </p:sp>
      <p:pic>
        <p:nvPicPr>
          <p:cNvPr id="14" name="Picture 13" descr="02_height_resolved_erro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4253326"/>
            <a:ext cx="5394960" cy="20089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55080" y="6355080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5A6B7B"/>
                </a:solidFill>
                <a:latin typeface="微软雅黑"/>
                <a:ea typeface="微软雅黑"/>
              </a:rPr>
              <a:t>图9  分高度误差（各通道组/模型对比）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7285E"/>
                </a:solidFill>
                <a:latin typeface="微软雅黑"/>
                <a:ea typeface="微软雅黑"/>
              </a:rPr>
              <a:t>成都真实数据验证（二）：物理 48 层 + 温江探空独立验证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1155680" cy="20000"/>
          </a:xfrm>
          <a:prstGeom prst="rect">
            <a:avLst/>
          </a:prstGeom>
          <a:solidFill>
            <a:srgbClr val="D0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6B7B"/>
                </a:solidFill>
                <a:latin typeface="微软雅黑"/>
                <a:ea typeface="微软雅黑"/>
              </a:rPr>
              <a:t>11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6B7B"/>
                </a:solidFill>
                <a:latin typeface="微软雅黑"/>
                <a:ea typeface="微软雅黑"/>
              </a:rPr>
              <a:t>地基微波辐射计大气温湿廓线反演  ·  期末汇报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234440"/>
            <a:ext cx="6583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7285E"/>
                </a:solidFill>
                <a:latin typeface="微软雅黑"/>
                <a:ea typeface="微软雅黑"/>
              </a:rPr>
              <a:t>▍ 改进：48 点 → 真正的 48 物理层 + 层平均保守映射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6400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100" b="0" i="0">
                <a:solidFill>
                  <a:srgbClr val="E87A1E"/>
                </a:solidFill>
                <a:latin typeface="微软雅黑"/>
                <a:ea typeface="微软雅黑"/>
              </a:rPr>
              <a:t>● </a:t>
            </a:r>
            <a:r>
              <a:rPr sz="1100" b="0" i="0">
                <a:solidFill>
                  <a:srgbClr val="1F2A37"/>
                </a:solidFill>
                <a:latin typeface="微软雅黑"/>
                <a:ea typeface="微软雅黑"/>
              </a:rPr>
              <a:t>层定义：0-500m×1 + 500-2000m/100m×15 + 2000-10000m/250m×32 = 48 层。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100" b="0" i="0">
                <a:solidFill>
                  <a:srgbClr val="E87A1E"/>
                </a:solidFill>
                <a:latin typeface="微软雅黑"/>
                <a:ea typeface="微软雅黑"/>
              </a:rPr>
              <a:t>● </a:t>
            </a:r>
            <a:r>
              <a:rPr sz="1100" b="0" i="0">
                <a:solidFill>
                  <a:srgbClr val="1F2A37"/>
                </a:solidFill>
                <a:latin typeface="微软雅黑"/>
                <a:ea typeface="微软雅黑"/>
              </a:rPr>
              <a:t>地下气压层过滤（站点海拔 548m，均删 ~2.7 层）；T/log(q)/log(P) 层平均后重算 RH。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100" b="0" i="0">
                <a:solidFill>
                  <a:srgbClr val="E87A1E"/>
                </a:solidFill>
                <a:latin typeface="微软雅黑"/>
                <a:ea typeface="微软雅黑"/>
              </a:rPr>
              <a:t>● </a:t>
            </a:r>
            <a:r>
              <a:rPr sz="1100" b="0" i="0">
                <a:solidFill>
                  <a:srgbClr val="1F2A37"/>
                </a:solidFill>
                <a:latin typeface="微软雅黑"/>
                <a:ea typeface="微软雅黑"/>
              </a:rPr>
              <a:t>选择性偏差订正：T 用低自由度探空订正（RMSE 1.067→0.656K）；RH 不订正。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880360"/>
            <a:ext cx="6583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7285E"/>
                </a:solidFill>
                <a:latin typeface="微软雅黑"/>
                <a:ea typeface="微软雅黑"/>
              </a:rPr>
              <a:t>▍ 独立温江探空验证（6 份探空，1-2h 时间差）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30352" y="3246120"/>
          <a:ext cx="6583680" cy="1828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03120"/>
                <a:gridCol w="1097280"/>
                <a:gridCol w="1097280"/>
                <a:gridCol w="1188720"/>
                <a:gridCol w="109728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方案</a:t>
                      </a:r>
                    </a:p>
                  </a:txBody>
                  <a:tcPr marL="45720" marR="45720" marT="22860" marB="22860" anchor="ctr">
                    <a:solidFill>
                      <a:srgbClr val="0B3D9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T RMSE</a:t>
                      </a:r>
                    </a:p>
                  </a:txBody>
                  <a:tcPr marL="45720" marR="45720" marT="22860" marB="22860" anchor="ctr">
                    <a:solidFill>
                      <a:srgbClr val="0B3D9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T Bias</a:t>
                      </a:r>
                    </a:p>
                  </a:txBody>
                  <a:tcPr marL="45720" marR="45720" marT="22860" marB="22860" anchor="ctr">
                    <a:solidFill>
                      <a:srgbClr val="0B3D9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RH RMSE</a:t>
                      </a:r>
                    </a:p>
                  </a:txBody>
                  <a:tcPr marL="45720" marR="45720" marT="22860" marB="22860" anchor="ctr">
                    <a:solidFill>
                      <a:srgbClr val="0B3D9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RH Bias</a:t>
                      </a:r>
                    </a:p>
                  </a:txBody>
                  <a:tcPr marL="45720" marR="45720" marT="22860" marB="22860" anchor="ctr">
                    <a:solidFill>
                      <a:srgbClr val="0B3D9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原 93 层（层平均）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1.730K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+0.998K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23.685%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−8.075%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E87A1E"/>
                          </a:solidFill>
                          <a:latin typeface="微软雅黑"/>
                          <a:ea typeface="微软雅黑"/>
                        </a:rPr>
                        <a:t>优化物理 48 层 ★</a:t>
                      </a:r>
                    </a:p>
                  </a:txBody>
                  <a:tcPr marL="45720" marR="45720" marT="22860" marB="22860" anchor="ctr">
                    <a:solidFill>
                      <a:srgbClr val="EE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1.532K</a:t>
                      </a:r>
                    </a:p>
                  </a:txBody>
                  <a:tcPr marL="45720" marR="45720" marT="22860" marB="22860" anchor="ctr">
                    <a:solidFill>
                      <a:srgbClr val="EE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+0.250K</a:t>
                      </a:r>
                    </a:p>
                  </a:txBody>
                  <a:tcPr marL="45720" marR="45720" marT="22860" marB="22860" anchor="ctr">
                    <a:solidFill>
                      <a:srgbClr val="EE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23.754%</a:t>
                      </a:r>
                    </a:p>
                  </a:txBody>
                  <a:tcPr marL="45720" marR="45720" marT="22860" marB="22860" anchor="ctr">
                    <a:solidFill>
                      <a:srgbClr val="EE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−7.502%</a:t>
                      </a:r>
                    </a:p>
                  </a:txBody>
                  <a:tcPr marL="45720" marR="45720" marT="22860" marB="22860" anchor="ctr">
                    <a:solidFill>
                      <a:srgbClr val="EEF2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旧 48 点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1.561K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+0.243K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25.260%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−9.867%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30352" y="5212080"/>
            <a:ext cx="6583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07285E"/>
                </a:solidFill>
                <a:latin typeface="微软雅黑"/>
                <a:ea typeface="微软雅黑"/>
              </a:rPr>
              <a:t>相对原 93 层：T RMSE −11.4%、|Bias| −75%；湿度持平。新基线物理含义更清晰。瓶颈：5-8km 湿度 RMSE&gt;32%（高空信息量不足）。</a:t>
            </a:r>
          </a:p>
        </p:txBody>
      </p:sp>
      <p:pic>
        <p:nvPicPr>
          <p:cNvPr id="12" name="Picture 11" descr="04_sounding_pro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7373" y="1371600"/>
            <a:ext cx="3450494" cy="24688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0" y="3840480"/>
            <a:ext cx="4434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5A6B7B"/>
                </a:solidFill>
                <a:latin typeface="微软雅黑"/>
                <a:ea typeface="微软雅黑"/>
              </a:rPr>
              <a:t>图10  探空独立验证廓线对比</a:t>
            </a:r>
          </a:p>
        </p:txBody>
      </p:sp>
      <p:pic>
        <p:nvPicPr>
          <p:cNvPr id="14" name="Picture 13" descr="03_sounding_height_erro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460412"/>
            <a:ext cx="4434840" cy="15947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15200" y="6355080"/>
            <a:ext cx="4434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5A6B7B"/>
                </a:solidFill>
                <a:latin typeface="微软雅黑"/>
                <a:ea typeface="微软雅黑"/>
              </a:rPr>
              <a:t>图11  分高度误差（探空验证）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7285E"/>
                </a:solidFill>
                <a:latin typeface="微软雅黑"/>
                <a:ea typeface="微软雅黑"/>
              </a:rPr>
              <a:t>整体进度、风险与下一步计划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1155680" cy="20000"/>
          </a:xfrm>
          <a:prstGeom prst="rect">
            <a:avLst/>
          </a:prstGeom>
          <a:solidFill>
            <a:srgbClr val="D0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6B7B"/>
                </a:solidFill>
                <a:latin typeface="微软雅黑"/>
                <a:ea typeface="微软雅黑"/>
              </a:rPr>
              <a:t>12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6B7B"/>
                </a:solidFill>
                <a:latin typeface="微软雅黑"/>
                <a:ea typeface="微软雅黑"/>
              </a:rPr>
              <a:t>地基微波辐射计大气温湿廓线反演  ·  期末汇报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23444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7285E"/>
                </a:solidFill>
                <a:latin typeface="微软雅黑"/>
                <a:ea typeface="微软雅黑"/>
              </a:rPr>
              <a:t>▍ 当前进度总览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627632"/>
            <a:ext cx="21945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A37"/>
                </a:solidFill>
                <a:latin typeface="微软雅黑"/>
                <a:ea typeface="微软雅黑"/>
              </a:rPr>
              <a:t>BRNN 统计反演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691640"/>
            <a:ext cx="6583680" cy="128016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1691640"/>
            <a:ext cx="6583680" cy="128016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0" y="1627632"/>
            <a:ext cx="640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F2A37"/>
                </a:solidFill>
                <a:latin typeface="微软雅黑"/>
                <a:ea typeface="微软雅黑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1627632"/>
            <a:ext cx="16916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5A6B7B"/>
                </a:solidFill>
                <a:latin typeface="微软雅黑"/>
                <a:ea typeface="微软雅黑"/>
              </a:rPr>
              <a:t>v4 当前最佳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011680"/>
            <a:ext cx="21945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A37"/>
                </a:solidFill>
                <a:latin typeface="微软雅黑"/>
                <a:ea typeface="微软雅黑"/>
              </a:rPr>
              <a:t>OEM 物理反演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2075688"/>
            <a:ext cx="6583680" cy="128016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0" y="2075688"/>
            <a:ext cx="5266944" cy="128016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0" y="2011680"/>
            <a:ext cx="640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F2A37"/>
                </a:solidFill>
                <a:latin typeface="微软雅黑"/>
                <a:ea typeface="微软雅黑"/>
              </a:rPr>
              <a:t>80%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2011680"/>
            <a:ext cx="16916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5A6B7B"/>
                </a:solidFill>
                <a:latin typeface="微软雅黑"/>
                <a:ea typeface="微软雅黑"/>
              </a:rPr>
              <a:t>ARTS 主后端已切换，待跑 ARTS baseline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2395728"/>
            <a:ext cx="21945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A37"/>
                </a:solidFill>
                <a:latin typeface="微软雅黑"/>
                <a:ea typeface="微软雅黑"/>
              </a:rPr>
              <a:t>MonoRTM 编译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2459736"/>
            <a:ext cx="6583680" cy="128016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0" y="2459736"/>
            <a:ext cx="6583680" cy="128016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2395728"/>
            <a:ext cx="640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F2A37"/>
                </a:solidFill>
                <a:latin typeface="微软雅黑"/>
                <a:ea typeface="微软雅黑"/>
              </a:rP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2395728"/>
            <a:ext cx="16916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5A6B7B"/>
                </a:solidFill>
                <a:latin typeface="微软雅黑"/>
                <a:ea typeface="微软雅黑"/>
              </a:rPr>
              <a:t>macOS + Linux 双平台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2779776"/>
            <a:ext cx="21945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A37"/>
                </a:solidFill>
                <a:latin typeface="微软雅黑"/>
                <a:ea typeface="微软雅黑"/>
              </a:rPr>
              <a:t>TAPE3 光谱数据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0" y="2843784"/>
            <a:ext cx="6583680" cy="128016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0" y="2843784"/>
            <a:ext cx="6583680" cy="128016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2779776"/>
            <a:ext cx="640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F2A37"/>
                </a:solidFill>
                <a:latin typeface="微软雅黑"/>
                <a:ea typeface="微软雅黑"/>
              </a:rPr>
              <a:t>100%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2779776"/>
            <a:ext cx="16916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5A6B7B"/>
                </a:solidFill>
                <a:latin typeface="微软雅黑"/>
                <a:ea typeface="微软雅黑"/>
              </a:rPr>
              <a:t>已下载转二进制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3163824"/>
            <a:ext cx="21945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A37"/>
                </a:solidFill>
                <a:latin typeface="微软雅黑"/>
                <a:ea typeface="微软雅黑"/>
              </a:rPr>
              <a:t>Sₐ 协方差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0" y="3227832"/>
            <a:ext cx="6583680" cy="128016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0" y="3227832"/>
            <a:ext cx="5266944" cy="128016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18320" y="3163824"/>
            <a:ext cx="640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F2A37"/>
                </a:solidFill>
                <a:latin typeface="微软雅黑"/>
                <a:ea typeface="微软雅黑"/>
              </a:rPr>
              <a:t>80%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3163824"/>
            <a:ext cx="16916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5A6B7B"/>
                </a:solidFill>
                <a:latin typeface="微软雅黑"/>
                <a:ea typeface="微软雅黑"/>
              </a:rPr>
              <a:t>v4-derived Sₐ 已生成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3547872"/>
            <a:ext cx="21945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A37"/>
                </a:solidFill>
                <a:latin typeface="微软雅黑"/>
                <a:ea typeface="微软雅黑"/>
              </a:rPr>
              <a:t>EOF/PCA 降维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0" y="3611879"/>
            <a:ext cx="6583680" cy="128016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0" y="3611879"/>
            <a:ext cx="3950208" cy="128016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8320" y="3547872"/>
            <a:ext cx="640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F2A37"/>
                </a:solidFill>
                <a:latin typeface="微软雅黑"/>
                <a:ea typeface="微软雅黑"/>
              </a:rPr>
              <a:t>60%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3547872"/>
            <a:ext cx="16916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5A6B7B"/>
                </a:solidFill>
                <a:latin typeface="微软雅黑"/>
                <a:ea typeface="微软雅黑"/>
              </a:rPr>
              <a:t>基础就绪，10d 待优化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352" y="3931920"/>
            <a:ext cx="21945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A37"/>
                </a:solidFill>
                <a:latin typeface="微软雅黑"/>
                <a:ea typeface="微软雅黑"/>
              </a:rPr>
              <a:t>LWC 云天 OEM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0" y="3995928"/>
            <a:ext cx="6583680" cy="128016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743200" y="3995928"/>
            <a:ext cx="2633472" cy="128016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18320" y="3931920"/>
            <a:ext cx="640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F2A37"/>
                </a:solidFill>
                <a:latin typeface="微软雅黑"/>
                <a:ea typeface="微软雅黑"/>
              </a:rPr>
              <a:t>40%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0" y="3931920"/>
            <a:ext cx="16916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5A6B7B"/>
                </a:solidFill>
                <a:latin typeface="微软雅黑"/>
                <a:ea typeface="微软雅黑"/>
              </a:rPr>
              <a:t>21d synthetic 实验完成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0352" y="4315968"/>
            <a:ext cx="21945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A37"/>
                </a:solidFill>
                <a:latin typeface="微软雅黑"/>
                <a:ea typeface="微软雅黑"/>
              </a:rPr>
              <a:t>ERA5 气压层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0" y="4379976"/>
            <a:ext cx="6583680" cy="128016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743200" y="4379976"/>
            <a:ext cx="329184" cy="128016"/>
          </a:xfrm>
          <a:prstGeom prst="rect">
            <a:avLst/>
          </a:prstGeom>
          <a:solidFill>
            <a:srgbClr val="5A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18320" y="4315968"/>
            <a:ext cx="640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F2A37"/>
                </a:solidFill>
                <a:latin typeface="微软雅黑"/>
                <a:ea typeface="微软雅黑"/>
              </a:rPr>
              <a:t>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0" y="4315968"/>
            <a:ext cx="16916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5A6B7B"/>
                </a:solidFill>
                <a:latin typeface="微软雅黑"/>
                <a:ea typeface="微软雅黑"/>
              </a:rPr>
              <a:t>47/2556 天（CDS 3 天窗口）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" y="4700016"/>
            <a:ext cx="21945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A37"/>
                </a:solidFill>
                <a:latin typeface="微软雅黑"/>
                <a:ea typeface="微软雅黑"/>
              </a:rPr>
              <a:t>BRNN+OEM 桥接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0" y="4764024"/>
            <a:ext cx="6583680" cy="128016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743200" y="4764024"/>
            <a:ext cx="329184" cy="128016"/>
          </a:xfrm>
          <a:prstGeom prst="rect">
            <a:avLst/>
          </a:prstGeom>
          <a:solidFill>
            <a:srgbClr val="5A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18320" y="4700016"/>
            <a:ext cx="640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F2A37"/>
                </a:solidFill>
                <a:latin typeface="微软雅黑"/>
                <a:ea typeface="微软雅黑"/>
              </a:rPr>
              <a:t>5%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8400" y="4700016"/>
            <a:ext cx="16916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5A6B7B"/>
                </a:solidFill>
                <a:latin typeface="微软雅黑"/>
                <a:ea typeface="微软雅黑"/>
              </a:rPr>
              <a:t>待 MP-3000A Obs_BT 数据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30352" y="5257800"/>
            <a:ext cx="5577840" cy="347472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30352" y="5605272"/>
            <a:ext cx="5577840" cy="1024128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5257800"/>
            <a:ext cx="53949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▍ 主要风险与瓶颈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" y="5678424"/>
            <a:ext cx="5358384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050" b="0" i="0">
                <a:solidFill>
                  <a:srgbClr val="E87A1E"/>
                </a:solidFill>
                <a:latin typeface="微软雅黑"/>
                <a:ea typeface="微软雅黑"/>
              </a:rPr>
              <a:t>● </a:t>
            </a:r>
            <a:r>
              <a:rPr sz="1050" b="0" i="0">
                <a:solidFill>
                  <a:srgbClr val="1F2A37"/>
                </a:solidFill>
                <a:latin typeface="微软雅黑"/>
                <a:ea typeface="微软雅黑"/>
              </a:rPr>
              <a:t>BRNN+OEM 桥接被通道不一致 + 缺 Obs_BT 阻塞。</a:t>
            </a: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050" b="0" i="0">
                <a:solidFill>
                  <a:srgbClr val="E87A1E"/>
                </a:solidFill>
                <a:latin typeface="微软雅黑"/>
                <a:ea typeface="微软雅黑"/>
              </a:rPr>
              <a:t>● </a:t>
            </a:r>
            <a:r>
              <a:rPr sz="1050" b="0" i="0">
                <a:solidFill>
                  <a:srgbClr val="1F2A37"/>
                </a:solidFill>
                <a:latin typeface="微软雅黑"/>
                <a:ea typeface="微软雅黑"/>
              </a:rPr>
              <a:t>MonoRTM 单廓线 ~7s，大样本需 surrogate。</a:t>
            </a: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050" b="0" i="0">
                <a:solidFill>
                  <a:srgbClr val="E87A1E"/>
                </a:solidFill>
                <a:latin typeface="微软雅黑"/>
                <a:ea typeface="微软雅黑"/>
              </a:rPr>
              <a:t>● </a:t>
            </a:r>
            <a:r>
              <a:rPr sz="1050" b="0" i="0">
                <a:solidFill>
                  <a:srgbClr val="1F2A37"/>
                </a:solidFill>
                <a:latin typeface="微软雅黑"/>
                <a:ea typeface="微软雅黑"/>
              </a:rPr>
              <a:t>高空 DOFS 低、小样本、探空时间差 1-2h。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45352" y="5257800"/>
            <a:ext cx="5440680" cy="347472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45352" y="5605272"/>
            <a:ext cx="5440680" cy="1024128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55080" y="5257800"/>
            <a:ext cx="52578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▍ 下一步（P0/P1）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73368" y="5678424"/>
            <a:ext cx="5221224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050" b="0" i="0">
                <a:solidFill>
                  <a:srgbClr val="E87A1E"/>
                </a:solidFill>
                <a:latin typeface="微软雅黑"/>
                <a:ea typeface="微软雅黑"/>
              </a:rPr>
              <a:t>● </a:t>
            </a:r>
            <a:r>
              <a:rPr sz="1050" b="0" i="0">
                <a:solidFill>
                  <a:srgbClr val="1F2A37"/>
                </a:solidFill>
                <a:latin typeface="微软雅黑"/>
                <a:ea typeface="微软雅黑"/>
              </a:rPr>
              <a:t>P0：成都 21ch ARTS OEM baseline（n=100/200/500）。</a:t>
            </a: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050" b="0" i="0">
                <a:solidFill>
                  <a:srgbClr val="E87A1E"/>
                </a:solidFill>
                <a:latin typeface="微软雅黑"/>
                <a:ea typeface="微软雅黑"/>
              </a:rPr>
              <a:t>● </a:t>
            </a:r>
            <a:r>
              <a:rPr sz="1050" b="0" i="0">
                <a:solidFill>
                  <a:srgbClr val="1F2A37"/>
                </a:solidFill>
                <a:latin typeface="微软雅黑"/>
                <a:ea typeface="微软雅黑"/>
              </a:rPr>
              <a:t>P1：Sₐ 三层递进 + BRNN 先验桥接 + EOF 10d/14d 对照。</a:t>
            </a: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050" b="0" i="0">
                <a:solidFill>
                  <a:srgbClr val="E87A1E"/>
                </a:solidFill>
                <a:latin typeface="微软雅黑"/>
                <a:ea typeface="微软雅黑"/>
              </a:rPr>
              <a:t>● </a:t>
            </a:r>
            <a:r>
              <a:rPr sz="1050" b="0" i="0">
                <a:solidFill>
                  <a:srgbClr val="1F2A37"/>
                </a:solidFill>
                <a:latin typeface="微软雅黑"/>
                <a:ea typeface="微软雅黑"/>
              </a:rPr>
              <a:t>P2：NN surrogate + LWC 云天 + 不确定度校准。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72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微软雅黑"/>
                <a:ea typeface="微软雅黑"/>
              </a:rPr>
              <a:t>总结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640080" cy="64008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554480"/>
            <a:ext cx="10241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7285E"/>
                </a:solidFill>
                <a:latin typeface="微软雅黑"/>
                <a:ea typeface="微软雅黑"/>
              </a:rPr>
              <a:t>BRNN 统计反演已达论文基准之上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6596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F2A37"/>
                </a:solidFill>
                <a:latin typeface="微软雅黑"/>
                <a:ea typeface="微软雅黑"/>
              </a:rPr>
              <a:t>v4 实现 T=1.26K、RH=7.76%，六轮迭代明确了 Obs_BT 直接训练、廓线分组防泄露、Winsorize 订正等关键决策。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834640"/>
            <a:ext cx="640080" cy="64008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83464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788920"/>
            <a:ext cx="10241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7285E"/>
                </a:solidFill>
                <a:latin typeface="微软雅黑"/>
                <a:ea typeface="微软雅黑"/>
              </a:rPr>
              <a:t>OEM 物理反演框架闭环完成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20040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F2A37"/>
                </a:solidFill>
                <a:latin typeface="微软雅黑"/>
                <a:ea typeface="微软雅黑"/>
              </a:rPr>
              <a:t>ARTS 切换为主前向后端；MonoRTM n=100 self-consistent 基线 T=2.02K、DOFS=2.21、收敛 99%，并完成 AK/后验诊断。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069080"/>
            <a:ext cx="640080" cy="64008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0690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023360"/>
            <a:ext cx="10241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7285E"/>
                </a:solidFill>
                <a:latin typeface="微软雅黑"/>
                <a:ea typeface="微软雅黑"/>
              </a:rPr>
              <a:t>成都真实数据链路打通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43484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F2A37"/>
                </a:solidFill>
                <a:latin typeface="微软雅黑"/>
                <a:ea typeface="微软雅黑"/>
              </a:rPr>
              <a:t>21 通道实测亮温 + ERA5 精确配对首次实现 T/RH 同优于气候态；物理 48 层经温江探空独立验证确立为新基线。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532120"/>
            <a:ext cx="11064240" cy="86868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07285E"/>
                </a:solidFill>
                <a:latin typeface="微软雅黑"/>
                <a:ea typeface="微软雅黑"/>
              </a:rPr>
              <a:t>下一阶段重心：从「能不能做 OEM」转向提升真实物理可信度与工程可扩展性 —— ARTS baseline、Sₐ/状态向量优化、NN surrogate 加速与不确定度校准、云天 OEM。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5A6B7B"/>
                </a:solidFill>
                <a:latin typeface="微软雅黑"/>
                <a:ea typeface="微软雅黑"/>
              </a:rPr>
              <a:t>感谢聆听  ·  欢迎指正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