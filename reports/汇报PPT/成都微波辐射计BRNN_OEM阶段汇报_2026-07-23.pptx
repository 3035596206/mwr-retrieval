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a3f375d48d46b0" /><Relationship Type="http://schemas.openxmlformats.org/officeDocument/2006/relationships/extended-properties" Target="/docProps/app.xml" Id="R6be0ae9c061a40e4" /><Relationship Type="http://schemas.openxmlformats.org/officeDocument/2006/relationships/officeDocument" Target="/ppt/presentation.xml" Id="Re0bcbf81a2f1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e9d047b8c42cf"/>
  </p:sldMasterIdLst>
  <p:notesMasterIdLst>
    <p:notesMasterId xmlns:r="http://schemas.openxmlformats.org/officeDocument/2006/relationships" r:id="R7baf7149dbaf459c"/>
  </p:notesMasterIdLst>
  <p:sldIdLst>
    <p:sldId xmlns:r="http://schemas.openxmlformats.org/officeDocument/2006/relationships" id="256" r:id="Rd3e266fe27424940"/>
    <p:sldId xmlns:r="http://schemas.openxmlformats.org/officeDocument/2006/relationships" id="257" r:id="Ra6c67119831c44ef"/>
    <p:sldId xmlns:r="http://schemas.openxmlformats.org/officeDocument/2006/relationships" id="258" r:id="R09407aca690d42d9"/>
    <p:sldId xmlns:r="http://schemas.openxmlformats.org/officeDocument/2006/relationships" id="259" r:id="Rf27d1072ed374657"/>
    <p:sldId xmlns:r="http://schemas.openxmlformats.org/officeDocument/2006/relationships" id="260" r:id="R4c388e5ce4734ea3"/>
    <p:sldId xmlns:r="http://schemas.openxmlformats.org/officeDocument/2006/relationships" id="261" r:id="R31da23569be44d11"/>
    <p:sldId xmlns:r="http://schemas.openxmlformats.org/officeDocument/2006/relationships" id="262" r:id="R0cdd860f86834337"/>
    <p:sldId xmlns:r="http://schemas.openxmlformats.org/officeDocument/2006/relationships" id="263" r:id="Re0890d73cb0d440a"/>
    <p:sldId xmlns:r="http://schemas.openxmlformats.org/officeDocument/2006/relationships" id="264" r:id="R7f0b2d506a734441"/>
    <p:sldId xmlns:r="http://schemas.openxmlformats.org/officeDocument/2006/relationships" id="265" r:id="R7aba0a38bed84be9"/>
    <p:sldId xmlns:r="http://schemas.openxmlformats.org/officeDocument/2006/relationships" id="266" r:id="Rff758c4c96814210"/>
    <p:sldId xmlns:r="http://schemas.openxmlformats.org/officeDocument/2006/relationships" id="267" r:id="Ra7fad42526764ccc"/>
    <p:sldId xmlns:r="http://schemas.openxmlformats.org/officeDocument/2006/relationships" id="268" r:id="Rfd94f378eb004a47"/>
    <p:sldId xmlns:r="http://schemas.openxmlformats.org/officeDocument/2006/relationships" id="269" r:id="R76846ef900694a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46641c5b0c43a0" /><Relationship Type="http://schemas.openxmlformats.org/officeDocument/2006/relationships/slideMaster" Target="/ppt/slideMasters/slideMaster1.xml" Id="Ra1be9d047b8c42cf" /><Relationship Type="http://schemas.openxmlformats.org/officeDocument/2006/relationships/notesMaster" Target="/ppt/notesMasters/notesMaster1.xml" Id="R7baf7149dbaf459c" /><Relationship Type="http://schemas.openxmlformats.org/officeDocument/2006/relationships/presProps" Target="/ppt/presProps.xml" Id="R1c57cb08022e49eb" /><Relationship Type="http://schemas.openxmlformats.org/officeDocument/2006/relationships/viewProps" Target="/ppt/viewProps.xml" Id="R719f282ab1a647c6" /><Relationship Type="http://schemas.openxmlformats.org/officeDocument/2006/relationships/tableStyles" Target="/ppt/tableStyles.xml" Id="R0258bd34f24c4f95" /><Relationship Type="http://schemas.openxmlformats.org/officeDocument/2006/relationships/slide" Target="/ppt/slides/slide1.xml" Id="Rd3e266fe27424940" /><Relationship Type="http://schemas.openxmlformats.org/officeDocument/2006/relationships/slide" Target="/ppt/slides/slide2.xml" Id="Ra6c67119831c44ef" /><Relationship Type="http://schemas.openxmlformats.org/officeDocument/2006/relationships/slide" Target="/ppt/slides/slide3.xml" Id="R09407aca690d42d9" /><Relationship Type="http://schemas.openxmlformats.org/officeDocument/2006/relationships/slide" Target="/ppt/slides/slide4.xml" Id="Rf27d1072ed374657" /><Relationship Type="http://schemas.openxmlformats.org/officeDocument/2006/relationships/slide" Target="/ppt/slides/slide5.xml" Id="R4c388e5ce4734ea3" /><Relationship Type="http://schemas.openxmlformats.org/officeDocument/2006/relationships/slide" Target="/ppt/slides/slide6.xml" Id="R31da23569be44d11" /><Relationship Type="http://schemas.openxmlformats.org/officeDocument/2006/relationships/slide" Target="/ppt/slides/slide7.xml" Id="R0cdd860f86834337" /><Relationship Type="http://schemas.openxmlformats.org/officeDocument/2006/relationships/slide" Target="/ppt/slides/slide8.xml" Id="Re0890d73cb0d440a" /><Relationship Type="http://schemas.openxmlformats.org/officeDocument/2006/relationships/slide" Target="/ppt/slides/slide9.xml" Id="R7f0b2d506a734441" /><Relationship Type="http://schemas.openxmlformats.org/officeDocument/2006/relationships/slide" Target="/ppt/slides/slide10.xml" Id="R7aba0a38bed84be9" /><Relationship Type="http://schemas.openxmlformats.org/officeDocument/2006/relationships/slide" Target="/ppt/slides/slide11.xml" Id="Rff758c4c96814210" /><Relationship Type="http://schemas.openxmlformats.org/officeDocument/2006/relationships/slide" Target="/ppt/slides/slide12.xml" Id="Ra7fad42526764ccc" /><Relationship Type="http://schemas.openxmlformats.org/officeDocument/2006/relationships/slide" Target="/ppt/slides/slide13.xml" Id="Rfd94f378eb004a47" /><Relationship Type="http://schemas.openxmlformats.org/officeDocument/2006/relationships/slide" Target="/ppt/slides/slide14.xml" Id="R76846ef90069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44073818b4e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28b81a52e74235" /><Relationship Type="http://schemas.openxmlformats.org/officeDocument/2006/relationships/notesMaster" Target="/ppt/notesMasters/notesMaster1.xml" Id="R4c1ed2afb823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46646036d74db6" /><Relationship Type="http://schemas.openxmlformats.org/officeDocument/2006/relationships/notesMaster" Target="/ppt/notesMasters/notesMaster1.xml" Id="R5c78b2c2bb57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0607f5aa604393" /><Relationship Type="http://schemas.openxmlformats.org/officeDocument/2006/relationships/notesMaster" Target="/ppt/notesMasters/notesMaster1.xml" Id="R1318eb1374b34c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03091753f94c2e" /><Relationship Type="http://schemas.openxmlformats.org/officeDocument/2006/relationships/notesMaster" Target="/ppt/notesMasters/notesMaster1.xml" Id="Rb024913a913640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99efebe404b8f" /><Relationship Type="http://schemas.openxmlformats.org/officeDocument/2006/relationships/notesMaster" Target="/ppt/notesMasters/notesMaster1.xml" Id="R94a4a3d38c984e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2cffdc26941fe" /><Relationship Type="http://schemas.openxmlformats.org/officeDocument/2006/relationships/notesMaster" Target="/ppt/notesMasters/notesMaster1.xml" Id="Rad3b2571785c4d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d51dc12310442e" /><Relationship Type="http://schemas.openxmlformats.org/officeDocument/2006/relationships/notesMaster" Target="/ppt/notesMasters/notesMaster1.xml" Id="R2c6fbb3dc936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f7a4904dc845f7" /><Relationship Type="http://schemas.openxmlformats.org/officeDocument/2006/relationships/notesMaster" Target="/ppt/notesMasters/notesMaster1.xml" Id="R8d2b41b197554d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58c3388e384666" /><Relationship Type="http://schemas.openxmlformats.org/officeDocument/2006/relationships/notesMaster" Target="/ppt/notesMasters/notesMaster1.xml" Id="R1d94a10fcfb843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38cb35af384891" /><Relationship Type="http://schemas.openxmlformats.org/officeDocument/2006/relationships/notesMaster" Target="/ppt/notesMasters/notesMaster1.xml" Id="R0fed65bb961243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a13bbdb6d746e1" /><Relationship Type="http://schemas.openxmlformats.org/officeDocument/2006/relationships/notesMaster" Target="/ppt/notesMasters/notesMaster1.xml" Id="R0e7b0089b2bf4a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c8c87c7ae5450a" /><Relationship Type="http://schemas.openxmlformats.org/officeDocument/2006/relationships/notesMaster" Target="/ppt/notesMasters/notesMaster1.xml" Id="R7eeda7370b2540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5d3e22fe794dce" /><Relationship Type="http://schemas.openxmlformats.org/officeDocument/2006/relationships/notesMaster" Target="/ppt/notesMasters/notesMaster1.xml" Id="Rd055fdd80d1a42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01748da7224312" /><Relationship Type="http://schemas.openxmlformats.org/officeDocument/2006/relationships/notesMaster" Target="/ppt/notesMasters/notesMaster1.xml" Id="R8bedbfb6e378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d66cb5d404a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1da29b4b945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055134e5a46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2c2839d7743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d8bfa454843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2a8696cab46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f8e8c6ccb485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b368752c8486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ed762d77642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8541b4796444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1ee85cfcd433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AC05EE-F0EF-4339-845D-04CCAAA047E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1E80499-0254-4554-8C4D-9BC11AF0C8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F6DF941-6F38-4063-AC22-7F56836DB4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56EEF0-48F6-4953-B5EA-934F772918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F8CB25-32C9-4942-B269-6D80960FF0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96400" y="6356352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CE17C2-4B19-4AE8-86D2-22C7993BE1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F38C156-1BE1-4AE8-8D43-B2FD698B4F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B96737E-5DC6-473F-92CF-933737CA58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50C1CC-B11F-45B7-B732-F22E5A3A1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A9230D8-F9A6-46FE-B990-36DB692D9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AA4A89E-F592-4C8B-A663-879B520C2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40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ED3B824-6C29-4B94-AF1C-D579C86D1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767A2A7-AD70-4353-8CF3-1ED3A3265F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E9ED0A-4062-417A-AD87-6E080AFECB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6F55B9-BFF6-4902-96D1-AD8FC69BF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495295-F8B5-4F3D-9D3D-169BD4227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60FE12E-6122-4C31-AF95-793E5205F9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0490BB3-6CAE-4273-9C9C-E0B6FAD4BC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BE734BB-6C86-476B-BE7B-1BCB73EF5C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62AEF30-47C4-4C3A-A725-3E2EFDE2D7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A028D51-7CFE-48A0-9AFB-2751253A5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B6EEAC-8551-4CC7-9C5B-A29F21BA2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7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1AEC71E-F98B-489E-A08A-61C3974465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AB91237-03B6-4F34-B030-2B0147F633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0BFD834-525E-4972-8B6E-07148646D51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85456C7-059E-43A3-BB50-4EB4464649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9B2DF65-2738-4929-8639-16B88F3254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D3DE413-1E67-4F59-A8B9-BF752E4436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0BE6508-2488-4FFF-A54F-26CE6D49FF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29525C-08CB-4E32-8313-AF4B080AF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C6F4DE6-6F82-475F-A31A-52780AB1E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B2943A8-0193-410D-872A-16D301BFDA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5F810B0-9DC5-4CAA-8A47-E2F304E1E2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5E7ADEE-DBE1-48A2-A78F-2E8A636815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C0E554A-5FF3-4436-A129-AB81B8824D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0D7B85F-F440-4B8E-B2A3-A1747BCF74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6E626E-0D18-4775-A2BD-B79CC2F18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0253096-45D1-4C05-B651-FFF82453AE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FACE2A6-6F6E-41BA-8E56-D11AB0568B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1AAE2DE-5A82-4D63-87A5-A8B4ED67EC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905BDA7-8DD4-4AB0-A1CB-10AB76FAAC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3105EA2-56FD-40AE-81D1-BC4CA35999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10BF53-BC5C-4C20-AF03-DBB7B9680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E094DDB-64B1-429F-8623-10F0D9F945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65C42DD-27F6-40DD-A1C7-BE0B961FF7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8C9FC7D-E5A9-47E7-8841-78EE8907D4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221550C-A2E8-4432-8B82-521E35105D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B2FF87F-9341-479B-AC71-D63D7ED1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CED986-85C4-4B7B-B560-C0BF1BE1B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A541BBA-209A-4724-BABE-AF6C0F5122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B436D95-6D77-4C86-A622-214CC23420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BDDCDED-D41B-4DC7-85FC-9833D4B51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D0D0C49-94A5-4C9E-97F4-943EC91AA4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3E5E6C6-BDB8-4992-8609-08A311543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B26724E-18B0-432D-B404-59C6E3DFFB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5A23773-1E03-4353-854F-74C3668538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DAB0A4-CCE8-40F3-B414-F392AA5B2B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9393FAA-389F-4795-AAE8-ED7AC3138D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3cd99fe8b4765" /><Relationship Type="http://schemas.openxmlformats.org/officeDocument/2006/relationships/slideLayout" Target="/ppt/slideLayouts/slideLayout1.xml" Id="R1cf7d4f9806a4718" /><Relationship Type="http://schemas.openxmlformats.org/officeDocument/2006/relationships/slideLayout" Target="/ppt/slideLayouts/slideLayout2.xml" Id="Rdd2ec8fee79349b0" /><Relationship Type="http://schemas.openxmlformats.org/officeDocument/2006/relationships/slideLayout" Target="/ppt/slideLayouts/slideLayout3.xml" Id="R144559f22395439d" /><Relationship Type="http://schemas.openxmlformats.org/officeDocument/2006/relationships/slideLayout" Target="/ppt/slideLayouts/slideLayout4.xml" Id="Rbb4bfd998b294b69" /><Relationship Type="http://schemas.openxmlformats.org/officeDocument/2006/relationships/slideLayout" Target="/ppt/slideLayouts/slideLayout5.xml" Id="R7488bd45c48d40a8" /><Relationship Type="http://schemas.openxmlformats.org/officeDocument/2006/relationships/slideLayout" Target="/ppt/slideLayouts/slideLayout6.xml" Id="R9e2d318375774e03" /><Relationship Type="http://schemas.openxmlformats.org/officeDocument/2006/relationships/slideLayout" Target="/ppt/slideLayouts/slideLayout7.xml" Id="R008c33ed63df4067" /><Relationship Type="http://schemas.openxmlformats.org/officeDocument/2006/relationships/slideLayout" Target="/ppt/slideLayouts/slideLayout8.xml" Id="Ree13ad1a1d194ad0" /><Relationship Type="http://schemas.openxmlformats.org/officeDocument/2006/relationships/slideLayout" Target="/ppt/slideLayouts/slideLayout9.xml" Id="R53f650842f0e46f6" /><Relationship Type="http://schemas.openxmlformats.org/officeDocument/2006/relationships/slideLayout" Target="/ppt/slideLayouts/slideLayout10.xml" Id="R1dc347eadc3b4309" /><Relationship Type="http://schemas.openxmlformats.org/officeDocument/2006/relationships/slideLayout" Target="/ppt/slideLayouts/slideLayout11.xml" Id="Rdf3b11eae26a42d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435EB7F-4C59-4ED8-973B-DE4E691A5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505F9B-E1B3-41A0-A1AA-1DDE09F893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313E0A-22DB-4C47-9BEE-C1B176828E8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A22BE39-8B49-4411-B98A-7FB18A173EB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5C6AD5-36E1-4674-B679-4BD9A7DAD8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7d4f9806a4718"/>
    <p:sldLayoutId xmlns:r="http://schemas.openxmlformats.org/officeDocument/2006/relationships" id="2147483650" r:id="Rdd2ec8fee79349b0"/>
    <p:sldLayoutId xmlns:r="http://schemas.openxmlformats.org/officeDocument/2006/relationships" id="2147483651" r:id="R144559f22395439d"/>
    <p:sldLayoutId xmlns:r="http://schemas.openxmlformats.org/officeDocument/2006/relationships" id="2147483652" r:id="Rbb4bfd998b294b69"/>
    <p:sldLayoutId xmlns:r="http://schemas.openxmlformats.org/officeDocument/2006/relationships" id="2147483653" r:id="R7488bd45c48d40a8"/>
    <p:sldLayoutId xmlns:r="http://schemas.openxmlformats.org/officeDocument/2006/relationships" id="2147483654" r:id="R9e2d318375774e03"/>
    <p:sldLayoutId xmlns:r="http://schemas.openxmlformats.org/officeDocument/2006/relationships" id="2147483655" r:id="R008c33ed63df4067"/>
    <p:sldLayoutId xmlns:r="http://schemas.openxmlformats.org/officeDocument/2006/relationships" id="2147483656" r:id="Ree13ad1a1d194ad0"/>
    <p:sldLayoutId xmlns:r="http://schemas.openxmlformats.org/officeDocument/2006/relationships" id="2147483657" r:id="R53f650842f0e46f6"/>
    <p:sldLayoutId xmlns:r="http://schemas.openxmlformats.org/officeDocument/2006/relationships" id="2147483658" r:id="R1dc347eadc3b4309"/>
    <p:sldLayoutId xmlns:r="http://schemas.openxmlformats.org/officeDocument/2006/relationships" id="2147483659" r:id="Rdf3b11eae26a42d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ad6324d4c4a2a" /><Relationship Type="http://schemas.openxmlformats.org/officeDocument/2006/relationships/image" Target="/ppt/media/image.png" Id="Re3e5323e56d34614" /><Relationship Type="http://schemas.openxmlformats.org/officeDocument/2006/relationships/image" Target="/ppt/media/image2.png" Id="R7f51f5dd56834766" /><Relationship Type="http://schemas.openxmlformats.org/officeDocument/2006/relationships/image" Target="/ppt/media/image3.png" Id="Rb53fe6f05e0c4de9" /><Relationship Type="http://schemas.openxmlformats.org/officeDocument/2006/relationships/notesSlide" Target="/ppt/notesSlides/notesSlide1.xml" Id="Rd36fe37d427e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d902400b841ba" /><Relationship Type="http://schemas.openxmlformats.org/officeDocument/2006/relationships/image" Target="/ppt/media/image.png" Id="Rff4e77bdf5e8432a" /><Relationship Type="http://schemas.openxmlformats.org/officeDocument/2006/relationships/image" Target="/ppt/media/image2.png" Id="R8266e77ee72d4bba" /><Relationship Type="http://schemas.openxmlformats.org/officeDocument/2006/relationships/image" Target="/ppt/media/image3.png" Id="R469cf917f4054ee8" /><Relationship Type="http://schemas.openxmlformats.org/officeDocument/2006/relationships/notesSlide" Target="/ppt/notesSlides/notesSlide2.xml" Id="Re8bba942a7c445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2fb53506a4755" /><Relationship Type="http://schemas.openxmlformats.org/officeDocument/2006/relationships/image" Target="/ppt/media/image.png" Id="R938fb7fcd2424503" /><Relationship Type="http://schemas.openxmlformats.org/officeDocument/2006/relationships/image" Target="/ppt/media/image2.png" Id="R2fc26f9247b546e5" /><Relationship Type="http://schemas.openxmlformats.org/officeDocument/2006/relationships/image" Target="/ppt/media/image3.png" Id="R2f86acb2322c4bf1" /><Relationship Type="http://schemas.openxmlformats.org/officeDocument/2006/relationships/notesSlide" Target="/ppt/notesSlides/notesSlide3.xml" Id="Ra70d7b974bd24a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f600ef9c54b21" /><Relationship Type="http://schemas.openxmlformats.org/officeDocument/2006/relationships/image" Target="/ppt/media/image.png" Id="Rb66c70dfde6e4544" /><Relationship Type="http://schemas.openxmlformats.org/officeDocument/2006/relationships/image" Target="/ppt/media/image2.png" Id="R0041994ac8434e3f" /><Relationship Type="http://schemas.openxmlformats.org/officeDocument/2006/relationships/image" Target="/ppt/media/image3.png" Id="R0b1cfd77a69846f7" /><Relationship Type="http://schemas.openxmlformats.org/officeDocument/2006/relationships/notesSlide" Target="/ppt/notesSlides/notesSlide4.xml" Id="R60c95cb0cee144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57f49cd034819" /><Relationship Type="http://schemas.openxmlformats.org/officeDocument/2006/relationships/image" Target="/ppt/media/image.png" Id="Refefb6dca0e84348" /><Relationship Type="http://schemas.openxmlformats.org/officeDocument/2006/relationships/image" Target="/ppt/media/image2.png" Id="Rc52e8dc9868c4d13" /><Relationship Type="http://schemas.openxmlformats.org/officeDocument/2006/relationships/image" Target="/ppt/media/image3.png" Id="R4ecbd31c9ecf42b8" /><Relationship Type="http://schemas.openxmlformats.org/officeDocument/2006/relationships/notesSlide" Target="/ppt/notesSlides/notesSlide5.xml" Id="Ra21dce3c754c47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32be712564cec" /><Relationship Type="http://schemas.openxmlformats.org/officeDocument/2006/relationships/image" Target="/ppt/media/image.png" Id="Rcfc0e1355a4f4c00" /><Relationship Type="http://schemas.openxmlformats.org/officeDocument/2006/relationships/image" Target="/ppt/media/image2.png" Id="Rb5d67c017e6c47f3" /><Relationship Type="http://schemas.openxmlformats.org/officeDocument/2006/relationships/image" Target="/ppt/media/image3.png" Id="R704328ce18d64b8a" /><Relationship Type="http://schemas.openxmlformats.org/officeDocument/2006/relationships/notesSlide" Target="/ppt/notesSlides/notesSlide6.xml" Id="Re78ca7bb69d241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dceb75b0247a7" /><Relationship Type="http://schemas.openxmlformats.org/officeDocument/2006/relationships/image" Target="/ppt/media/image.png" Id="Rb4e79f7757134a0e" /><Relationship Type="http://schemas.openxmlformats.org/officeDocument/2006/relationships/image" Target="/ppt/media/image2.png" Id="R011abc7d48004a26" /><Relationship Type="http://schemas.openxmlformats.org/officeDocument/2006/relationships/image" Target="/ppt/media/image3.png" Id="R558d535434f8415b" /><Relationship Type="http://schemas.openxmlformats.org/officeDocument/2006/relationships/notesSlide" Target="/ppt/notesSlides/notesSlide7.xml" Id="R999aa99ddea14b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5af82c7a24830" /><Relationship Type="http://schemas.openxmlformats.org/officeDocument/2006/relationships/image" Target="/ppt/media/image.png" Id="R99217f33e4074398" /><Relationship Type="http://schemas.openxmlformats.org/officeDocument/2006/relationships/image" Target="/ppt/media/image2.png" Id="R9e5e5e93f5984c1e" /><Relationship Type="http://schemas.openxmlformats.org/officeDocument/2006/relationships/image" Target="/ppt/media/image3.png" Id="Rfc4ae24e56e940bd" /><Relationship Type="http://schemas.openxmlformats.org/officeDocument/2006/relationships/chart" Target="/ppt/slides/charts/chart1.xml" Id="Re4c58ffc6b6c4e31" /><Relationship Type="http://schemas.openxmlformats.org/officeDocument/2006/relationships/notesSlide" Target="/ppt/notesSlides/notesSlide8.xml" Id="Rd02dfd2c163b4d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faa95f02e490e" /><Relationship Type="http://schemas.openxmlformats.org/officeDocument/2006/relationships/image" Target="/ppt/media/image.png" Id="R18f9fc31cb134216" /><Relationship Type="http://schemas.openxmlformats.org/officeDocument/2006/relationships/image" Target="/ppt/media/image2.png" Id="R3208e384baed45dd" /><Relationship Type="http://schemas.openxmlformats.org/officeDocument/2006/relationships/image" Target="/ppt/media/image3.png" Id="Rf984a63bf4704cc0" /><Relationship Type="http://schemas.openxmlformats.org/officeDocument/2006/relationships/chart" Target="/ppt/slides/charts/chart2.xml" Id="R0817d3a1fb2a4f00" /><Relationship Type="http://schemas.openxmlformats.org/officeDocument/2006/relationships/notesSlide" Target="/ppt/notesSlides/notesSlide9.xml" Id="Ra6a05008c39547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75c0be2a47e5" /><Relationship Type="http://schemas.openxmlformats.org/officeDocument/2006/relationships/image" Target="/ppt/media/image.png" Id="R6bcfc02c2147433b" /><Relationship Type="http://schemas.openxmlformats.org/officeDocument/2006/relationships/image" Target="/ppt/media/image2.png" Id="Rea1a3a0f1c8846e2" /><Relationship Type="http://schemas.openxmlformats.org/officeDocument/2006/relationships/image" Target="/ppt/media/image3.png" Id="R5a53c895c7e3488f" /><Relationship Type="http://schemas.openxmlformats.org/officeDocument/2006/relationships/chart" Target="/ppt/slides/charts/chart3.xml" Id="R972f586955184e5a" /><Relationship Type="http://schemas.openxmlformats.org/officeDocument/2006/relationships/notesSlide" Target="/ppt/notesSlides/notesSlide10.xml" Id="R5683317e43534f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c689616834a6c" /><Relationship Type="http://schemas.openxmlformats.org/officeDocument/2006/relationships/image" Target="/ppt/media/image.png" Id="Rf3809a6a207e4371" /><Relationship Type="http://schemas.openxmlformats.org/officeDocument/2006/relationships/image" Target="/ppt/media/image2.png" Id="Re745348899654752" /><Relationship Type="http://schemas.openxmlformats.org/officeDocument/2006/relationships/image" Target="/ppt/media/image3.png" Id="Rfecc77d220b34dcc" /><Relationship Type="http://schemas.openxmlformats.org/officeDocument/2006/relationships/notesSlide" Target="/ppt/notesSlides/notesSlide11.xml" Id="R2688de5a96134d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37e6b1c9e4bc3" /><Relationship Type="http://schemas.openxmlformats.org/officeDocument/2006/relationships/image" Target="/ppt/media/image.png" Id="R909c2a3f761c4197" /><Relationship Type="http://schemas.openxmlformats.org/officeDocument/2006/relationships/image" Target="/ppt/media/image2.png" Id="R87b76f9664784e0b" /><Relationship Type="http://schemas.openxmlformats.org/officeDocument/2006/relationships/image" Target="/ppt/media/image3.png" Id="R2181b48f35d64d91" /><Relationship Type="http://schemas.openxmlformats.org/officeDocument/2006/relationships/chart" Target="/ppt/slides/charts/chart4.xml" Id="Rc8809f1f282149bb" /><Relationship Type="http://schemas.openxmlformats.org/officeDocument/2006/relationships/notesSlide" Target="/ppt/notesSlides/notesSlide12.xml" Id="Rd9534e5e7e4d47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ad8d771e449a8" /><Relationship Type="http://schemas.openxmlformats.org/officeDocument/2006/relationships/image" Target="/ppt/media/image.png" Id="Rae3a430840784059" /><Relationship Type="http://schemas.openxmlformats.org/officeDocument/2006/relationships/image" Target="/ppt/media/image2.png" Id="Rba690c0a3639425f" /><Relationship Type="http://schemas.openxmlformats.org/officeDocument/2006/relationships/image" Target="/ppt/media/image3.png" Id="R2e9d44b187c74587" /><Relationship Type="http://schemas.openxmlformats.org/officeDocument/2006/relationships/notesSlide" Target="/ppt/notesSlides/notesSlide13.xml" Id="Red89f38a9c1a43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dc9850154f7a" /><Relationship Type="http://schemas.openxmlformats.org/officeDocument/2006/relationships/image" Target="/ppt/media/image.png" Id="R5f3842c8970e4924" /><Relationship Type="http://schemas.openxmlformats.org/officeDocument/2006/relationships/image" Target="/ppt/media/image2.png" Id="Rc077efab007248c7" /><Relationship Type="http://schemas.openxmlformats.org/officeDocument/2006/relationships/image" Target="/ppt/media/image3.png" Id="R92fedc9b5f3d4796" /><Relationship Type="http://schemas.openxmlformats.org/officeDocument/2006/relationships/notesSlide" Target="/ppt/notesSlides/notesSlide14.xml" Id="R7c60310a516b4f9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3"/>
              <c:pt idx="0">
                <c:v>旧模型直接迁移</c:v>
              </c:pt>
              <c:pt idx="1">
                <c:v>成都本地混合</c:v>
              </c:pt>
              <c:pt idx="2">
                <c:v>物理48层探空</c:v>
              </c:pt>
            </c:strLit>
          </c:cat>
          <c:val>
            <c:numLit>
              <c:formatCode>General</c:formatCode>
              <c:ptCount val="3"/>
              <c:pt idx="0">
                <c:v>29.376</c:v>
              </c:pt>
              <c:pt idx="1">
                <c:v>1.479</c:v>
              </c:pt>
              <c:pt idx="2">
                <c:v>1.532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3"/>
              <c:pt idx="0">
                <c:v>旧模型直接迁移</c:v>
              </c:pt>
              <c:pt idx="1">
                <c:v>成都本地混合</c:v>
              </c:pt>
              <c:pt idx="2">
                <c:v>物理48层探空</c:v>
              </c:pt>
            </c:strLit>
          </c:cat>
          <c:val>
            <c:numLit>
              <c:formatCode>General</c:formatCode>
              <c:ptCount val="3"/>
              <c:pt idx="0">
                <c:v>42.496</c:v>
              </c:pt>
              <c:pt idx="1">
                <c:v>20.966</c:v>
              </c:pt>
              <c:pt idx="2">
                <c:v>23.754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样本数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4"/>
              <c:pt idx="0">
                <c:v>训练</c:v>
              </c:pt>
              <c:pt idx="1">
                <c:v>验证</c:v>
              </c:pt>
              <c:pt idx="2">
                <c:v>测试</c:v>
              </c:pt>
              <c:pt idx="3">
                <c:v>独立探空</c:v>
              </c:pt>
            </c:strLit>
          </c:cat>
          <c:val>
            <c:numLit>
              <c:formatCode>General</c:formatCode>
              <c:ptCount val="4"/>
              <c:pt idx="0">
                <c:v>69</c:v>
              </c:pt>
              <c:pt idx="1">
                <c:v>22</c:v>
              </c:pt>
              <c:pt idx="2">
                <c:v>48</c:v>
              </c:pt>
              <c:pt idx="3">
                <c:v>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5"/>
              <c:pt idx="0">
                <c:v>全21ch</c:v>
              </c:pt>
              <c:pt idx="1">
                <c:v>前14ch</c:v>
              </c:pt>
              <c:pt idx="2">
                <c:v>高频7ch</c:v>
              </c:pt>
              <c:pt idx="3">
                <c:v>183GHz五通道</c:v>
              </c:pt>
              <c:pt idx="4">
                <c:v>平均廓线</c:v>
              </c:pt>
            </c:strLit>
          </c:cat>
          <c:val>
            <c:numLit>
              <c:formatCode>General</c:formatCode>
              <c:ptCount val="5"/>
              <c:pt idx="0">
                <c:v>2.613</c:v>
              </c:pt>
              <c:pt idx="1">
                <c:v>2.379</c:v>
              </c:pt>
              <c:pt idx="2">
                <c:v>2.898</c:v>
              </c:pt>
              <c:pt idx="3">
                <c:v>2.61</c:v>
              </c:pt>
              <c:pt idx="4">
                <c:v>2.284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5"/>
              <c:pt idx="0">
                <c:v>全21ch</c:v>
              </c:pt>
              <c:pt idx="1">
                <c:v>前14ch</c:v>
              </c:pt>
              <c:pt idx="2">
                <c:v>高频7ch</c:v>
              </c:pt>
              <c:pt idx="3">
                <c:v>183GHz五通道</c:v>
              </c:pt>
              <c:pt idx="4">
                <c:v>平均廓线</c:v>
              </c:pt>
            </c:strLit>
          </c:cat>
          <c:val>
            <c:numLit>
              <c:formatCode>General</c:formatCode>
              <c:ptCount val="5"/>
              <c:pt idx="0">
                <c:v>20.632</c:v>
              </c:pt>
              <c:pt idx="1">
                <c:v>21.085</c:v>
              </c:pt>
              <c:pt idx="2">
                <c:v>23.705</c:v>
              </c:pt>
              <c:pt idx="3">
                <c:v>24.149</c:v>
              </c:pt>
              <c:pt idx="4">
                <c:v>24.119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4"/>
              <c:pt idx="0">
                <c:v>0-2km</c:v>
              </c:pt>
              <c:pt idx="1">
                <c:v>2-5km</c:v>
              </c:pt>
              <c:pt idx="2">
                <c:v>5-8km</c:v>
              </c:pt>
              <c:pt idx="3">
                <c:v>8-10km</c:v>
              </c:pt>
            </c:strLit>
          </c:cat>
          <c:val>
            <c:numLit>
              <c:formatCode>General</c:formatCode>
              <c:ptCount val="4"/>
              <c:pt idx="0">
                <c:v>1.848</c:v>
              </c:pt>
              <c:pt idx="1">
                <c:v>1.222</c:v>
              </c:pt>
              <c:pt idx="2">
                <c:v>1.535</c:v>
              </c:pt>
              <c:pt idx="3">
                <c:v>1.218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4"/>
              <c:pt idx="0">
                <c:v>0-2km</c:v>
              </c:pt>
              <c:pt idx="1">
                <c:v>2-5km</c:v>
              </c:pt>
              <c:pt idx="2">
                <c:v>5-8km</c:v>
              </c:pt>
              <c:pt idx="3">
                <c:v>8-10km</c:v>
              </c:pt>
            </c:strLit>
          </c:cat>
          <c:val>
            <c:numLit>
              <c:formatCode>General</c:formatCode>
              <c:ptCount val="4"/>
              <c:pt idx="0">
                <c:v>11.624</c:v>
              </c:pt>
              <c:pt idx="1">
                <c:v>22.117</c:v>
              </c:pt>
              <c:pt idx="2">
                <c:v>32.553</c:v>
              </c:pt>
              <c:pt idx="3">
                <c:v>28.141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5323e56d3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815AC0-A936-4E51-A059-04F68A8A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1E2612F-F529-429E-9482-0A153D06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2DF7266-5541-43AA-96B9-4D2F3B53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AD0261-85A2-4C62-8D15-FE9DFEA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8BACBBF-781E-4E5E-8EAC-D9C76C64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1f5dd5683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153DD79-EA57-4E7C-83A1-C6217E87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fe6f05e0c4d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4667B7B-6BDE-4F92-898D-544B9188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3C3065-19BC-4280-8440-8BA614D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A8C4986-2DB5-4E11-A53F-2D8D198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28C3B193-49FD-48B0-B11B-BD1DE8B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56" y="2295846"/>
            <a:ext cx="105859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23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C22FE36-D563-4561-92AB-582E386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172" y="4170878"/>
            <a:ext cx="3755254" cy="19552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报 告 人：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导    师： 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年    级： 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A0D849F4-4997-4A63-BF10-E7035D31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42" y="3429000"/>
            <a:ext cx="4821247" cy="0"/>
          </a:xfrm>
          <a:prstGeom xmlns:a="http://schemas.openxmlformats.org/drawingml/2006/main" prst="line">
            <a:avLst/>
          </a:prstGeom>
          <a:ln xmlns:a="http://schemas.openxmlformats.org/drawingml/2006/main" w="19050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E82A13F0-240A-485A-9BC1-4918098D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889" y="3429002"/>
            <a:ext cx="5513313" cy="1754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C87EA01-B916-4647-A157-F9BA606A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11" y="99553"/>
            <a:ext cx="306651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5EE3D-2D1E-418D-9827-8FA445B6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9200"/>
            <a:ext cx="112395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E121C-939D-42F9-AA62-C69EAD92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65C"/>
                </a:solidFill>
              </a:defRPr>
            </a:pPr>
            <a:r>
              <a:rPr sz="2550" b="1">
                <a:solidFill>
                  <a:srgbClr val="16365C"/>
                </a:solidFill>
              </a:rPr>
              <a:t>神经网络与OEM融合的微波辐射计廓线反演研究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E6D8A-3FD7-4B17-BC3F-86FE10A6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476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FDD23-4EB7-4A2A-808E-041FFC26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成都站21通道实测亮温迁移测试、效果诊断与下一步方案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041F3B-A36C-42D5-91C6-5ADF3E7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阶段汇报 | 2026年7月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18497-9007-4113-B048-ED3A3924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汇报人：</a:t>
            </a:r>
          </a:p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导师：</a:t>
            </a:r>
          </a:p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年级：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367BA-440A-46DE-A0AC-D5343023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DE962-74AD-461F-B94B-5FA82B1C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A4004-63AF-4FDB-A447-467880A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阶段汇报</a:t>
            </a:r>
          </a:p>
        </p:txBody>
      </p:sp>
    </p:spTree>
    <p:extLst>
      <p:ext uri="{BB962C8B-B14F-4D97-AF65-F5344CB8AC3E}">
        <p14:creationId xmlns:p14="http://schemas.microsoft.com/office/powerpoint/2010/main" val="19727977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e77bdf5e843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F46E9A1-0D47-40E7-B425-1F7865BF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30AE710-1E10-4E57-A8F5-75B76BAE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EFF9558-7D8E-4CDC-BE7F-950376F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2BF97CC-096C-4290-A7DE-2A93977B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14D937A-4691-406D-8927-E42B325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6e77ee72d4b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40CC2CC-4B05-46EC-97DF-8C0F8A90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f917f4054e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5433F-D177-4856-9391-DC9C5EF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F7F4DFC-02D0-4AFB-864C-C37E8AE6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60737E6-2B70-4A6F-86AA-4F6279DA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258CFF8-5CBB-41F4-90F0-E811E5D8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88" y="96701"/>
            <a:ext cx="306651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汇 报 目 录</a:t>
            </a:r>
          </a:p>
        </p:txBody>
      </p:sp>
      <p:sp>
        <p:nvSpPr>
          <p:cNvPr id="25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ABF5CE0-58F4-4A03-B547-9A2C873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0" y="1641079"/>
            <a:ext cx="899795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内</a:t>
            </a:r>
          </a:p>
        </p:txBody>
      </p:sp>
      <p:sp>
        <p:nvSpPr>
          <p:cNvPr id="26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999D227-E680-4856-9306-409705EE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83" y="2169399"/>
            <a:ext cx="1560830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400" b="1"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容</a:t>
            </a:r>
          </a:p>
        </p:txBody>
      </p:sp>
      <p:sp>
        <p:nvSpPr>
          <p:cNvPr id="27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F58772C-A4C5-4BFC-87EF-45599FE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06342" y="4048364"/>
            <a:ext cx="3760470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400" b="1">
                <a:solidFill>
                  <a:srgbClr val="D9D9D9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28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0DEAB01-AF89-4960-927F-12BAAF95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5" y="1221552"/>
            <a:ext cx="689439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一、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           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研 究 背 景 及 意 义</a:t>
            </a:r>
          </a:p>
        </p:txBody>
      </p:sp>
      <p:sp>
        <p:nvSpPr>
          <p:cNvPr id="30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4807A14A-A084-4BCD-8160-D355DE95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978" y="2358943"/>
            <a:ext cx="689185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二、            国 内 外 研 究 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现 状</a:t>
            </a:r>
          </a:p>
        </p:txBody>
      </p:sp>
      <p:sp>
        <p:nvSpPr>
          <p:cNvPr id="31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FE17886-07EA-4311-B944-CBCC477A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5" y="3496334"/>
            <a:ext cx="6891853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三、            关键问题及研究内容</a:t>
            </a:r>
          </a:p>
        </p:txBody>
      </p:sp>
      <p:sp>
        <p:nvSpPr>
          <p:cNvPr id="32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8C8136E-859D-4FAD-9872-95899BB1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3" y="4633725"/>
            <a:ext cx="6891852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四、                拟 研 究 思 路</a:t>
            </a:r>
          </a:p>
        </p:txBody>
      </p:sp>
      <p:sp>
        <p:nvSpPr>
          <p:cNvPr id="24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434E420-7614-4E53-A635-F8B178E9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3" y="5771116"/>
            <a:ext cx="689185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五、        研 究 计 划 及 论 文 大 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63FD94-703C-4D55-918D-D4A9849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47750"/>
            <a:ext cx="80962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192AC5-F5AD-4C53-8167-80A3B2F1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C1FDE-5F2D-4539-B624-66B839A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6440FF-D6E3-4856-BCBC-B9F0C7E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汇报目录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637CAC-F938-4F20-9290-9F4FB0F8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00000"/>
                </a:solidFill>
              </a:defRPr>
            </a:pPr>
            <a:r>
              <a:rPr sz="2325" b="1">
                <a:solidFill>
                  <a:srgbClr val="C00000"/>
                </a:solidFill>
              </a:rPr>
              <a:t>内容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17C235-5C1A-4E80-8722-CEFF90DE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FBFBF"/>
                </a:solidFill>
              </a:defRPr>
            </a:pPr>
            <a:r>
              <a:rPr sz="1650" b="0">
                <a:solidFill>
                  <a:srgbClr val="BFBFBF"/>
                </a:solidFill>
              </a:rPr>
              <a:t>CONTENTS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1121A0-7120-47B2-AD10-C378B77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192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7696E-792E-49D5-AD1C-BB1652D8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33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一、    研究背景及国内外现状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747B13-D74C-49ED-8E3F-8524201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19325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DAD331-F527-4EF4-82D5-54460CC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二、    研究要解决的问题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156A5A-DE65-4004-9614-431267E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742D1C-5316-4BA1-906B-55D0BEAA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三、    成都迁移与当前结果分析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7B608B-88BA-498E-9566-CDA6983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3EC5A7-1317-4007-9959-6BAFA28D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338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四、    结果不合适的原因诊断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0A700E-445C-43DC-A7F8-0818D06B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197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B8C100-FFCC-418D-AB57-BC0E74D5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五、    后续改进方向与实施计划</a:t>
            </a:r>
          </a:p>
        </p:txBody>
      </p:sp>
    </p:spTree>
    <p:extLst>
      <p:ext uri="{BB962C8B-B14F-4D97-AF65-F5344CB8AC3E}">
        <p14:creationId xmlns:p14="http://schemas.microsoft.com/office/powerpoint/2010/main" val="18600854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fb7fcd242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26f9247b546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7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6acb2322c4b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7B624-0046-4489-A601-2BF83791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650157-E367-447E-ACA6-F842125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38AFE-9561-41F1-AF7F-564D1B2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研究现状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9277B-3430-4A4D-BE77-7A2F869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国内外研究正在从经验统计反演转向“物理前向 + 数据驱动”的融合框架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EA10C1-9A28-4454-815E-9981F80D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B18E5E-FC51-4152-ADD4-DAC6900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国外强调OEM/1DVAR、前向模型和不确定度闭环；国内近年更多使用多年站点资料训练机器学习模型，并开始关注偏差订正和资料同化。内容取向必须服务成都站本地化。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DCA34D-178C-4F30-8E3E-5CC3A810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C9E400-82CC-459B-9F18-9F0EF121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552582-EEEB-4E64-AB63-7C63CBC5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经典统计反演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B2B71C-6455-4F47-8142-2FF2ABD9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线性回归、厂商神经网络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依赖历史样本和本地气候统计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BEF5A9-05F6-4BCA-9707-89B2CF39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F509B2-5248-4875-B5B3-FFA7A662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DDB5A2-AB0A-4C0A-ADCA-BB69B7D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OEM / 1DVAR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294456-5E5F-4742-A205-5D32D016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Rodgers框架 + RTM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显式使用S_a / S_e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和敏感度矩阵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8CCC95-8830-4B58-AFC0-DD2ECAE1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54C5CA-228D-49C8-A5A6-0D376538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EF9B9D-FD48-4470-89D4-5C3D0587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机器学习反演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621DCE-AAB1-42D0-95A0-60A2882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DL / RF / XGBoost / BRNN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要求多年亮温-探空/再分析配对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732550-2286-43EB-BBCD-41B2E83C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2B4E36-CB65-435A-A9DC-F2144F90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D4E6D5-28E8-4C26-A9E5-FDF3ACFB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融合趋势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914EB1-3EC0-44D0-8419-FC7441E8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NN提供先验，OEM做物理修正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高频通道需可信RTM校验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71FE0E-B767-42F5-AA19-5C30E439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FBEED1-3B2F-452C-9BC9-1E36D690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26AA5E-D55C-4449-8EEA-DF0CBAC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439B3E-CBF0-4A8C-89C1-D0C6EF5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国内现状：广州4年资料ML对比、武汉9年资料ANN偏差订正、北方GMR/RTM模拟和资料同化均说明：样本量、QC、站点偏差订正是工程落地关键。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4F1D18-114E-47FF-A05A-8644986D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国外现状：HATPRO长期业务评估、复杂地形检验、雨天低层温度扫描角增强、PAMTRA/MonoRTM/RTTOV-gb等前向模型形成物理约束基础。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D21B0B-8AE9-4F9F-90ED-CAFB4AC1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来源：Rodgers 2000；Löhnert &amp; Maier 2012；Massaro et al. 2015；Remote Sens. 2023/2025；GMD 2020/2025；AMT 2024/2026。第14页列出链接。 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c70dfde6e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1994ac843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cfd77a69846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010926-9EA5-4244-A9DF-85375BEA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6D8D0-1F94-4453-9E9D-ABEDA13E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C5636D-410D-4BC6-8E1A-15AAFAB1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研究内容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23D60D-B433-4130-B130-F20B6D5D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本研究要解决的是：让成都站反演从“能跑”变成“可解释、可迁移、可物理约束”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A25A58-8295-45B6-8C60-BCF767F2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43FFC9-77EC-4106-82BB-FD77AD92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目标不是简单追求一次测试RMSE最低，而是建立能被探空验证、能进入OEM、能解释通道贡献的反演链路。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904D66-A8D6-4931-98C3-D536AF3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4C2D7D-DC63-4C9A-95C3-E3B2EF9D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64DBD-FFEC-419C-B5C2-BA3F92B9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问题1：站点迁移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02C603-93D4-4787-A2BE-C336DD1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旧站点/天津模型能否直接用到成都？如果不行，失败来自通道、气候还是标签？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C18F51-386C-4129-A979-B89283EF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982BE9-FB9E-4C74-9199-5D2EAA7D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2BF35E-B0C6-47F3-B5D0-0976BEB4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问题2：BRNN与OEM如何结合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7EDBB9-7267-44CC-AC2B-9CFCCA68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BRNN适合作为先验/first guess，还是直接输出最终廓线？OEM需要哪些误差协方差？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296405-F65D-42E7-B323-3D21745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26A624-3C67-4C07-8824-0EC8A40B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758EA4-7DE8-486C-ADF2-C21F4DF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问题3：21通道如何利用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275061-B938-41B8-8C85-24CD65EF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前14通道可接MonoRTM，高频89/183/229 GHz是否能稳定提升中高层湿度？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58C201-0B15-4F6C-A01C-7B103789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当前策略：先用成都本地数据训练稳定统计先验，再以前14通道接入MonoRTM/OEM；高频通道作为待验证增量信息，不提前放入物理反演闭环。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820588-2555-4C05-82D4-5B807724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项目依据：config.py、reports/进度记录/OEM阶段进度.md、成都ERA5精确配对训练与物理48层优化报告。 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fb6dca0e8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e8dc9868c4d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7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bd31c9ecf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3E1222-0552-4EF8-831C-455CF9CC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EE602-8562-44C5-915A-F3B21758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FAF8B-B3EB-468A-BEC5-B9E2BE7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方法路线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DB8571-A9AF-4668-9651-EBF9B3C5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推荐路线是“成都本地BRNN/Ridge先验 + 前14通道OEM修正 + 高频通道逐步验证”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066010-7834-4E2D-B40E-7EC72DF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A03724-FCDF-4196-977B-1C64A23B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BRNN不是直接替代OEM，而是提供更好的x_a；OEM再用前向模型和观测亮温残差进行物理校正。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489DEA-F31D-44CE-91A1-2487CA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395D79-16D0-42DA-8579-6FB3FB75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实测亮温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21通道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CF63AB-D8D6-487B-BD97-E8F24428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2EA8E9-FA73-4824-927A-8F016218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ERA5/探空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配对标签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419441-AE65-4532-8FFD-E2BAFF31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1C8FBB-CA5F-4863-99A3-CD47A3C8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Ridge/BRNN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成都先验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5285CF-394B-4B7E-9640-DFBE3D8F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7C6CD0-C688-429C-B0E5-C6BFBFD3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MonoRTM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前14通道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61429D-A0B4-4069-8D5B-C80AC70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3B35AF-12C7-4445-ADA1-E3206214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OEM</a:t>
            </a:r>
          </a:p>
          <a:p xmlns:a="http://schemas.openxmlformats.org/drawingml/2006/main"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物理修正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8918CE-636D-47A8-A7FC-6398BEF7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05125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8FAEAB-21BC-4B7C-A299-67DDE8F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05125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4E437E-E288-426D-A0AC-DCF450BA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FFCA98-3472-4FF0-8A7F-07A2F66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05125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6018A0-63C2-4D0B-BA33-217469F7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67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4E79"/>
                </a:solidFill>
              </a:defRPr>
            </a:pPr>
            <a:r>
              <a:rPr sz="1125" b="0">
                <a:solidFill>
                  <a:srgbClr val="1F4E79"/>
                </a:solidFill>
              </a:rPr>
              <a:t>S_a：由成都ERA5/探空误差统计估计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0BDEC4-36C2-46A2-827E-DEDAF33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67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0000"/>
                </a:solidFill>
              </a:defRPr>
            </a:pPr>
            <a:r>
              <a:rPr sz="1125" b="0">
                <a:solidFill>
                  <a:srgbClr val="C00000"/>
                </a:solidFill>
              </a:rPr>
              <a:t>S_e / OMB：由观测-模拟亮温偏差估计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1A1B2D-083F-4897-8B97-7A64F8F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208C67-B6B5-47EE-8162-2CF90904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0EF9D6-5A17-41AE-BD61-5D56B42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当前已完成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8E68FA-F1EE-4C38-86AB-5E312194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成都21通道配置、ERA5精确配对、本地训练、物理48层处理、独立探空评估。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AD6768-68D3-40C0-B22A-D98AF85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33FA50-EE65-497F-BE89-DE4C4E36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A287BF-5F5A-4016-8C0B-0E39FD25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下一步关键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122050-9E27-4626-B19B-71BA384B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补surface变量与QC，先跑前14通道真实观测OEM，再验证89/183/229 GHz。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0e1355a4f4c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7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67c017e6c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328ce18d64b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089A4D-073F-4AC4-996C-17C7D5C6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E01A1D-7C8C-4886-8331-0DF5BA27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2EB570-F13D-4B81-9DC1-301F05C1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数据资产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386343-B6EB-4690-A372-AD5EDC6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成都站数据链路已经打通，但样本规模仍不足以支撑强泛化神经网络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97A296-DAB5-4B3A-8BCA-B25AE67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D70041-F0B9-4E69-A97A-4A3C027F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当前训练样本只有69条，能做阶段验证，但不能作为最终部署精度证明。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CCBB66-805C-4854-B13F-27B81B91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21ED0D-8902-4460-8D75-41D52DED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实测亮温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340FCF-4FFC-495B-96D4-DC0FD9D4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163条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2A4305-D5B4-4DA7-9628-1AAF5465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2026-05-13至05-30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95952A-A5E3-490C-9A31-616E362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E83F88-EE80-4DD6-A862-23D4069D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ERA5同小时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C3854D-C242-4F22-B1E6-87D61E43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139条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FA13EF-32F4-42FC-B8BD-FCCF7995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严格UTC小时匹配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3CE1C3-BA3F-4AE2-BE78-4F7816D4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BCD128-1F14-45E0-ABB5-5EA6355F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训练样本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39C695-5DC0-47A3-87F3-215FD258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69条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18F289-9059-4F6B-9E61-BC97962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11天，日期划分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95047C-C1DE-4896-A4BB-E2FB6874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C6C0F5-161F-4FD8-A47D-E6A8F4A8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独立探空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F7D5C1-6D98-4126-AB2D-E30D3BD6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7C02"/>
                </a:solidFill>
              </a:defRPr>
            </a:pPr>
            <a:r>
              <a:rPr sz="2025" b="1">
                <a:solidFill>
                  <a:srgbClr val="C77C02"/>
                </a:solidFill>
              </a:rPr>
              <a:t>6份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32AAAD-D5D1-4B0B-8224-72D9EC51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亮温差1-2小时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7E9E55-94D5-447B-BCA5-3CC9DFA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98771B-A3C7-45F7-9172-7D2BB23A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通道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96B754-065E-422C-98B7-1D0AAF26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21个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DB238C-D671-43AF-AA66-E1B2FB3B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前14个兼容HATPRO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1EB7F9-E011-4BB6-9EEC-446E395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通道分组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323979-E17F-4A5D-B067-8B9B2116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A02C3F-97E3-4C33-A0DD-11D62401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K-band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0BDC93-6AD4-400F-9074-33E08186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22.24-31.40 GHz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D696E7-BD73-4ADA-999C-BB44BAC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水汽 / 液态水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EC79BC-61EF-48DC-9129-FE62791C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2910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21B51A-71AE-47BD-9523-FBEDA1F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</a:defRPr>
            </a:pPr>
            <a:r>
              <a:rPr sz="1200" b="1">
                <a:solidFill>
                  <a:srgbClr val="C00000"/>
                </a:solidFill>
              </a:rPr>
              <a:t>V-band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F3FAF4-12E0-4291-98E3-DECF1E03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51.26-58.00 GHz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119216-5847-4640-9246-D383D5A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温度廓线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9AD1B2-E92D-4C5D-951F-9F6D8FDB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29100"/>
            <a:ext cx="1285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8E1516-A780-4FB6-835D-277FEF31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338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A6A6"/>
                </a:solidFill>
              </a:defRPr>
            </a:pPr>
            <a:r>
              <a:rPr sz="1200" b="1">
                <a:solidFill>
                  <a:srgbClr val="A6A6A6"/>
                </a:solidFill>
              </a:rPr>
              <a:t>89 GHz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88A05D-3860-4727-8F0B-C944CCC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291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窗口通道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DEDA1E0-7D52-4EF1-9A20-C4D8B320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云液水 / 水汽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072CD3-C811-465E-A20A-DEE91C9F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2910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C1490D-49AE-44C4-ACE3-13FBAAF8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</a:defRPr>
            </a:pPr>
            <a:r>
              <a:rPr sz="1200" b="1">
                <a:solidFill>
                  <a:srgbClr val="2E7D32"/>
                </a:solidFill>
              </a:rPr>
              <a:t>183 GHz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64EF9C-0CF6-4517-A0AE-3B3E9AB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291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184.31-190.31 GHz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810988-BC28-4E10-A8FD-DA129F2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768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中高层湿度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A7F491-5448-48D7-9334-9D705F5A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29100"/>
            <a:ext cx="1285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7C0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968DDE-6BCF-4512-8DA2-7B346A69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338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C02"/>
                </a:solidFill>
              </a:defRPr>
            </a:pPr>
            <a:r>
              <a:rPr sz="1200" b="1">
                <a:solidFill>
                  <a:srgbClr val="C77C02"/>
                </a:solidFill>
              </a:rPr>
              <a:t>229 GHz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7C552A1-FEBE-484B-A87A-84AD3138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6291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高频窗口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E7F472-40DA-4DB2-8AEF-523936B3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7680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水汽 / 云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79f7757134a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abc7d48004a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9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d535434f841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F1D3A8-04A6-4DE6-8214-AD0F70B6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CB027D-36FB-40BC-BF71-B2CC56D3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185671-E6E5-457F-ABCC-FFAE2496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方法尝试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199158-4560-4600-B86B-2E7A564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OEM链路已经验证可行，但BRNN+OEM必须先解决通道自洽和误差协方差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AC40B2-41F3-4907-846D-80E902C7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E7C5BD-0B10-4E33-A644-C6452B8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非自洽前向模型会让OEM把温度拉坏，因此不能直接把旧BRNN输出和任意前向模型拼接。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7628FB-E658-442D-AABC-7141ECC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4CFCE9-2AFC-4979-AA01-96A4C167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E68323-21C8-4FCF-AEFF-8E0B1666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5CE05F-4060-4CAF-B70D-C620B65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T变化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FF5C4E-E794-4C5B-8D62-63195D4F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58B6C0-7214-4AE0-A08F-8FD8FB8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RH变化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0E21B-1909-41DD-A88A-4877B05F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EA6F21-B890-469E-AD93-255654B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BT residual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92E5EB-BB6B-48DB-9DA4-39B601E7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09A1DE-6E82-4817-8392-E68344C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AB1C45-33FB-4F5F-A8A4-4A24C3E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4D0DB3-03AC-4DA4-ACC8-7C32CC7F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Self-consistent simple RTM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02000A-0F6D-46BF-802A-0907D88C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4FF8E1-33D9-4066-8104-E27446D3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2.38→2.06K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899DDB-8092-4920-A92C-EDB55242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8D45D2-52E8-4429-B7B7-3E9D331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7.59→6.73%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C763D1-FCE3-47BB-910A-C331150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41CDDC-832A-4736-BB79-0C19061F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1.50→0.54K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26DF69-9A18-4A20-B10D-068B5804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EAFB23-14B2-40BD-96E9-52505696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算法闭环有效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E18143-503B-4FED-92A2-582F40A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1A4315-2C59-4E72-8902-DE1D9EF0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Self-consistent MonoRTM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4394E0-E1C7-447C-AB5E-FF74019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4B5530-1C88-45C8-B0C0-1006398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2.41→2.00K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5D72B8-CFC0-43CB-AB6A-9A853244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3DF37D-D6EF-499E-AD95-E6819C9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8.97→7.84%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4BFD2A-C7CD-4CDA-AC65-0A5D1AC4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39922A-E78D-4AC9-99ED-F7B6D44E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6.41→0.75K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07228E-3BF5-46EA-AE7B-EF297B65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58E7F6-3678-48C7-80EA-FA500B2C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物理链路有效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573788-4DF8-4EC1-A032-3FF66ECE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2179F9-02EC-4F17-9D0E-3429FFF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Non-self-consistent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B1B8B6-F6E3-4002-8E01-69737F1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E99A30-AF50-47D3-97E0-AF421B72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2.38→27.00K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7F3F4E-64CC-41FD-BE66-D2BB75CD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CEB3C99-8D5A-4B0E-A9C6-8425C80B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略改善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BBC57F-44D1-4CBB-9A1D-2EA6CBF1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EB567CA-23A4-47DA-A254-844CC79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22.92→20.15K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5BBEA8-E308-4100-9021-4611E74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95CA71-1C13-47B6-BDD0-046D2DA8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前向不匹配会崩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29F8D7-E374-4189-8C35-2DBE457C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544EF8-CD61-4898-9008-FA3A6CFF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9666C5-11E2-41AC-A970-801E3840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BRNN在融合框架中的角色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D52F26-EC1F-4293-98D0-F4B679C1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848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不建议直接作为最终真值输出；更适合给OEM提供成都本地x_a，并由S_a描述先验可信度。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3406913-CDC1-4C2F-8996-22B93ED8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99796E-6F5A-4DEA-B593-9084EB65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1377B93-8EA0-4580-92EF-6E5120A4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OEM在融合框架中的角色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4B4FD60-AD18-4529-9370-48557CF3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3848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不是万能修正器；必须先估计通道偏差、S_e和Jacobian，否则会把亮温残差解释成错误廓线。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17f33e4074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e5e93f598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ae24e56e940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98ABBF-482C-4DA7-B194-EC6F248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D9A03E-565D-441E-B86D-C55589E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F90633-2312-4612-8D66-3A2763D0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结果分析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1EBFE8-3689-43B4-A757-EB99489C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旧站点反演算法直接迁移到成都失败，本地重训后才形成可用基线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CBF40A-271D-46E9-8D47-BD822A3A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7EA6E-0FEC-4812-859F-19EB6198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这说明模型主要学到了站点-仪器-标签体系的联合分布，而不是可无条件跨站使用的通用反演函数。</a:t>
            </a:r>
          </a:p>
        </p:txBody>
      </p:sp>
      <p:graphicFrame>
        <p:nvGraphicFramePr>
          <p:cNvPr id="93" name="Chart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c58ffc6b6c4e31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BCBD38-572D-40AF-ABF6-768544F8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8BDD2C-C2E0-497B-A716-6F0A5B83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36CCC0-544C-4C36-9D89-44C212C8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32BB59-259E-43C4-9166-962EDCD8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F3FA3D-1C8B-4F0F-923C-D0CC7723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017FBC-BD04-4B12-89E2-A0FA54C2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050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284167-FC41-4133-A79C-F432F08E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B6AE43-8D65-4703-BA1D-7A2A297E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判断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8AC639-4B26-49FC-9EBD-99BA788A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860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9DB8F3-DF82-4068-A23E-8AB7A1E2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旧checkpoint迁移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E1220F-723D-46C1-A02C-F24999A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DFFF41-80B3-4DBF-8A11-621A628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32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29.376K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885E88-7B54-44F0-8F7D-90CB524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860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C319C9-3AD8-4DD2-B3C8-7C203294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432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42.496%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A237E6-B075-419E-96B6-1E3EC93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24FF12-44EF-440D-8AB3-0B4A3EB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不可用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B719C6-F9D2-4769-856E-E37ED48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FA1A99-7F8F-45B3-8B7C-A771046C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成都ERA5混合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2B6FDF-2AFC-4D9E-920B-F4EDA64E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42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F7EA59-6662-4559-846E-AF2F3B6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1.479K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06CE67-66E6-453A-A901-3F4305B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DE2476-D257-4773-BFAD-E5943932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813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20.966%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AFA476-373F-4298-92C6-2A8EF3A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D63C4F-F1FF-4121-A94A-BC47F374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阶段基线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A7C811-BC12-47F6-81DE-44C9EB12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CAE742-A605-4398-B907-5F7D696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物理48层探空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016D37-4E34-4F61-AC3E-05F7550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0B371B-3F17-4CDF-9F8C-6508C979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195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C7C487-387C-4011-93C9-19A156D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623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73BB6E-E8D3-4607-A921-24158BE8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195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88E448-4DF6-4E50-AF2A-F255DA1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A20FD8-7567-47AC-B851-9FA97EC7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OEM主网格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F0871C-B0DA-4EC6-ABC7-AF64535A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核心解释：跨站泛化失败不是单一模型问题，而是通道、亮温定标、地面海拔、气候水汽结构、垂直层定义和训练标签共同变化。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9fc31cb13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8e384baed45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1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4a63bf4704c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8CFF9-B487-4DA4-8E71-66B09E3F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BFD215-C7DC-4934-8AFC-44D45894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5F204E-A9D4-40C0-A9CA-A4AD694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原因诊断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E592C4-E74E-4764-B175-910D90E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当前结果“不合适”的第一原因是样本不足，第二原因是BRNN跨站泛化失效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91B354-CEAD-4FCE-A45A-8DB949EC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E70E69-169F-4BAC-BE4D-37A5080A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69条训练样本可以验证流程，但不足以训练稳定的深层非线性映射。</a:t>
            </a:r>
          </a:p>
        </p:txBody>
      </p:sp>
      <p:graphicFrame>
        <p:nvGraphicFramePr>
          <p:cNvPr id="72" name="Chart"/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41910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17d3a1fb2a4f00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B93E3D-6B0F-4515-B915-006FFD34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0901BB-F313-47AF-A54B-55EEB1ED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36E0AF-F289-469A-8D69-52A6FB54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098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训练样本要求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651ADB-641C-4C44-BC45-30AC9BFB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527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BRNN需要覆盖季节、天气型、湿度层结、云/雨和仪器状态；当前16天资料无法覆盖这些变化。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8E34AB-59E5-4949-AFCB-6C1F5C7B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9C8DFE-B369-4524-BA93-67685DF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3D6922-F453-4112-9441-F40CC33B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480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泛化失败表现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4FC688-DD14-4527-A6F2-52B74277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9095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旧模型迁移成都T RMSE达到29.376K，说明输入分布已经离开原训练域。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3F5985-44F1-4189-A796-67860931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1D8710-0DDF-4E7B-8B61-57785D4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837FA9-B625-42BD-A1BD-1CB2E62B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标签不确定性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F4FD87-261C-4F0E-9B33-7C7CE67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ERA5不是绝对真值；探空与亮温差1-2小时，对湿度尤其敏感。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fc02c214743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a3a0f1c8846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3c895c7e348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81EF2D-D71B-40A5-8489-8F886279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BE7F6-BC1E-493C-B5E4-CE03BBDD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78BDC1-08C1-4D8B-84BF-4224546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通道利用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4FC551-27F3-4B0D-A506-6E035D9E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21通道没有完全转化为有效信息，高频通道目前还不能直接证明稳定增益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5FF62C-C3CB-45E3-B04B-7572AB4D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086F85-2D3A-45C0-9BEF-629D1772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高频通道有物理潜力，但样本、QC和前向模型没有到位时，网络很容易学不到可靠贡献。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4953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2f586955184e5a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E66650-2F12-4141-9F21-6A4859A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判断：前14通道可先进入MonoRTM/OEM；89/183/229 GHz需要独立的前向模拟、OMB偏差和误差协方差验证。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09a6a207e43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5348899654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c77d220b34d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2C3495-0777-40CE-93B5-CA0AB2A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760DA1-5431-438F-A2F2-44630BAC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2E3E68-A469-4499-B6CE-B05EBE7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数据处理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68E11A-D0F2-466E-95E3-779676B7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物理48层优化提升了处理一致性，也让后续OEM状态向量更合理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213CFE-794F-4DB9-B270-BC8F63D6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32EDB6-CAE8-4D86-8847-37AF9F8B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真正的层平均替代简单高度点插值，同时删除地下ERA5气压层并用T/log(q)/log(P)处理湿度。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B78630-80EE-4A0A-923C-E1EA75EA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17BB12-AAD7-4375-984F-F7102B9E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模型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F5DED7-546B-4D16-9852-C518866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443B3-0C5D-445F-92EE-4867D10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B6C85-FA55-4252-9DAA-3B39194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D43FF3-E82F-4ABE-8D11-9A5A70B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526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F428D1-DF38-4755-BC96-D32C0F5F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32B068-7A86-4BDA-9192-3AA03E4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Bias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C3CB23-71D0-4D8B-8581-8BA313AD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8B867E-D5D9-4B7C-B704-EF06CE8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27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原93层映射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BA22D6-76BC-45F2-9CAA-461D5469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84BC09-1E50-4599-BCAA-301F51B7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1.730K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4569F5-81BE-4D25-8F8E-5E5FA973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955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44F9F4-5285-41AB-A835-73F23B87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527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23.685%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869842-499D-47B7-8BD5-CC289F0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95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108B21-6F43-4F1B-8FA9-5B610B0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-8.075%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E53F6D-5EBB-470B-BEB3-AD4B6DCF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E8C190-11D4-4CE9-AF18-79BFF9B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旧48点映射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835192-A679-4544-A3F9-FC1CBF2D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1EEE4C-BBFB-4D9A-B7B7-666F23B9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1.561K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D90F38-E57D-4534-A7C9-049136C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956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0284E9-C491-4D5F-A1D3-79F44FD9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527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25.260%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69CFFF-94EF-4310-9084-9DEC9C9A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C5987A-18CF-4CB2-BBC3-EAE85B8E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527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-9.867%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87EE10-7850-4838-8E71-36476753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F5E8ED-EA19-44C4-879A-8E5DE66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优化物理48层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6053DE-ADC7-4A82-9E14-D5AEA294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7D7F1C-B734-41A3-9BED-A8056EC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9087F1-DD4F-4201-8C08-96BB6509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956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35BFC3-110C-4A0A-BF72-1CEF2573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528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A7EE05-1DA1-4400-957E-6E1F6BA0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95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E8DBFB-CD36-4EDB-B18B-98C3A738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-7.502%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163118-DD56-4E8A-8A1C-078FBDFF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87A532-0413-4250-A2A0-83A81A25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9C96F2-E0C3-4940-89DB-54C87166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为什么仍采用物理48层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A8DA99-0546-4AF6-AFD1-F1084D11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RH RMSE与原93层差异无统计意义，但T更好、RH Bias更小、层定义与OEM兼容，因此作为下一阶段主基线。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c2a3f761c41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76f966478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1b48f35d64d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55F20-6715-43AE-B0D0-93F1ED2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83B012-B205-4391-B66A-02E311D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CE1BC9-2332-4945-AAEE-8B28C6A1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误差瓶颈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E931DA-17F3-4EDD-8DA4-C6F369D7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主要短板集中在5-8 km湿度：不是层数问题，而是中高层水汽信息不足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5AD1CA-4BF4-48B9-B349-75286126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7BC34-3451-454F-922E-4BE1CBC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独立温江探空只有6份，但高度分布已经暴露出明确瓶颈。 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44291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809f1f282149bb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7F5C85-1B4D-418D-B4EF-EC262976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解释：5-8 km湿度受183 GHz信息、云雨QC、ERA5标签误差和探空时间差共同影响；仅改插值方法不能根治。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a430840784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90c0a363942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d44b187c74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67192-6D6E-4927-9E0B-92AA3D20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226C17-4955-4BCF-81C2-6314D48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F8E0-66D3-4604-9B66-1C83E6A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改进方向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09907C-39B6-4D49-9844-60DE4E8A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后续改进要按“数据可靠性 → 先验稳定性 → OEM物理闭环 → 高频通道增益”推进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C9BAE3-F35F-4448-BE31-46FF133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980D53-E71D-4A14-857C-BD77D718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先补地基，再上复杂模型；否则模型结构越复杂，误差解释越困难。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806785-4F73-413F-AEF6-04C15952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6E4FFC-DD8B-438F-9B14-6F389F0A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E1EB2D-36A7-4EEC-A437-6F313698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扩大样本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680051-5073-4363-84D4-93802EAA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3-6个月连续亮温+ERA5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覆盖季节和天气型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2EA69F-43D4-400A-A666-8604995E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5C8A06-49EB-4D4A-ACCD-866EC10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EFF1DF-B302-42A7-A4D9-47A3C32C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AF625C-55E8-42EF-8C70-00DC891A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时间/QC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FB0753-B34E-487D-8BFC-593B74FD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统一UTC/北京时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探空匹配压到±30min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019010-7433-4C6B-84AC-D976260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888693-1F61-41A3-AC27-F9DED6B1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ECF166-90F3-43F5-BCA2-C7F9C44A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B8D82A-1649-42C7-AC2A-3B285C6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补地面变量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4A7B54-B1C9-4566-B918-163C095D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surface pressure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2m T/dewpoint或仪器T/RH/P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8556BA-3310-4FB2-B342-9E5DD534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961AB9-8C97-4523-8E2F-92CDDA8B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F88114-CF85-4AE8-B5EC-67B5832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E59D0D-09D3-4588-B5BE-2C9320BC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前14通道OEM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699133-215F-4236-959B-F6AFF754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估计S_a/S_e/OMB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MonoRTM真实观测闭环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23F3C4-A489-4E2C-A7B6-FEDD359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8789F7-5F82-4CF9-A60A-44F6C9EB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4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2219B8-2E8B-4043-A59F-4E08DDA4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P2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08C776-13F8-4030-9004-61DA4C3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高频验证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EED5A4-E601-45F8-81D7-E8BF935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89/183/229 GHz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前向模型与消融检验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96F4E1-C1D3-4105-9AA1-570ACBA3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D13E52-CA09-4BC5-BF6F-146BA363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B05108-27D3-4897-8C0C-195D9956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短期目标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BC9709-8375-4EDA-AE33-0BC8D70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以前14通道完成成都真实观测OEM POC，证明BRNN/Ridge先验能被物理前向稳定修正。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866624-EE3B-45AE-978E-F2B2B58D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EB6D84-9D6B-4190-8C42-571BA9DF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26ADFE-981D-4384-A319-2E7757E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论文目标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53B60F-0BC0-471F-8BA0-3C7310F0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建立可解释的NN+OEM框架：给出通道贡献、误差来源、S_a/S_e估计和独立探空验证。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842c8970e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C347750-EA1C-4150-8E71-76E5390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403D780-871C-40F2-B18B-FD3BE3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7E5985-5D98-4829-B231-6CE0FE3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7A71DA-2DDE-4351-8AB3-392D8FD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BB726C-B0AD-4F8E-82D4-0AAF45E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7efab007248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62ADAAB-7CE1-41C2-8E5C-6C2BB5B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edc9b5f3d4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76D411C-59DB-4BAB-B464-08100A0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9C8B78-1CCD-4CCC-A6FF-1209E95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946F7E-8DCA-434A-BC92-873780D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E0CAF0D-B29B-4C70-B197-8BA4BF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45A8E-D6E2-4B0E-A70F-B7C802E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5C4FF7-E796-4316-80F0-4F30F96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54CD7-3179-40A3-BE27-247CAA9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32B12B-595E-45DA-BAE6-799FEFCC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阶段结论：成都站不能直接迁移旧模型，但已具备构建本地NN+OEM反演框架的条件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15DBD5-6A77-4244-B7B2-2D18C7E8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A04D3-B941-4839-9F3E-39FB002D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下一步的关键不是继续堆模型，而是补样本、补QC、补前向模型闭环。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BC9941-56D8-4D59-9CB6-DDE335A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20379B-30CC-48FF-B7FF-D6F4F00E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56667D-61CE-49F6-B4CB-F09F53FF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已经完成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15CEAB-63E0-4C22-9932-B4D24BA3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21通道配置、ERA5精确配对、本地训练、物理48层、独立探空评估。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C78096-F66B-495A-BAAB-A90BA35D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5CA800-A9AF-4685-A7FB-9D8A466B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7F6679-6FFD-4703-86B5-F4E4649C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主要原因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589D25-CC18-4A2B-8115-762B861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小样本、跨站泛化、通道利用不足、湿度标签不确定和高频前向模型缺口。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BD5846-7D15-40AF-8C0D-D1281BF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4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22A8B9-7C62-412E-8E77-36B0422F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511B11-65AD-4E88-9221-0FE0E08D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</a:defRPr>
            </a:pPr>
            <a:r>
              <a:rPr sz="1350" b="1">
                <a:solidFill>
                  <a:srgbClr val="2E7D32"/>
                </a:solidFill>
              </a:rPr>
              <a:t>解决路径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5E0C36-ED1B-4633-A7D7-B8F75BB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扩大数据后以成都先验接前14通道OEM，再验证高频通道信息量。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E3741B-16C5-456A-8EC4-D260556B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建议汇报口径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28C9FF-F629-4BF7-A00F-4073C71E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1F1F"/>
                </a:solidFill>
              </a:defRPr>
            </a:pPr>
            <a:r>
              <a:rPr sz="1425" b="1">
                <a:solidFill>
                  <a:srgbClr val="1F1F1F"/>
                </a:solidFill>
              </a:rPr>
              <a:t>当前结果的价值在于找到了不宜直接迁移的证据，并把下一阶段可实现的技术路线收敛到：成都本地统计先验 + 物理48层 + 前14通道OEM + 高频通道验证。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5D5F18-0399-40C3-A18E-2BFE7BD6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参考来源：Rodgers 2000 DOI 10.1142/9789812813718；GMD PAMTRA 2020 DOI 10.5194/gmd-13-4229-2020；GMD ARMS-gb 2025；AMT HATPRO/复杂地形/雨天低层温度/2026浮标MWR；Remote Sensing 2023广州ML、2025武汉ANN订正；项目Git提交4dc2262。</a:t>
            </a:r>
          </a:p>
        </p:txBody>
      </p:sp>
    </p:spTree>
    <p:extLst>
      <p:ext uri="{BB962C8B-B14F-4D97-AF65-F5344CB8AC3E}">
        <p14:creationId xmlns:p14="http://schemas.microsoft.com/office/powerpoint/2010/main" val="173334939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2026-07-23T07:48:37.9810000Z</dcterms:created>
  <dcterms:modified xsi:type="dcterms:W3CDTF">2026-07-23T07:48:37.9810000Z</dcterms:modified>
</coreProperties>
</file>